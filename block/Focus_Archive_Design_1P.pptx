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3" r:id="rId1"/>
  </p:sldMasterIdLst>
  <p:notesMasterIdLst>
    <p:notesMasterId r:id="rId6"/>
  </p:notesMasterIdLst>
  <p:sldIdLst>
    <p:sldId id="4399" r:id="rId15"/>
  </p:sldIdLst>
  <p:sldSz cx="12192000" cy="6858000"/>
  <p:notesSz cx="6858000" cy="9144000"/>
  <p:embeddedFontLst>
    <p:embeddedFont>
      <p:font typeface="LINE Seed Sans KR Bold" panose="020B0603020203020204" pitchFamily="34" charset="-127"/>
      <p:bold r:id="rId7"/>
    </p:embeddedFont>
    <p:embeddedFont>
      <p:font typeface="LINE Seed Sans KR Regular" panose="020B0603020203020204" pitchFamily="34" charset="-127"/>
      <p:regular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 userDrawn="1">
          <p15:clr>
            <a:srgbClr val="A4A3A4"/>
          </p15:clr>
        </p15:guide>
        <p15:guide id="4" orient="horz" pos="346" userDrawn="1">
          <p15:clr>
            <a:srgbClr val="A4A3A4"/>
          </p15:clr>
        </p15:guide>
        <p15:guide id="5" orient="horz" pos="1616" userDrawn="1">
          <p15:clr>
            <a:srgbClr val="A4A3A4"/>
          </p15:clr>
        </p15:guide>
        <p15:guide id="12" pos="721" userDrawn="1">
          <p15:clr>
            <a:srgbClr val="A4A3A4"/>
          </p15:clr>
        </p15:guide>
        <p15:guide id="13" pos="6947" userDrawn="1">
          <p15:clr>
            <a:srgbClr val="A4A3A4"/>
          </p15:clr>
        </p15:guide>
        <p15:guide id="16" orient="horz" pos="1139" userDrawn="1">
          <p15:clr>
            <a:srgbClr val="A4A3A4"/>
          </p15:clr>
        </p15:guide>
        <p15:guide id="18" pos="2525" userDrawn="1">
          <p15:clr>
            <a:srgbClr val="A4A3A4"/>
          </p15:clr>
        </p15:guide>
        <p15:guide id="19" orient="horz" pos="20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8300"/>
    <a:srgbClr val="0065B2"/>
    <a:srgbClr val="EF560C"/>
    <a:srgbClr val="FBAE40"/>
    <a:srgbClr val="FBFBFB"/>
    <a:srgbClr val="6B7280"/>
    <a:srgbClr val="2F7BEA"/>
    <a:srgbClr val="00AA00"/>
    <a:srgbClr val="FF3300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88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900" y="102"/>
      </p:cViewPr>
      <p:guideLst>
        <p:guide orient="horz" pos="4065"/>
        <p:guide orient="horz" pos="346"/>
        <p:guide orient="horz" pos="1616"/>
        <p:guide pos="721"/>
        <p:guide pos="6947"/>
        <p:guide orient="horz" pos="1139"/>
        <p:guide pos="2525"/>
        <p:guide orient="horz" pos="200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7848"/>
    </p:cViewPr>
  </p:sorterViewPr>
  <p:notesViewPr>
    <p:cSldViewPr snapToGrid="0" showGuides="1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45B9C-CEC5-46C5-8236-4C42941CDC25}" type="datetimeFigureOut">
              <a:rPr lang="ko-KR" altLang="en-US" smtClean="0"/>
              <a:t>2026-10-23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042EBA-5D8A-4E8B-9829-3F57D06613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0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95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3320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세로 제목 및 텍스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4581889-1FD5-D8BB-64FC-69FE199E98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418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EF4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7610A44-286A-998E-A774-C0D6A5AFA7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374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rgbClr val="FFAF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DB9D3AA9-9B5D-D633-8A12-44FCD40414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44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rgbClr val="005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E441782-31E0-5203-0CD2-AF7B49419F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28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876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슬라이드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E980C905-6D29-9466-BC37-28176ECBB2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284"/>
          <a:stretch/>
        </p:blipFill>
        <p:spPr>
          <a:xfrm>
            <a:off x="11361421" y="346070"/>
            <a:ext cx="387668" cy="96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97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사용자 지정 레이아웃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950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735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bg>
      <p:bgPr>
        <a:solidFill>
          <a:srgbClr val="D7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788B20-ED35-4627-B6CE-1815B20344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666"/>
          <a:stretch/>
        </p:blipFill>
        <p:spPr>
          <a:xfrm>
            <a:off x="11361421" y="347510"/>
            <a:ext cx="387668" cy="9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038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37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5" r:id="rId2"/>
    <p:sldLayoutId id="2147483679" r:id="rId3"/>
    <p:sldLayoutId id="2147483660" r:id="rId4"/>
    <p:sldLayoutId id="2147483663" r:id="rId5"/>
    <p:sldLayoutId id="2147483664" r:id="rId6"/>
    <p:sldLayoutId id="2147483666" r:id="rId7"/>
    <p:sldLayoutId id="2147483701" r:id="rId8"/>
    <p:sldLayoutId id="2147483682" r:id="rId9"/>
    <p:sldLayoutId id="2147483698" r:id="rId10"/>
    <p:sldLayoutId id="2147483700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rahammann.net/book-notes/flow-mihaly-csikszentmihalyi" TargetMode="External"/><Relationship Id="rId3" Type="http://schemas.openxmlformats.org/officeDocument/2006/relationships/hyperlink" Target="https://ideas.repec.org/a/oup/jconrs/v37y2010i3p409-425.html" TargetMode="External"/><Relationship Id="rId4" Type="http://schemas.openxmlformats.org/officeDocument/2006/relationships/hyperlink" Target="https://www.pinnaclepres.org/the-role-of-the-atelierista" TargetMode="External"/><Relationship Id="rId5" Type="http://schemas.openxmlformats.org/officeDocument/2006/relationships/hyperlink" Target="https://scanmagazine.co.uk/lego-house-housing-creativity/" TargetMode="External"/><Relationship Id="rId6" Type="http://schemas.openxmlformats.org/officeDocument/2006/relationships/hyperlink" Target="https://www.mcny.org/mcny-kids-art-studio" TargetMode="External"/><Relationship Id="rId7" Type="http://schemas.openxmlformats.org/officeDocument/2006/relationships/hyperlink" Target="https://www.commonsense.org/education/app/artsonia-kids-art-museum" TargetMode="External"/><Relationship Id="rId8" Type="http://schemas.openxmlformats.org/officeDocument/2006/relationships/hyperlink" Target="https://www.ecfr.gov/current/title-16/chapter-I/subchapter-C/part-312" TargetMode="Externa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5" name="TextBox 194">
            <a:extLst>
              <a:ext uri="{FF2B5EF4-FFF2-40B4-BE49-F238E27FC236}">
                <a16:creationId xmlns:a16="http://schemas.microsoft.com/office/drawing/2014/main" id="{9F7143B7-4B0E-94D9-5D63-906AAFB0BFE2}"/>
              </a:ext>
            </a:extLst>
          </p:cNvPr>
          <p:cNvSpPr txBox="1"/>
          <p:nvPr/>
        </p:nvSpPr>
        <p:spPr>
          <a:xfrm>
            <a:off x="1134220" y="508796"/>
            <a:ext cx="1154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experience zone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40E1D8AE-FEE1-0621-3A3E-2634DF07B78E}"/>
              </a:ext>
            </a:extLst>
          </p:cNvPr>
          <p:cNvSpPr txBox="1"/>
          <p:nvPr/>
        </p:nvSpPr>
        <p:spPr>
          <a:xfrm>
            <a:off x="1045371" y="1134429"/>
            <a:ext cx="6400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200" dirty="0">
                <a:solidFill>
                  <a:srgbClr val="000000"/>
                </a:solidFill>
                <a:latin typeface="LINE Seed Sans KR Bold" pitchFamily="34" charset="0"/>
                <a:ea typeface="LINE Seed Sans KR Bold" pitchFamily="34" charset="-122"/>
                <a:cs typeface="LINE Seed Sans KR Bold" pitchFamily="34" charset="-120"/>
              </a:rPr>
              <a:t>Focus &amp; Archive Design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0DCA4294-5BE4-7705-0422-06501C6DC913}"/>
              </a:ext>
            </a:extLst>
          </p:cNvPr>
          <p:cNvSpPr txBox="1"/>
          <p:nvPr/>
        </p:nvSpPr>
        <p:spPr>
          <a:xfrm>
            <a:off x="1047752" y="1704914"/>
            <a:ext cx="9601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집중 설계</a:t>
            </a:r>
            <a:r>
              <a:rPr lang="ko-KR" altLang="en-US" sz="1200" dirty="0">
                <a:latin typeface="+mj-ea"/>
                <a:ea typeface="+mj-ea"/>
              </a:rPr>
              <a:t>와 </a:t>
            </a:r>
            <a:r>
              <a:rPr lang="ko-KR" altLang="en-US" sz="1200" dirty="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아카이빙 설계</a:t>
            </a:r>
            <a:r>
              <a:rPr lang="ko-KR" altLang="en-US" sz="1200" dirty="0">
                <a:latin typeface="+mj-ea"/>
                <a:ea typeface="+mj-ea"/>
              </a:rPr>
              <a:t>(제안 · 근거 수준을 함께 표시, 현장 시험으로 확인 필요)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22960" y="2103120"/>
            <a:ext cx="5257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집중 설계 4</a:t>
            </a: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   원칙 · 근거 수준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22960" y="2395727"/>
            <a:ext cx="525780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932688" y="2459735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① </a:t>
            </a:r>
            <a:r>
              <a:rPr sz="10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도전 크기를 고르게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5367528" y="2468879"/>
            <a:ext cx="603504" cy="18288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5367528" y="2468879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근거 약함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932688" y="2679191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열린 창작을 기본으로, 선택형 도전 카드를 함께 둠(5–6세 가이드 1장 · 7–8세 규칙 있는 도전 · 9–10세 스스로 계획)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932688" y="2971799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근거  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몰입 조건은 명확한 목표 · 즉각 피드백 · 도전과 실력의 균형(2차 요약, 아이 대상 근거 없음)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  </a:t>
            </a:r>
            <a:r>
              <a:rPr sz="75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2"/>
              </a:rPr>
              <a:t>Flow 독서 노트(2차 요약)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822960" y="3328415"/>
            <a:ext cx="525780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932688" y="3392423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② </a:t>
            </a:r>
            <a:r>
              <a:rPr sz="10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만드는 중 바로 보이는 반응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367528" y="3401568"/>
            <a:ext cx="603504" cy="182880"/>
          </a:xfrm>
          <a:prstGeom prst="roundRect">
            <a:avLst>
              <a:gd name="adj" fmla="val 30000"/>
            </a:avLst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367528" y="3401568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근거 제안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32688" y="3611879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재료를 만지거나 쌓을 때 작은 반응(색 · 소리)이 즉시 나옴. 결과 변환은 작업 후에 선택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932688" y="3904487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근거  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위 몰입 조건 중 즉각 피드백에서 가져온 제안. 5–10세 검증은 없음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822960" y="4261104"/>
            <a:ext cx="525780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932688" y="4325112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③ </a:t>
            </a:r>
            <a:r>
              <a:rPr sz="10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선택은 단계별로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5367528" y="4334256"/>
            <a:ext cx="603504" cy="182880"/>
          </a:xfrm>
          <a:prstGeom prst="roundRect">
            <a:avLst>
              <a:gd name="adj" fmla="val 30000"/>
            </a:avLst>
          </a:prstGeom>
          <a:solidFill>
            <a:srgbClr val="FF8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5367528" y="4334256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근거 혼재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932688" y="4544568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스테이션마다 재료를 나눠 제시, 한 번에 다 펼치지 않음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932688" y="4837176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근거  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선택 과부하는 메타분석에서 평균 효과가 거의 0이고 조건에 따라 다름 → 시험 항목으로 둠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  </a:t>
            </a:r>
            <a:r>
              <a:rPr sz="75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3"/>
              </a:rPr>
              <a:t>Scheibehenne 외 2010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822960" y="5193792"/>
            <a:ext cx="5257800" cy="8595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932688" y="5257800"/>
            <a:ext cx="4343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④ </a:t>
            </a:r>
            <a:r>
              <a:rPr sz="10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기다림은 만든 뒤에만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5367528" y="5266944"/>
            <a:ext cx="603504" cy="182880"/>
          </a:xfrm>
          <a:prstGeom prst="roundRect">
            <a:avLst>
              <a:gd name="adj" fmla="val 30000"/>
            </a:avLst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367528" y="5266944"/>
            <a:ext cx="6035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근거 제안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932688" y="5477255"/>
            <a:ext cx="503834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스캔 · 변환 대기를 창작이 끝난 뒤로 모으고, 만드는 구역은 화면 · 큰 소리와 분리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932688" y="5769864"/>
            <a:ext cx="503834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750">
                <a:solidFill>
                  <a:srgbClr val="0065B2"/>
                </a:solidFill>
                <a:latin typeface="LINE Seed Sans KR Bold"/>
                <a:ea typeface="LINE Seed Sans KR Bold"/>
                <a:cs typeface="LINE Seed Sans KR Bold"/>
              </a:rPr>
              <a:t>근거  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대기 · 소음의 영향은 확인된 근거 없음 → 대기 시간 · 자리 이탈로 측정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263640" y="2103120"/>
            <a:ext cx="5074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200">
                <a:solidFill>
                  <a:srgbClr val="00913B"/>
                </a:solidFill>
                <a:latin typeface="LINE Seed Sans KR Bold"/>
                <a:ea typeface="LINE Seed Sans KR Bold"/>
                <a:cs typeface="LINE Seed Sans KR Bold"/>
              </a:rPr>
              <a:t>작품이 되는 4단계</a:t>
            </a:r>
            <a:r>
              <a:rPr sz="8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   근거 · 사례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6263640" y="2395727"/>
            <a:ext cx="5074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6355079" y="2487168"/>
            <a:ext cx="320040" cy="320040"/>
          </a:xfrm>
          <a:prstGeom prst="ellips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355079" y="2487168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1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6766559" y="2441447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만든다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8001000" y="2432303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8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자유 창작, 만드는 장면도 사진으로 남김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Reggio: 사진 · 아이의 말 · 작품으로 과정을 기록  </a:t>
            </a:r>
            <a:r>
              <a:rPr sz="7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4"/>
              </a:rPr>
              <a:t>Pinnacle Presbyterian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6263640" y="2962656"/>
            <a:ext cx="5074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6355079" y="3054096"/>
            <a:ext cx="320040" cy="320040"/>
          </a:xfrm>
          <a:prstGeom prst="ellips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6355079" y="3054096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2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6766559" y="3008375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작품이 된다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8001000" y="299923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8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작품 카드(번호 · QR · 날짜 · 재료)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LEGO House: 입장 때 받은 손목밴드에 창작물 기록  </a:t>
            </a:r>
            <a:r>
              <a:rPr sz="7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5"/>
              </a:rPr>
              <a:t>SCAN Magazine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6263640" y="3529583"/>
            <a:ext cx="5074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6355079" y="3621023"/>
            <a:ext cx="320040" cy="320040"/>
          </a:xfrm>
          <a:prstGeom prst="ellips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6355079" y="3621023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6766559" y="3575303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전시 · 선택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8001000" y="3566159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8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실물은 선반, 디지털은 월. 가져가기 / 두고 가기를 아이가 선택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MCNY: 가져가거나 두고 가서 다른 방문자에게 전시  </a:t>
            </a:r>
            <a:r>
              <a:rPr sz="7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6"/>
              </a:rPr>
              <a:t>MCNY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6263640" y="4096511"/>
            <a:ext cx="50749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6355079" y="4187951"/>
            <a:ext cx="320040" cy="320040"/>
          </a:xfrm>
          <a:prstGeom prst="ellipse">
            <a:avLst/>
          </a:prstGeom>
          <a:solidFill>
            <a:srgbClr val="009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6355079" y="4187951"/>
            <a:ext cx="3200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LINE Seed Sans KR Bold"/>
                <a:ea typeface="LINE Seed Sans KR Bold"/>
                <a:cs typeface="LINE Seed Sans KR Bold"/>
              </a:rPr>
              <a:t>4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766559" y="4142231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200"/>
              </a:spcAft>
            </a:pPr>
            <a:r>
              <a:rPr sz="95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다시 만난다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001000" y="4133087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78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QR로 기록 확인, 다음 방문에 이어 만들기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Artsonia: 작품이 쌓이는 온라인 아카이브, 가족이 보고 댓글  </a:t>
            </a:r>
            <a:r>
              <a:rPr sz="70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7"/>
              </a:rPr>
              <a:t>Common Sense Education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6263640" y="4663440"/>
            <a:ext cx="5074920" cy="566928"/>
          </a:xfrm>
          <a:prstGeom prst="roundRect">
            <a:avLst>
              <a:gd name="adj" fmla="val 5000"/>
            </a:avLst>
          </a:prstGeom>
          <a:solidFill>
            <a:srgbClr val="FD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6373368" y="4709159"/>
            <a:ext cx="4855464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850">
                <a:solidFill>
                  <a:srgbClr val="E41E2E"/>
                </a:solidFill>
                <a:latin typeface="LINE Seed Sans KR Bold"/>
                <a:ea typeface="LINE Seed Sans KR Bold"/>
                <a:cs typeface="LINE Seed Sans KR Bold"/>
              </a:rPr>
              <a:t>＋ 보관 전 동의 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(이전안에 없던 단계)</a:t>
            </a:r>
          </a:p>
          <a:p>
            <a:pPr>
              <a:spcAft>
                <a:spcPts val="100"/>
              </a:spcAft>
            </a:pPr>
            <a:r>
              <a:rPr sz="750">
                <a:solidFill>
                  <a:srgbClr val="111111"/>
                </a:solidFill>
                <a:latin typeface="LINE Seed Sans KR Regular"/>
                <a:ea typeface="LINE Seed Sans KR Regular"/>
                <a:cs typeface="LINE Seed Sans KR Regular"/>
              </a:rPr>
              <a:t>미국은 13세 미만 아이의 사진 · 영상 수집에 부모 동의가 필요할 수 있음(COPPA). 현행 조문과 적용 범위는 법무 확인 필요  </a:t>
            </a:r>
            <a:r>
              <a:rPr sz="750">
                <a:solidFill>
                  <a:srgbClr val="0065B2"/>
                </a:solidFill>
                <a:latin typeface="LINE Seed Sans KR Regular"/>
                <a:ea typeface="LINE Seed Sans KR Regular"/>
                <a:cs typeface="LINE Seed Sans KR Regular"/>
                <a:hlinkClick r:id="rId8"/>
              </a:rPr>
              <a:t>16 CFR 312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263640" y="5303520"/>
            <a:ext cx="50749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000">
                <a:solidFill>
                  <a:srgbClr val="FF8000"/>
                </a:solidFill>
                <a:latin typeface="LINE Seed Sans KR Bold"/>
                <a:ea typeface="LINE Seed Sans KR Bold"/>
                <a:cs typeface="LINE Seed Sans KR Bold"/>
              </a:rPr>
              <a:t>3겹의 보관</a:t>
            </a:r>
            <a:r>
              <a:rPr sz="75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   제안 구조(근거 사례 없음)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6263640" y="5550408"/>
            <a:ext cx="1618487" cy="475488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6336792" y="5577840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1겹 · 오늘의 월</a:t>
            </a:r>
          </a:p>
          <a:p>
            <a:pPr>
              <a:spcAft>
                <a:spcPts val="100"/>
              </a:spcAft>
            </a:pP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공동 화면, 하루 한 장 저장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7955279" y="5550408"/>
            <a:ext cx="1618487" cy="475488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8028431" y="5577840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2겹 · 내 도감</a:t>
            </a:r>
          </a:p>
          <a:p>
            <a:pPr>
              <a:spcAft>
                <a:spcPts val="100"/>
              </a:spcAft>
            </a:pP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개인, QR 카드로 모임</a:t>
            </a:r>
          </a:p>
        </p:txBody>
      </p:sp>
      <p:sp>
        <p:nvSpPr>
          <p:cNvPr id="249" name="Rounded Rectangle 248"/>
          <p:cNvSpPr/>
          <p:nvPr/>
        </p:nvSpPr>
        <p:spPr>
          <a:xfrm>
            <a:off x="9646919" y="5550408"/>
            <a:ext cx="1618487" cy="475488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720072" y="5577840"/>
            <a:ext cx="1508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spcAft>
                <a:spcPts val="100"/>
              </a:spcAft>
            </a:pPr>
            <a:r>
              <a:rPr sz="800">
                <a:solidFill>
                  <a:srgbClr val="111111"/>
                </a:solidFill>
                <a:latin typeface="LINE Seed Sans KR Bold"/>
                <a:ea typeface="LINE Seed Sans KR Bold"/>
                <a:cs typeface="LINE Seed Sans KR Bold"/>
              </a:rPr>
              <a:t>3겹 · 시즌 컬렉션</a:t>
            </a:r>
          </a:p>
          <a:p>
            <a:pPr>
              <a:spcAft>
                <a:spcPts val="100"/>
              </a:spcAft>
            </a:pPr>
            <a:r>
              <a:rPr sz="73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공동, 대형 전시 · 파사드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800">
                <a:solidFill>
                  <a:srgbClr val="E41E2E"/>
                </a:solidFill>
                <a:latin typeface="LINE Seed Sans KR Bold"/>
                <a:ea typeface="LINE Seed Sans KR Bold"/>
                <a:cs typeface="LINE Seed Sans KR Bold"/>
              </a:rPr>
              <a:t>검토 메모  </a:t>
            </a:r>
            <a:r>
              <a:rPr sz="780">
                <a:solidFill>
                  <a:srgbClr val="5A5A5A"/>
                </a:solidFill>
                <a:latin typeface="LINE Seed Sans KR Regular"/>
                <a:ea typeface="LINE Seed Sans KR Regular"/>
                <a:cs typeface="LINE Seed Sans KR Regular"/>
              </a:rPr>
              <a:t>이전안의 ‘끝을 정하지 않기’는 7–10세 규칙 있는 도전과 충돌해 ①로 합쳤고, ‘재료는 적게’는 근거가 엇갈려 시험 항목으로 낮췄으며, 보관 전 동의 단계를 추가했습니다. 집중 설계의 근거는 아이 대상 연구가 아닌 2차 요약이라 현장 시험(몰입 시간 · 이탈 횟수 · 대기 시간)으로 확인해야 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te">
      <a:majorFont>
        <a:latin typeface="LINE Seed Sans KR Regular"/>
        <a:ea typeface="LINE Seed Sans KR Regular"/>
        <a:cs typeface=""/>
      </a:majorFont>
      <a:minorFont>
        <a:latin typeface="LINE Seed Sans KR Regular"/>
        <a:ea typeface="LINE Seed Sans KR Thin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Relationship Id="rId2" Type="http://schemas.microsoft.com/office/2011/relationships/webextension" Target="webextension2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F9B17B8-1924-4988-A0C4-97074C3EFB85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18e273cb-12ab-4a62-8d7a-98d5d1316c4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521ED2F-E1D9-433D-AA47-6AC16B2DDA11}">
  <we:reference id="wa200005566" version="3.0.0.3" store="ko-K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77396</TotalTime>
  <Words>1090</Words>
  <Application>Microsoft Office PowerPoint</Application>
  <PresentationFormat>와이드스크린</PresentationFormat>
  <Paragraphs>136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LINE Seed Sans KR Regular</vt:lpstr>
      <vt:lpstr>LINE Seed Sans KR Bold</vt:lpstr>
      <vt:lpstr>맑은 고딕</vt:lpstr>
      <vt:lpstr>Arial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한지연</dc:creator>
  <cp:lastModifiedBy>Su-jeong Lee (DSKR-이수정)</cp:lastModifiedBy>
  <cp:revision>992</cp:revision>
  <dcterms:created xsi:type="dcterms:W3CDTF">2022-05-06T02:30:22Z</dcterms:created>
  <dcterms:modified xsi:type="dcterms:W3CDTF">2026-10-23T08:26:22Z</dcterms:modified>
</cp:coreProperties>
</file>