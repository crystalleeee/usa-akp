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83" r:id="rId1"/>
  </p:sldMasterIdLst>
  <p:notesMasterIdLst>
    <p:notesMasterId r:id="rId6"/>
  </p:notesMasterIdLst>
  <p:sldIdLst>
    <p:sldId id="4399" r:id="rId15"/>
  </p:sldIdLst>
  <p:sldSz cx="12192000" cy="6858000"/>
  <p:notesSz cx="6858000" cy="9144000"/>
  <p:embeddedFontLst>
    <p:embeddedFont>
      <p:font typeface="LINE Seed Sans KR Bold" panose="020B0603020203020204" pitchFamily="34" charset="-127"/>
      <p:bold r:id="rId7"/>
    </p:embeddedFont>
    <p:embeddedFont>
      <p:font typeface="LINE Seed Sans KR Regular" panose="020B0603020203020204" pitchFamily="34" charset="-127"/>
      <p:regular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616" userDrawn="1">
          <p15:clr>
            <a:srgbClr val="A4A3A4"/>
          </p15:clr>
        </p15:guide>
        <p15:guide id="12" pos="721" userDrawn="1">
          <p15:clr>
            <a:srgbClr val="A4A3A4"/>
          </p15:clr>
        </p15:guide>
        <p15:guide id="13" pos="6947" userDrawn="1">
          <p15:clr>
            <a:srgbClr val="A4A3A4"/>
          </p15:clr>
        </p15:guide>
        <p15:guide id="16" orient="horz" pos="1139" userDrawn="1">
          <p15:clr>
            <a:srgbClr val="A4A3A4"/>
          </p15:clr>
        </p15:guide>
        <p15:guide id="18" pos="2525" userDrawn="1">
          <p15:clr>
            <a:srgbClr val="A4A3A4"/>
          </p15:clr>
        </p15:guide>
        <p15:guide id="19" orient="horz" pos="200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300"/>
    <a:srgbClr val="0065B2"/>
    <a:srgbClr val="EF560C"/>
    <a:srgbClr val="FBAE40"/>
    <a:srgbClr val="FBFBFB"/>
    <a:srgbClr val="6B7280"/>
    <a:srgbClr val="2F7BEA"/>
    <a:srgbClr val="00AA00"/>
    <a:srgbClr val="FF3300"/>
    <a:srgbClr val="33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88" autoAdjust="0"/>
    <p:restoredTop sz="96242" autoAdjust="0"/>
  </p:normalViewPr>
  <p:slideViewPr>
    <p:cSldViewPr snapToGrid="0">
      <p:cViewPr varScale="1">
        <p:scale>
          <a:sx n="107" d="100"/>
          <a:sy n="107" d="100"/>
        </p:scale>
        <p:origin x="900" y="102"/>
      </p:cViewPr>
      <p:guideLst>
        <p:guide orient="horz" pos="4065"/>
        <p:guide orient="horz" pos="346"/>
        <p:guide orient="horz" pos="1616"/>
        <p:guide pos="721"/>
        <p:guide pos="6947"/>
        <p:guide orient="horz" pos="1139"/>
        <p:guide pos="2525"/>
        <p:guide orient="horz" pos="200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27848"/>
    </p:cViewPr>
  </p:sorter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445B9C-CEC5-46C5-8236-4C42941CDC25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2EBA-5D8A-4E8B-9829-3F57D06613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10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958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3320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세로 제목 및 텍스트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4581889-1FD5-D8BB-64FC-69FE199E98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41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EF4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7610A44-286A-998E-A774-C0D6A5AFA7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374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rgbClr val="FFAF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DB9D3AA9-9B5D-D633-8A12-44FCD40414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446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rgbClr val="005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E441782-31E0-5203-0CD2-AF7B49419F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028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76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980C905-6D29-9466-BC37-28176ECBB2C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84"/>
          <a:stretch/>
        </p:blipFill>
        <p:spPr>
          <a:xfrm>
            <a:off x="11361421" y="346070"/>
            <a:ext cx="387668" cy="9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97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사용자 지정 레이아웃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502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735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bg>
      <p:bgPr>
        <a:solidFill>
          <a:srgbClr val="D7D7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788B20-ED35-4627-B6CE-1815B20344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666"/>
          <a:stretch/>
        </p:blipFill>
        <p:spPr>
          <a:xfrm>
            <a:off x="11361421" y="347510"/>
            <a:ext cx="387668" cy="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038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7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95" r:id="rId2"/>
    <p:sldLayoutId id="2147483679" r:id="rId3"/>
    <p:sldLayoutId id="2147483660" r:id="rId4"/>
    <p:sldLayoutId id="2147483663" r:id="rId5"/>
    <p:sldLayoutId id="2147483664" r:id="rId6"/>
    <p:sldLayoutId id="2147483666" r:id="rId7"/>
    <p:sldLayoutId id="2147483701" r:id="rId8"/>
    <p:sldLayoutId id="2147483682" r:id="rId9"/>
    <p:sldLayoutId id="2147483698" r:id="rId10"/>
    <p:sldLayoutId id="2147483700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kidzania.com.sg/bkidzanian" TargetMode="External"/><Relationship Id="rId3" Type="http://schemas.openxmlformats.org/officeDocument/2006/relationships/hyperlink" Target="https://www.peoriariverfrontmuseum.org/node/559" TargetMode="External"/><Relationship Id="rId4" Type="http://schemas.openxmlformats.org/officeDocument/2006/relationships/hyperlink" Target="https://www.crayolaexperience.com/easton/annual-passes/become-a-passholder/what-is-an-annual-pass" TargetMode="External"/><Relationship Id="rId5" Type="http://schemas.openxmlformats.org/officeDocument/2006/relationships/hyperlink" Target="https://olioli.ae/memberships/" TargetMode="External"/><Relationship Id="rId6" Type="http://schemas.openxmlformats.org/officeDocument/2006/relationships/hyperlink" Target="https://meadowsmuseumdallas.org/cal/open-studio-13/" TargetMode="External"/><Relationship Id="rId7" Type="http://schemas.openxmlformats.org/officeDocument/2006/relationships/hyperlink" Target="https://www.mcny.org/mcny-kids-art-studio" TargetMode="External"/><Relationship Id="rId8" Type="http://schemas.openxmlformats.org/officeDocument/2006/relationships/hyperlink" Target="https://high.org/explorer-cards/" TargetMode="External"/><Relationship Id="rId9" Type="http://schemas.openxmlformats.org/officeDocument/2006/relationships/hyperlink" Target="https://visitnorfolk.com/attraction/color-me-mine" TargetMode="External"/><Relationship Id="rId10" Type="http://schemas.openxmlformats.org/officeDocument/2006/relationships/hyperlink" Target="https://www.teamlab.art/press/shiseido-1405/" TargetMode="External"/><Relationship Id="rId11" Type="http://schemas.openxmlformats.org/officeDocument/2006/relationships/hyperlink" Target="https://www.seoulchildrensmuseum.org/reservation/memberJoinInfo.do" TargetMode="Externa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5" name="TextBox 194">
            <a:extLst>
              <a:ext uri="{FF2B5EF4-FFF2-40B4-BE49-F238E27FC236}">
                <a16:creationId xmlns:a16="http://schemas.microsoft.com/office/drawing/2014/main" id="{9F7143B7-4B0E-94D9-5D63-906AAFB0BFE2}"/>
              </a:ext>
            </a:extLst>
          </p:cNvPr>
          <p:cNvSpPr txBox="1"/>
          <p:nvPr/>
        </p:nvSpPr>
        <p:spPr>
          <a:xfrm>
            <a:off x="1134220" y="508796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experience zone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40E1D8AE-FEE1-0621-3A3E-2634DF07B78E}"/>
              </a:ext>
            </a:extLst>
          </p:cNvPr>
          <p:cNvSpPr txBox="1"/>
          <p:nvPr/>
        </p:nvSpPr>
        <p:spPr>
          <a:xfrm>
            <a:off x="1045371" y="1134429"/>
            <a:ext cx="223009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ko-KR" sz="3200" dirty="0">
                <a:solidFill>
                  <a:srgbClr val="000000"/>
                </a:solidFill>
                <a:latin typeface="LINE Seed Sans KR Bold" pitchFamily="34" charset="0"/>
                <a:ea typeface="LINE Seed Sans KR Bold" pitchFamily="34" charset="-122"/>
                <a:cs typeface="LINE Seed Sans KR Bold" pitchFamily="34" charset="-120"/>
              </a:rPr>
              <a:t>Revisit System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0DCA4294-5BE4-7705-0422-06501C6DC913}"/>
              </a:ext>
            </a:extLst>
          </p:cNvPr>
          <p:cNvSpPr txBox="1"/>
          <p:nvPr/>
        </p:nvSpPr>
        <p:spPr>
          <a:xfrm>
            <a:off x="1047752" y="1704914"/>
            <a:ext cx="59041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반복 · 변화 · 기록</a:t>
            </a:r>
            <a:r>
              <a:rPr lang="ko-KR" altLang="en-US" sz="1200" dirty="0">
                <a:latin typeface="+mj-ea"/>
                <a:ea typeface="+mj-ea"/>
              </a:rPr>
              <a:t>의 3개 바퀴 안에 </a:t>
            </a:r>
            <a:r>
              <a:rPr lang="ko-KR" altLang="en-US" sz="1200" dirty="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재방문 장치 6가지</a:t>
            </a:r>
            <a:r>
              <a:rPr lang="ko-KR" altLang="en-US" sz="1200" dirty="0">
                <a:latin typeface="+mj-ea"/>
                <a:ea typeface="+mj-ea"/>
              </a:rPr>
              <a:t>를 묶어, 방문할 때마다 다시 올 이유를 만드는 구조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1005840" y="2240280"/>
            <a:ext cx="3246120" cy="713232"/>
          </a:xfrm>
          <a:prstGeom prst="roundRect">
            <a:avLst>
              <a:gd name="adj" fmla="val 10000"/>
            </a:avLst>
          </a:prstGeom>
          <a:solidFill>
            <a:srgbClr val="006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115568" y="2368296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115568" y="23682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691640" y="2313432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반복 | 숙련의 사다리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691640" y="2606040"/>
            <a:ext cx="24688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같은 재료에서 단계가 올라가고, 배지 · 도감으로 눈에 보이게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5840" y="3063240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143000" y="3154680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③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쌓이는 내 기록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43000" y="34290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KidZania: 활동마다 여권 도장 → 시민 등급이 올라 혜택 / Peoria: 활동 점수 적립, 회원은 2배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097280" y="3913632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1188720" y="391363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내 도감(QR 작품 카드), 시리즈 다음 칸 채우기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005840" y="4489704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143000" y="4581144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④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패스 + 시즌 행사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143000" y="4855464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Crayola: 연 49.99달러 무제한, “2회 방문하면 본전” + 시즌 행사 / OliOli: 3개월 멤버십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097280" y="5340096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188720" y="5340096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65B2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시즌 패스(3개월) · 연간 가족 패스, 시즌 이벤트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4407408" y="2240280"/>
            <a:ext cx="3246120" cy="713232"/>
          </a:xfrm>
          <a:prstGeom prst="roundRect">
            <a:avLst>
              <a:gd name="adj" fmla="val 1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17136" y="2368296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517136" y="23682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093208" y="2313432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변화 | 교체 주기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093208" y="2606040"/>
            <a:ext cx="24688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이번 주 · 이번 달 · 이번 시즌이 서로 다른 주기로 바뀜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4407408" y="3063240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4544568" y="3154680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②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이번 달 새 프로젝트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44568" y="34290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Meadows: 매달 새 프로젝트 / MCNY: 활동이 매달 바뀜 / High: 매월 새 Explorer Card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4498848" y="3913632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4590288" y="391363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월별 · 시즌 재료 스테이션 교체, 주간 챌린지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4407408" y="4489704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544568" y="4581144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①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찾으러 오기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544568" y="4855464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Color Me Mine: 구워서 약 1주 뒤 다시 와서 가져감 → 결과가 시간 뒤에 나옴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498848" y="5340096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4590288" y="5340096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8000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오늘 만든 작품이 다음 방문에 ‘자란’ 모습으로(Paper Garden)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7808975" y="2240280"/>
            <a:ext cx="3246120" cy="713232"/>
          </a:xfrm>
          <a:prstGeom prst="roundRect">
            <a:avLst>
              <a:gd name="adj" fmla="val 10000"/>
            </a:avLst>
          </a:prstGeom>
          <a:solidFill>
            <a:srgbClr val="00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7918703" y="2368296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7918703" y="23682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3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494776" y="2313432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LINE Seed Sans KR Bold"/>
                <a:ea typeface="LINE Seed Sans KR Bold"/>
                <a:cs typeface="LINE Seed Sans KR Bold"/>
              </a:rPr>
              <a:t>기록 | 쌓이는 가족 도감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494776" y="2606040"/>
            <a:ext cx="24688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FFFFFF"/>
                </a:solidFill>
                <a:latin typeface="LINE Seed Sans KR Regular"/>
                <a:ea typeface="LINE Seed Sans KR Regular"/>
                <a:cs typeface="LINE Seed Sans KR Regular"/>
              </a:rPr>
              <a:t>가족의 작품이 도감 · 시즌 컬렉션으로 쌓임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7808975" y="3063240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946136" y="3154680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⑥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내 작품이 살아 있음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946136" y="34290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MCNY: 두고 간 작품이 다른 방문자에게 전시 / teamLab: 그린 그림이 벽 속 바다에서 헤엄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900415" y="3913632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991855" y="391363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전시 선반 + 월에 계속 사는 내 작품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7808975" y="4489704"/>
            <a:ext cx="3246120" cy="1335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946136" y="4581144"/>
            <a:ext cx="2971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⑤ </a:t>
            </a:r>
            <a:r>
              <a:rPr sz="11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가족 · 친구 초대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46136" y="4855464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근거  </a:t>
            </a:r>
            <a:r>
              <a:rPr sz="85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Crayola: 친구 데려오기 기간 · 패스 전용 행사 / 서울상상나라: 직계 가족 연회원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7900415" y="5340096"/>
            <a:ext cx="3063239" cy="411480"/>
          </a:xfrm>
          <a:prstGeom prst="rect">
            <a:avLst/>
          </a:prstGeom>
          <a:solidFill>
            <a:srgbClr val="F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991855" y="5340096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850">
                <a:solidFill>
                  <a:srgbClr val="00913B"/>
                </a:solidFill>
                <a:latin typeface="LINE Seed Sans KR Bold"/>
                <a:ea typeface="LINE Seed Sans KR Bold"/>
                <a:cs typeface="LINE Seed Sans KR Bold"/>
              </a:rPr>
              <a:t>공방  </a:t>
            </a:r>
            <a:r>
              <a:rPr sz="850">
                <a:solidFill>
                  <a:srgbClr val="111111"/>
                </a:solidFill>
                <a:latin typeface="LINE Seed Sans KR Regular"/>
                <a:ea typeface="LINE Seed Sans KR Regular"/>
                <a:cs typeface="LINE Seed Sans KR Regular"/>
              </a:rPr>
              <a:t>같이 만든 작품 · 짝 작품, 가족의 날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05840" y="598932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5A5A5A"/>
                </a:solidFill>
                <a:latin typeface="LINE Seed Sans KR Regular"/>
                <a:ea typeface="LINE Seed Sans KR Regular"/>
                <a:cs typeface="LINE Seed Sans KR Regular"/>
              </a:rPr>
              <a:t>※ 시설별 재방문율 수치는 공개 자료로 확인하지 못했습니다. 장치의 효과는 각 시설의 운영 구조 설명을 바탕으로 한 추정이며, 공방 적용은 제안입니다.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005840" y="6263640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00">
                <a:solidFill>
                  <a:srgbClr val="111111"/>
                </a:solidFill>
                <a:latin typeface="LINE Seed Sans KR Bold"/>
                <a:ea typeface="LINE Seed Sans KR Bold"/>
                <a:cs typeface="LINE Seed Sans KR Bold"/>
              </a:rPr>
              <a:t>출처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2"/>
              </a:rPr>
              <a:t>KidZania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3"/>
              </a:rPr>
              <a:t>Peoria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4"/>
              </a:rPr>
              <a:t>Crayola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5"/>
              </a:rPr>
              <a:t>OliOli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6"/>
              </a:rPr>
              <a:t>Meadows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7"/>
              </a:rPr>
              <a:t>MCNY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8"/>
              </a:rPr>
              <a:t>High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9"/>
              </a:rPr>
              <a:t>Color Me Mine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0"/>
              </a:rPr>
              <a:t>teamLab  ·  </a:t>
            </a:r>
            <a:r>
              <a:rPr sz="800">
                <a:solidFill>
                  <a:srgbClr val="0065B2"/>
                </a:solidFill>
                <a:latin typeface="LINE Seed Sans KR Regular"/>
                <a:ea typeface="LINE Seed Sans KR Regular"/>
                <a:cs typeface="LINE Seed Sans KR Regular"/>
                <a:hlinkClick r:id="rId11"/>
              </a:rPr>
              <a:t>서울상상나라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te">
      <a:majorFont>
        <a:latin typeface="LINE Seed Sans KR Regular"/>
        <a:ea typeface="LINE Seed Sans KR Regular"/>
        <a:cs typeface=""/>
      </a:majorFont>
      <a:minorFont>
        <a:latin typeface="LINE Seed Sans KR Regular"/>
        <a:ea typeface="LINE Seed Sans KR Thin"/>
        <a:cs typeface="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7F9B17B8-1924-4988-A0C4-97074C3EFB85}">
  <we:reference id="WA200010001" version="1.0.0.0" store="Omex" storeType="OMEX"/>
  <we:alternateReferences>
    <we:reference id="WA200010001" version="1.0.0.0" store="WA200010001" storeType="OMEX"/>
  </we:alternateReferences>
  <we:properties>
    <we:property name="claude.fileId" value="&quot;18e273cb-12ab-4a62-8d7a-98d5d1316c4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521ED2F-E1D9-433D-AA47-6AC16B2DDA11}">
  <we:reference id="wa200005566" version="3.0.0.3" store="ko-KR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77396</TotalTime>
  <Words>1090</Words>
  <Application>Microsoft Office PowerPoint</Application>
  <PresentationFormat>와이드스크린</PresentationFormat>
  <Paragraphs>136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LINE Seed Sans KR Regular</vt:lpstr>
      <vt:lpstr>LINE Seed Sans KR Bold</vt:lpstr>
      <vt:lpstr>맑은 고딕</vt:lpstr>
      <vt:lpstr>Arial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한지연</dc:creator>
  <cp:lastModifiedBy>Su-jeong Lee (DSKR-이수정)</cp:lastModifiedBy>
  <cp:revision>992</cp:revision>
  <dcterms:created xsi:type="dcterms:W3CDTF">2022-05-06T02:30:22Z</dcterms:created>
  <dcterms:modified xsi:type="dcterms:W3CDTF">2026-10-23T08:26:22Z</dcterms:modified>
</cp:coreProperties>
</file>