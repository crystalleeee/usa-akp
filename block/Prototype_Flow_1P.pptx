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3" r:id="rId1"/>
  </p:sldMasterIdLst>
  <p:notesMasterIdLst>
    <p:notesMasterId r:id="rId6"/>
  </p:notesMasterIdLst>
  <p:sldIdLst>
    <p:sldId id="4399" r:id="rId15"/>
  </p:sldIdLst>
  <p:sldSz cx="12192000" cy="6858000"/>
  <p:notesSz cx="6858000" cy="9144000"/>
  <p:embeddedFontLst>
    <p:embeddedFont>
      <p:font typeface="LINE Seed Sans KR Bold" panose="020B0603020203020204" pitchFamily="34" charset="-127"/>
      <p:bold r:id="rId7"/>
    </p:embeddedFont>
    <p:embeddedFont>
      <p:font typeface="LINE Seed Sans KR Regular" panose="020B0603020203020204" pitchFamily="34" charset="-127"/>
      <p:regular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12" pos="721" userDrawn="1">
          <p15:clr>
            <a:srgbClr val="A4A3A4"/>
          </p15:clr>
        </p15:guide>
        <p15:guide id="13" pos="6947" userDrawn="1">
          <p15:clr>
            <a:srgbClr val="A4A3A4"/>
          </p15:clr>
        </p15:guide>
        <p15:guide id="16" orient="horz" pos="1139" userDrawn="1">
          <p15:clr>
            <a:srgbClr val="A4A3A4"/>
          </p15:clr>
        </p15:guide>
        <p15:guide id="18" pos="2525" userDrawn="1">
          <p15:clr>
            <a:srgbClr val="A4A3A4"/>
          </p15:clr>
        </p15:guide>
        <p15:guide id="19" orient="horz" pos="20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300"/>
    <a:srgbClr val="0065B2"/>
    <a:srgbClr val="EF560C"/>
    <a:srgbClr val="FBAE40"/>
    <a:srgbClr val="FBFBFB"/>
    <a:srgbClr val="6B7280"/>
    <a:srgbClr val="2F7BEA"/>
    <a:srgbClr val="00AA00"/>
    <a:srgbClr val="FF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8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00" y="102"/>
      </p:cViewPr>
      <p:guideLst>
        <p:guide orient="horz" pos="4065"/>
        <p:guide orient="horz" pos="346"/>
        <p:guide orient="horz" pos="1616"/>
        <p:guide pos="721"/>
        <p:guide pos="6947"/>
        <p:guide orient="horz" pos="1139"/>
        <p:guide pos="2525"/>
        <p:guide orient="horz" pos="20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848"/>
    </p:cViewPr>
  </p:sorter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5B9C-CEC5-46C5-8236-4C42941CDC25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EBA-5D8A-4E8B-9829-3F57D0661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0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95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3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세로 제목 및 텍스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581889-1FD5-D8BB-64FC-69FE199E9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1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E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610A44-286A-998E-A774-C0D6A5AF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rgbClr val="FFA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9D3AA9-9B5D-D633-8A12-44FCD404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4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rgbClr val="005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441782-31E0-5203-0CD2-AF7B49419F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28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7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35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D7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38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7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79" r:id="rId3"/>
    <p:sldLayoutId id="2147483660" r:id="rId4"/>
    <p:sldLayoutId id="2147483663" r:id="rId5"/>
    <p:sldLayoutId id="2147483664" r:id="rId6"/>
    <p:sldLayoutId id="2147483666" r:id="rId7"/>
    <p:sldLayoutId id="2147483701" r:id="rId8"/>
    <p:sldLayoutId id="2147483682" r:id="rId9"/>
    <p:sldLayoutId id="2147483698" r:id="rId10"/>
    <p:sldLayoutId id="214748370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5" name="TextBox 194">
            <a:extLst>
              <a:ext uri="{FF2B5EF4-FFF2-40B4-BE49-F238E27FC236}">
                <a16:creationId xmlns:a16="http://schemas.microsoft.com/office/drawing/2014/main" id="{9F7143B7-4B0E-94D9-5D63-906AAFB0BFE2}"/>
              </a:ext>
            </a:extLst>
          </p:cNvPr>
          <p:cNvSpPr txBox="1"/>
          <p:nvPr/>
        </p:nvSpPr>
        <p:spPr>
          <a:xfrm>
            <a:off x="1134220" y="508796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experience zone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E1D8AE-FEE1-0621-3A3E-2634DF07B78E}"/>
              </a:ext>
            </a:extLst>
          </p:cNvPr>
          <p:cNvSpPr txBox="1"/>
          <p:nvPr/>
        </p:nvSpPr>
        <p:spPr>
          <a:xfrm>
            <a:off x="1045371" y="1134429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000000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Prototype Flow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DCA4294-5BE4-7705-0422-06501C6DC913}"/>
              </a:ext>
            </a:extLst>
          </p:cNvPr>
          <p:cNvSpPr txBox="1"/>
          <p:nvPr/>
        </p:nvSpPr>
        <p:spPr>
          <a:xfrm>
            <a:off x="1047752" y="1704914"/>
            <a:ext cx="960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창작 경험 플로우 5단계</a:t>
            </a:r>
            <a:r>
              <a:rPr lang="ko-KR" altLang="en-US" sz="1200" dirty="0">
                <a:latin typeface="+mj-ea"/>
                <a:ea typeface="+mj-ea"/>
              </a:rPr>
              <a:t>에 대응한 </a:t>
            </a:r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Live Atelier 큐브 프로토타입</a:t>
            </a:r>
            <a:r>
              <a:rPr lang="ko-KR" altLang="en-US" sz="1200" dirty="0">
                <a:latin typeface="+mj-ea"/>
                <a:ea typeface="+mj-ea"/>
              </a:rPr>
              <a:t>(시연용 예시 · 일부는 시뮬레이션)</a:t>
            </a:r>
          </a:p>
        </p:txBody>
      </p:sp>
      <p:sp>
        <p:nvSpPr>
          <p:cNvPr id="196" name="Pentagon 195"/>
          <p:cNvSpPr/>
          <p:nvPr/>
        </p:nvSpPr>
        <p:spPr>
          <a:xfrm>
            <a:off x="822960" y="2084831"/>
            <a:ext cx="2011680" cy="457200"/>
          </a:xfrm>
          <a:prstGeom prst="homePlate">
            <a:avLst/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14400" y="2084831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01 </a:t>
            </a:r>
            <a:r>
              <a:rPr sz="12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CREATE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자유 창작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22960" y="25877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재료와 방식에 제한 없이 자유롭게 표현</a:t>
            </a:r>
          </a:p>
        </p:txBody>
      </p:sp>
      <p:pic>
        <p:nvPicPr>
          <p:cNvPr id="199" name="Picture 198" descr="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90088"/>
            <a:ext cx="2011680" cy="1408176"/>
          </a:xfrm>
          <a:prstGeom prst="rect">
            <a:avLst/>
          </a:prstGeom>
          <a:ln w="12700">
            <a:solidFill>
              <a:srgbClr val="D6D6D6"/>
            </a:solidFill>
          </a:ln>
        </p:spPr>
      </p:pic>
      <p:sp>
        <p:nvSpPr>
          <p:cNvPr id="200" name="Rounded Rectangle 199"/>
          <p:cNvSpPr/>
          <p:nvPr/>
        </p:nvSpPr>
        <p:spPr>
          <a:xfrm>
            <a:off x="822960" y="4453128"/>
            <a:ext cx="2011680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05256" y="450799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프로토타입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큐브 3칸(얼굴 · 몸 · 다리) × 4면에 페인트 · 색종이 · 털실 · 펜으로 그림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05256" y="505663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아이가 하는 것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고른 칸과 면에 자유롭게 그리고, 한 칸의 네 면에 네 가지 모습을 담음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05256" y="5614416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05256" y="5614416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일부 구현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05256" y="582472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화면에서 재료 느낌만 흉내 · 실제 재료 큐브와 규격은 미정</a:t>
            </a:r>
          </a:p>
        </p:txBody>
      </p:sp>
      <p:sp>
        <p:nvSpPr>
          <p:cNvPr id="206" name="Pentagon 205"/>
          <p:cNvSpPr/>
          <p:nvPr/>
        </p:nvSpPr>
        <p:spPr>
          <a:xfrm>
            <a:off x="2948940" y="2084831"/>
            <a:ext cx="2011680" cy="457200"/>
          </a:xfrm>
          <a:prstGeom prst="homePlate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040380" y="2084831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02 </a:t>
            </a:r>
            <a:r>
              <a:rPr sz="12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IMMERSE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몰입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948940" y="25877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만드는 과정에 집중하며 창작 경험 확장</a:t>
            </a:r>
          </a:p>
        </p:txBody>
      </p:sp>
      <p:pic>
        <p:nvPicPr>
          <p:cNvPr id="209" name="Picture 208" descr="c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2990088"/>
            <a:ext cx="2011680" cy="1408176"/>
          </a:xfrm>
          <a:prstGeom prst="rect">
            <a:avLst/>
          </a:prstGeom>
          <a:ln w="12700">
            <a:solidFill>
              <a:srgbClr val="D6D6D6"/>
            </a:solidFill>
          </a:ln>
        </p:spPr>
      </p:pic>
      <p:sp>
        <p:nvSpPr>
          <p:cNvPr id="210" name="Rounded Rectangle 209"/>
          <p:cNvSpPr/>
          <p:nvPr/>
        </p:nvSpPr>
        <p:spPr>
          <a:xfrm>
            <a:off x="2948940" y="4453128"/>
            <a:ext cx="2011680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031236" y="450799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00A7B5"/>
                </a:solidFill>
                <a:latin typeface="LINE Seed Sans KR Bold"/>
                <a:ea typeface="LINE Seed Sans KR Bold"/>
                <a:cs typeface="LINE Seed Sans KR Bold"/>
              </a:rPr>
              <a:t>프로토타입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그리는 즉시 옆의 3D 큐브가 그 면으로 돌아옴. 선택은 칸 3 · 재료 4로 단순하게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031236" y="505663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00A7B5"/>
                </a:solidFill>
                <a:latin typeface="LINE Seed Sans KR Bold"/>
                <a:ea typeface="LINE Seed Sans KR Bold"/>
                <a:cs typeface="LINE Seed Sans KR Bold"/>
              </a:rPr>
              <a:t>아이가 하는 것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설명 · 대기 없이 바로 시작하고, 만들다가 칸과 면을 바꿔 이어서 만듦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031236" y="5614416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031236" y="5614416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일부 구현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031236" y="582472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몰입 시간 · 자리 이탈 · 선택 포기율은 시험 전</a:t>
            </a:r>
          </a:p>
        </p:txBody>
      </p:sp>
      <p:sp>
        <p:nvSpPr>
          <p:cNvPr id="216" name="Pentagon 215"/>
          <p:cNvSpPr/>
          <p:nvPr/>
        </p:nvSpPr>
        <p:spPr>
          <a:xfrm>
            <a:off x="5074920" y="2084831"/>
            <a:ext cx="2011680" cy="457200"/>
          </a:xfrm>
          <a:prstGeom prst="homePlat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5166360" y="2084831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03 </a:t>
            </a:r>
            <a:r>
              <a:rPr sz="12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COMPLETE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작품 완성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074920" y="25877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직접 선택한 재료와 방법으로 나만의 결과물 완성</a:t>
            </a:r>
          </a:p>
        </p:txBody>
      </p:sp>
      <p:pic>
        <p:nvPicPr>
          <p:cNvPr id="219" name="Picture 218" descr="c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0088"/>
            <a:ext cx="2011680" cy="1408176"/>
          </a:xfrm>
          <a:prstGeom prst="rect">
            <a:avLst/>
          </a:prstGeom>
          <a:ln w="12700">
            <a:solidFill>
              <a:srgbClr val="D6D6D6"/>
            </a:solidFill>
          </a:ln>
        </p:spPr>
      </p:pic>
      <p:sp>
        <p:nvSpPr>
          <p:cNvPr id="220" name="Rounded Rectangle 219"/>
          <p:cNvSpPr/>
          <p:nvPr/>
        </p:nvSpPr>
        <p:spPr>
          <a:xfrm>
            <a:off x="5074920" y="4453128"/>
            <a:ext cx="2011680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157216" y="450799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프로토타입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큐브 스캔: 36장 촬영 → 면 그림 입히기 → 얼굴 · 몸 · 다리 3개 모델로 분리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157216" y="505663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아이가 하는 것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완성 시점은 아이가 정해 스캔에 올림 → 12면이 ‘내 작품’이 됨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5157216" y="5614416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157216" y="5614416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시뮬레이션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57216" y="582472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스캔 방식 · 처리 시간 · 털실 품질은 미검증</a:t>
            </a:r>
          </a:p>
        </p:txBody>
      </p:sp>
      <p:sp>
        <p:nvSpPr>
          <p:cNvPr id="226" name="Pentagon 225"/>
          <p:cNvSpPr/>
          <p:nvPr/>
        </p:nvSpPr>
        <p:spPr>
          <a:xfrm>
            <a:off x="7200900" y="2084831"/>
            <a:ext cx="2011680" cy="457200"/>
          </a:xfrm>
          <a:prstGeom prst="homePlat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292340" y="2084831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04 </a:t>
            </a:r>
            <a:r>
              <a:rPr sz="12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ARCHIVE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아카이빙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200900" y="25877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완성된 작품을 기록하고 나만의 작품을 전시</a:t>
            </a:r>
          </a:p>
        </p:txBody>
      </p:sp>
      <p:pic>
        <p:nvPicPr>
          <p:cNvPr id="229" name="Picture 228" descr="c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990088"/>
            <a:ext cx="2011680" cy="1408176"/>
          </a:xfrm>
          <a:prstGeom prst="rect">
            <a:avLst/>
          </a:prstGeom>
          <a:ln w="12700">
            <a:solidFill>
              <a:srgbClr val="D6D6D6"/>
            </a:solidFill>
          </a:ln>
        </p:spPr>
      </p:pic>
      <p:sp>
        <p:nvSpPr>
          <p:cNvPr id="230" name="Rounded Rectangle 229"/>
          <p:cNvSpPr/>
          <p:nvPr/>
        </p:nvSpPr>
        <p:spPr>
          <a:xfrm>
            <a:off x="7200900" y="4453128"/>
            <a:ext cx="2011680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283196" y="450799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프로토타입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대형 Wall로 보내면 내 큐브가 합류. 배치(큐브 격자 · 자유 배치)와 배경 4종을 고름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283196" y="505663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아이가 하는 것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Wall에서 내 큐브를 찾고 눌러 돌려 봄. 이름표로 구분. 얼굴 면은 포토 부스(아이디어)로 사진 기록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7283196" y="5614416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283196" y="5614416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일부 구현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283196" y="582472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개인 컬렉션 · 실물 가져가기 · 보관 동의는 미구현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9326880" y="2084831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E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418320" y="2084831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05 </a:t>
            </a:r>
            <a:r>
              <a:rPr sz="12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REVISIT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재방문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326880" y="25877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쌓인 작품과 새로운 창작 경험이 다음 방문의 동기로 연결</a:t>
            </a:r>
          </a:p>
        </p:txBody>
      </p:sp>
      <p:pic>
        <p:nvPicPr>
          <p:cNvPr id="239" name="Picture 238" descr="c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990088"/>
            <a:ext cx="2011680" cy="1408176"/>
          </a:xfrm>
          <a:prstGeom prst="rect">
            <a:avLst/>
          </a:prstGeom>
          <a:ln w="12700">
            <a:solidFill>
              <a:srgbClr val="D6D6D6"/>
            </a:solidFill>
          </a:ln>
        </p:spPr>
      </p:pic>
      <p:sp>
        <p:nvSpPr>
          <p:cNvPr id="240" name="Rounded Rectangle 239"/>
          <p:cNvSpPr/>
          <p:nvPr/>
        </p:nvSpPr>
        <p:spPr>
          <a:xfrm>
            <a:off x="9326880" y="4453128"/>
            <a:ext cx="2011680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409176" y="450799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E41E2E"/>
                </a:solidFill>
                <a:latin typeface="LINE Seed Sans KR Bold"/>
                <a:ea typeface="LINE Seed Sans KR Bold"/>
                <a:cs typeface="LINE Seed Sans KR Bold"/>
              </a:rPr>
              <a:t>프로토타입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큐브 춤 4종(돌려돌려 · 칸 바꾸기 · 군무 · 점프 파도)과 배경이 물결로 바뀌는 Wall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9409176" y="505663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>
                <a:solidFill>
                  <a:srgbClr val="E41E2E"/>
                </a:solidFill>
                <a:latin typeface="LINE Seed Sans KR Bold"/>
                <a:ea typeface="LINE Seed Sans KR Bold"/>
                <a:cs typeface="LINE Seed Sans KR Bold"/>
              </a:rPr>
              <a:t>아이가 하는 것  </a:t>
            </a: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다음 방문에 새 배경 · 친구 큐브와 섞이는 춤을 봄. 내 큐브가 ‘자라는’ 이야기는 아이디어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9409176" y="5614416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9409176" y="5614416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일부 아이디어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409176" y="582472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재방문 효과 · 시즌 쇼케이스 · 멤버십 연결은 미검증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22960" y="6455664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화면 캡처는 Live Atelier 큐브 프로토타입(시연용)이며, 스캔 · 센서 · 개인 컬렉션은 실제 장비로 검증하지 않았습니다. 가상의 친구 3명은 임의로 그린 예시입니다.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te">
      <a:majorFont>
        <a:latin typeface="LINE Seed Sans KR Regular"/>
        <a:ea typeface="LINE Seed Sans KR Regular"/>
        <a:cs typeface=""/>
      </a:majorFont>
      <a:minorFont>
        <a:latin typeface="LINE Seed Sans KR Regular"/>
        <a:ea typeface="LINE Seed Sans KR Thin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F9B17B8-1924-4988-A0C4-97074C3EFB85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18e273cb-12ab-4a62-8d7a-98d5d1316c4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21ED2F-E1D9-433D-AA47-6AC16B2DDA11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77396</TotalTime>
  <Words>1090</Words>
  <Application>Microsoft Office PowerPoint</Application>
  <PresentationFormat>와이드스크린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LINE Seed Sans KR Regular</vt:lpstr>
      <vt:lpstr>LINE Seed Sans KR Bold</vt:lpstr>
      <vt:lpstr>맑은 고딕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한지연</dc:creator>
  <cp:lastModifiedBy>Su-jeong Lee (DSKR-이수정)</cp:lastModifiedBy>
  <cp:revision>992</cp:revision>
  <dcterms:created xsi:type="dcterms:W3CDTF">2022-05-06T02:30:22Z</dcterms:created>
  <dcterms:modified xsi:type="dcterms:W3CDTF">2026-10-23T08:26:22Z</dcterms:modified>
</cp:coreProperties>
</file>