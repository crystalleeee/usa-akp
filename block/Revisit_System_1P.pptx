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83" r:id="rId1"/>
  </p:sldMasterIdLst>
  <p:notesMasterIdLst>
    <p:notesMasterId r:id="rId6"/>
  </p:notesMasterIdLst>
  <p:sldIdLst>
    <p:sldId id="4399" r:id="rId15"/>
  </p:sldIdLst>
  <p:sldSz cx="12192000" cy="6858000"/>
  <p:notesSz cx="6858000" cy="9144000"/>
  <p:embeddedFontLst>
    <p:embeddedFont>
      <p:font typeface="LINE Seed Sans KR Bold" panose="020B0603020203020204" pitchFamily="34" charset="-127"/>
      <p:bold r:id="rId7"/>
    </p:embeddedFont>
    <p:embeddedFont>
      <p:font typeface="LINE Seed Sans KR Regular" panose="020B0603020203020204" pitchFamily="34" charset="-127"/>
      <p:regular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65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616" userDrawn="1">
          <p15:clr>
            <a:srgbClr val="A4A3A4"/>
          </p15:clr>
        </p15:guide>
        <p15:guide id="12" pos="721" userDrawn="1">
          <p15:clr>
            <a:srgbClr val="A4A3A4"/>
          </p15:clr>
        </p15:guide>
        <p15:guide id="13" pos="6947" userDrawn="1">
          <p15:clr>
            <a:srgbClr val="A4A3A4"/>
          </p15:clr>
        </p15:guide>
        <p15:guide id="16" orient="horz" pos="1139" userDrawn="1">
          <p15:clr>
            <a:srgbClr val="A4A3A4"/>
          </p15:clr>
        </p15:guide>
        <p15:guide id="18" pos="2525" userDrawn="1">
          <p15:clr>
            <a:srgbClr val="A4A3A4"/>
          </p15:clr>
        </p15:guide>
        <p15:guide id="19" orient="horz" pos="20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300"/>
    <a:srgbClr val="0065B2"/>
    <a:srgbClr val="EF560C"/>
    <a:srgbClr val="FBAE40"/>
    <a:srgbClr val="FBFBFB"/>
    <a:srgbClr val="6B7280"/>
    <a:srgbClr val="2F7BEA"/>
    <a:srgbClr val="00AA00"/>
    <a:srgbClr val="FF3300"/>
    <a:srgbClr val="33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88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900" y="102"/>
      </p:cViewPr>
      <p:guideLst>
        <p:guide orient="horz" pos="4065"/>
        <p:guide orient="horz" pos="346"/>
        <p:guide orient="horz" pos="1616"/>
        <p:guide pos="721"/>
        <p:guide pos="6947"/>
        <p:guide orient="horz" pos="1139"/>
        <p:guide pos="2525"/>
        <p:guide orient="horz" pos="200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7848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445B9C-CEC5-46C5-8236-4C42941CDC25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EBA-5D8A-4E8B-9829-3F57D06613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10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958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332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세로 제목 및 텍스트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4581889-1FD5-D8BB-64FC-69FE199E98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41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EF4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7610A44-286A-998E-A774-C0D6A5AFA7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37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rgbClr val="FFAF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B9D3AA9-9B5D-D633-8A12-44FCD40414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446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rgbClr val="005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E441782-31E0-5203-0CD2-AF7B49419F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28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876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697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사용자 지정 레이아웃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50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735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38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7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95" r:id="rId2"/>
    <p:sldLayoutId id="2147483679" r:id="rId3"/>
    <p:sldLayoutId id="2147483660" r:id="rId4"/>
    <p:sldLayoutId id="2147483663" r:id="rId5"/>
    <p:sldLayoutId id="2147483664" r:id="rId6"/>
    <p:sldLayoutId id="2147483666" r:id="rId7"/>
    <p:sldLayoutId id="2147483701" r:id="rId8"/>
    <p:sldLayoutId id="2147483682" r:id="rId9"/>
    <p:sldLayoutId id="2147483698" r:id="rId10"/>
    <p:sldLayoutId id="2147483700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lehighvalleypublicmedia.org/news/entertainment/crayola-experience-expands-creativity-with-model-magic-movie-studios/" TargetMode="External"/><Relationship Id="rId3" Type="http://schemas.openxmlformats.org/officeDocument/2006/relationships/hyperlink" Target="https://scanmagazine.co.uk/lego-house-housing-creativity/" TargetMode="External"/><Relationship Id="rId4" Type="http://schemas.openxmlformats.org/officeDocument/2006/relationships/hyperlink" Target="https://www.engadget.com/2016-11-02-play-doh-touch-hands-on.html" TargetMode="External"/><Relationship Id="rId5" Type="http://schemas.openxmlformats.org/officeDocument/2006/relationships/hyperlink" Target="https://www.teamlab.art/w/sketchtown/bandaijima/" TargetMode="External"/><Relationship Id="rId6" Type="http://schemas.openxmlformats.org/officeDocument/2006/relationships/hyperlink" Target="https://meadowsmuseumdallas.org/cal/open-studio-13/" TargetMode="External"/><Relationship Id="rId7" Type="http://schemas.openxmlformats.org/officeDocument/2006/relationships/hyperlink" Target="https://www.mcny.org/mcny-kids-art-studio" TargetMode="External"/><Relationship Id="rId8" Type="http://schemas.openxmlformats.org/officeDocument/2006/relationships/hyperlink" Target="https://high.org/explorer-cards/" TargetMode="External"/><Relationship Id="rId9" Type="http://schemas.openxmlformats.org/officeDocument/2006/relationships/hyperlink" Target="https://visitnorfolk.com/attraction/color-me-mine" TargetMode="External"/><Relationship Id="rId10" Type="http://schemas.openxmlformats.org/officeDocument/2006/relationships/hyperlink" Target="https://kidzania.com.sg/bkidzanian" TargetMode="External"/><Relationship Id="rId11" Type="http://schemas.openxmlformats.org/officeDocument/2006/relationships/hyperlink" Target="https://www.peoriariverfrontmuseum.org/node/559" TargetMode="External"/><Relationship Id="rId12" Type="http://schemas.openxmlformats.org/officeDocument/2006/relationships/hyperlink" Target="https://www.crayolaexperience.com/easton/annual-passes/become-a-passholder/what-is-an-annual-pass" TargetMode="External"/><Relationship Id="rId13" Type="http://schemas.openxmlformats.org/officeDocument/2006/relationships/hyperlink" Target="https://olioli.ae/memberships/" TargetMode="External"/><Relationship Id="rId14" Type="http://schemas.openxmlformats.org/officeDocument/2006/relationships/hyperlink" Target="https://www.seoulchildrensmuseum.org/reservation/memberJoinInfo.do" TargetMode="Externa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5" name="TextBox 194">
            <a:extLst>
              <a:ext uri="{FF2B5EF4-FFF2-40B4-BE49-F238E27FC236}">
                <a16:creationId xmlns:a16="http://schemas.microsoft.com/office/drawing/2014/main" id="{9F7143B7-4B0E-94D9-5D63-906AAFB0BFE2}"/>
              </a:ext>
            </a:extLst>
          </p:cNvPr>
          <p:cNvSpPr txBox="1"/>
          <p:nvPr/>
        </p:nvSpPr>
        <p:spPr>
          <a:xfrm>
            <a:off x="1134220" y="508796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experience zone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0E1D8AE-FEE1-0621-3A3E-2634DF07B78E}"/>
              </a:ext>
            </a:extLst>
          </p:cNvPr>
          <p:cNvSpPr txBox="1"/>
          <p:nvPr/>
        </p:nvSpPr>
        <p:spPr>
          <a:xfrm>
            <a:off x="1045371" y="1134429"/>
            <a:ext cx="223009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ko-KR" sz="3200" dirty="0">
                <a:solidFill>
                  <a:srgbClr val="000000"/>
                </a:solidFill>
                <a:latin typeface="LINE Seed Sans KR Bold" pitchFamily="34" charset="0"/>
                <a:ea typeface="LINE Seed Sans KR Bold" pitchFamily="34" charset="-122"/>
                <a:cs typeface="LINE Seed Sans KR Bold" pitchFamily="34" charset="-120"/>
              </a:rPr>
              <a:t>Revisit System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0DCA4294-5BE4-7705-0422-06501C6DC913}"/>
              </a:ext>
            </a:extLst>
          </p:cNvPr>
          <p:cNvSpPr txBox="1"/>
          <p:nvPr/>
        </p:nvSpPr>
        <p:spPr>
          <a:xfrm>
            <a:off x="1047752" y="1704914"/>
            <a:ext cx="5904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창작 결과의 콘텐츠화 · 변화 · 멤버십</a:t>
            </a:r>
            <a:r>
              <a:rPr lang="ko-KR" altLang="en-US" sz="1200" dirty="0">
                <a:latin typeface="+mj-ea"/>
                <a:ea typeface="+mj-ea"/>
              </a:rPr>
              <a:t>의 3개 축으로 </a:t>
            </a:r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리서치에서 확인한 근거</a:t>
            </a:r>
            <a:r>
              <a:rPr lang="ko-KR" altLang="en-US" sz="1200" dirty="0">
                <a:latin typeface="+mj-ea"/>
                <a:ea typeface="+mj-ea"/>
              </a:rPr>
              <a:t>를 정리한 재방문 체계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1005840" y="219456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15568" y="2340864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115568" y="23408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691640" y="2258568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콘텐츠화 | 다시 경험하는 창작 결과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691640" y="25420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직접 만든 오브젝트가 디지털 콘텐츠로 확장되어, 창작 결과를 새로운 방식으로 다시 경험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05840" y="305409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143000" y="312724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Crayola · Model Magic Movie Studios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43000" y="3364991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클레이로 생물을 빚고 → 스캔 부스 → 이야기에 출연 → 영상 다운로드 + 실물 가져가기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143000" y="381304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2"/>
              </a:rPr>
              <a:t>Lehigh Valley Public Media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005840" y="410565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43000" y="417880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LEGO House · Fish Designer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43000" y="4416552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블록으로 만든 물고기를 스캔하면 디지털 물고기가 되어 수중 존에서 헤엄, 디지털 손목밴드에 창작물 기록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143000" y="486460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3"/>
              </a:rPr>
              <a:t>SCAN Magazine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1005840" y="515721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143000" y="523036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Play-Doh Touch · teamLab Sketch Town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143000" y="5468112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클레이 생물을 사진으로 찍으면 앱이 목소리 · 걸음걸이를 부여 / 색칠한 도안이 3D가 되어 공유 도시에 합류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43000" y="591616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4"/>
              </a:rPr>
              <a:t>Engadget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5"/>
              </a:rPr>
              <a:t>teamLab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4407408" y="219456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17136" y="2340864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17136" y="23408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2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93208" y="2258568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변화 | 교체 주기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93208" y="25420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재료 · 주제 · 프로그램을 일정 주기로 바꿔, 방문할 때마다 새로운 창작 경험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407408" y="305409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544568" y="312724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Meadows Museum · MCNY Kids Art Studio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544568" y="3364991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Meadows: 매달 새 프로젝트 / MCNY: 활동이 매달 바뀌고 작품은 가져가거나 두고 가서 전시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544568" y="381304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6"/>
              </a:rPr>
              <a:t>Meadows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7"/>
              </a:rPr>
              <a:t>MCNY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4407408" y="410565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4544568" y="417880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High Museum of Art · Explorer Cards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544568" y="4416552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매월 초 새 카드(전시 작품 하나에 초점), 카드 뒷면 QR 등록 후 숍에서 월간 상품 수령, 상품 재고 한정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44568" y="486460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8"/>
              </a:rPr>
              <a:t>High Museum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4407408" y="515721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4544568" y="523036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Color Me Mine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544568" y="5468112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굽지 않은 도자기에 색칠 → 가마에서 구워 약 1주 뒤 다시 와서 가져감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44568" y="591616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9"/>
              </a:rPr>
              <a:t>Visit Norfolk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7808975" y="2194560"/>
            <a:ext cx="3246120" cy="749808"/>
          </a:xfrm>
          <a:prstGeom prst="roundRect">
            <a:avLst>
              <a:gd name="adj" fmla="val 10000"/>
            </a:avLst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7918703" y="2340864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918703" y="23408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8494776" y="2258568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멤버십 | 쌓이는 진행과 혜택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8494776" y="25420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멤버십으로 새 프로그램과 혜택을 지속 제공해, 반복 방문과 장기 참여를 유도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7808975" y="305409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7946136" y="312724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KidZania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946136" y="3364991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여권(PaZZport)에 활동마다 도장 → 쌓이면 시민 등급이 올라 임금 · 할인 · 특별 활동 혜택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46136" y="381304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0"/>
              </a:rPr>
              <a:t>KidZania Singapore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7808975" y="410565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946136" y="417880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Peoria · Achievement Passport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946136" y="4416552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활동마다 10–250점을 QR로 적립, 회원은 점수 2배, 패스포트는 해마다 갱신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946136" y="486460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1"/>
              </a:rPr>
              <a:t>Peoria Riverfront Museum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7808975" y="5157216"/>
            <a:ext cx="324612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7946136" y="523036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Crayola · OliOli Dubai · 서울상상나라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946136" y="5468112"/>
            <a:ext cx="2971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Crayola 연 49.99달러 무제한 / OliOli 3개월 멤버십 / 서울상상나라 가족 연회원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946136" y="5916168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2"/>
              </a:rPr>
              <a:t>Crayola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3"/>
              </a:rPr>
              <a:t>OliOli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4"/>
              </a:rPr>
              <a:t>서울상상나라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05840" y="626364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※ 시설별 재방문율 수치는 공개 자료로 확인하지 못했고, 각 시설의 공식 안내 · 기사에서 확인되는 운영 구조만 정리했습니다.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te">
      <a:majorFont>
        <a:latin typeface="LINE Seed Sans KR Regular"/>
        <a:ea typeface="LINE Seed Sans KR Regular"/>
        <a:cs typeface=""/>
      </a:majorFont>
      <a:minorFont>
        <a:latin typeface="LINE Seed Sans KR Regular"/>
        <a:ea typeface="LINE Seed Sans KR Thin"/>
        <a:cs typeface="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7F9B17B8-1924-4988-A0C4-97074C3EFB85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18e273cb-12ab-4a62-8d7a-98d5d1316c4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521ED2F-E1D9-433D-AA47-6AC16B2DDA11}">
  <we:reference id="wa200005566" version="3.0.0.3" store="ko-KR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77396</TotalTime>
  <Words>1090</Words>
  <Application>Microsoft Office PowerPoint</Application>
  <PresentationFormat>와이드스크린</PresentationFormat>
  <Paragraphs>136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LINE Seed Sans KR Regular</vt:lpstr>
      <vt:lpstr>LINE Seed Sans KR Bold</vt:lpstr>
      <vt:lpstr>맑은 고딕</vt:lpstr>
      <vt:lpstr>Arial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한지연</dc:creator>
  <cp:lastModifiedBy>Su-jeong Lee (DSKR-이수정)</cp:lastModifiedBy>
  <cp:revision>992</cp:revision>
  <dcterms:created xsi:type="dcterms:W3CDTF">2022-05-06T02:30:22Z</dcterms:created>
  <dcterms:modified xsi:type="dcterms:W3CDTF">2026-10-23T08:26:22Z</dcterms:modified>
</cp:coreProperties>
</file>