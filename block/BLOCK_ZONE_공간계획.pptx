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8292afb-44bf-3554-5602-5fd9cfe75c7d}">
          <p14:sldIdLst>
            <p14:sldId id="256"/>
          </p14:sldIdLst>
        </p14:section>
        <p14:section name="공간 원칙" id="{6f4a3d0b-73b6-8279-3471-7e544ccbb023}">
          <p14:sldIdLst>
            <p14:sldId id="257"/>
          </p14:sldIdLst>
        </p14:section>
        <p14:section name="개념도" id="{f2def57c-c12c-635d-8e1b-91c23df7eee5}">
          <p14:sldIdLst>
            <p14:sldId id="258"/>
            <p14:sldId id="259"/>
          </p14:sldIdLst>
        </p14:section>
        <p14:section name="개념도" id="{76b9c477-44ce-2d41-456f-7d3e3a960e4c}">
          <p14:sldIdLst/>
        </p14:section>
        <p14:section name="영역별 기획" id="{50ca33d3-2b4d-2821-915e-5cbf04bab0b2}">
          <p14:sldIdLst>
            <p14:sldId id="260"/>
            <p14:sldId id="261"/>
            <p14:sldId id="262"/>
          </p14:sldIdLst>
        </p14:section>
        <p14:section name="영역별 기획" id="{090cc9aa-9916-2755-ea81-a12c968f662c}">
          <p14:sldIdLst/>
        </p14:section>
        <p14:section name="영역별 기획" id="{ad7bb64a-bb6f-b81d-305c-157acfaaff9e}">
          <p14:sldIdLst/>
        </p14:section>
        <p14:section name="체험 흐름" id="{e3756024-cc51-f2d2-6c33-f37d45194eb2}">
          <p14:sldIdLst>
            <p14:sldId id="263"/>
          </p14:sldIdLst>
        </p14:section>
        <p14:section name="결정 사항" id="{06c918cd-cbce-624c-7cfb-3dcfbe388335}">
          <p14:sldIdLst>
            <p14:sldId id="264"/>
          </p14:sldIdLst>
        </p14:section>
        <p14:section name="확인 사항" id="{4866f834-2b17-2480-3f8d-69ed677f26e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 근거: ① 이전 아이데이션 D안 · teamLab Little People 원리 ② Botanic Kitchen v4와 연결 ③ 연령 폭(2세 포함)을 모두 받기 위해 ④ 현장 투사로 연출 폭이 넓음, 블록 충전 · 내구 관리 부담 없음 ⑤ 모양 4–5종 구분 + 위치가 필요해 마커 방식이 안정적일 것으로 판단(검증 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07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DF00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6D6D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5A"/>
                </a:solidFill>
              </a:rPr>
              <a:t>ARTE KIDS PARK USA  /  BLOCK ZONE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5A5A5A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</a:rPr>
              <a:t>BLOCK ZONE · 공간 계획과 아이데이션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amlab.art/w/littlepeople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9Vc6135KGxseZ3D6Nw8Ptz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94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BLOCK ZONE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46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F00"/>
                </a:solidFill>
              </a:rPr>
              <a:t>공간 계획과 아이데이션 · Wall 1 · Wall 2 · Floor</a:t>
            </a:r>
            <a:endParaRPr lang="en-US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31520" y="5760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6D6D6"/>
                </a:solidFill>
              </a:rPr>
              <a:t>영유아 대상 미디어아트 체험존 · 공간 크기 4 × 6m는 기존 메모 기준 가정 · 2026.10.19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공간 원칙 | 벽은 인상과 메인, 바닥은 오래 머무는 곳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세 영역이 역할을 나누고, Wall 2가 바닥과 벽을 이어 줌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1945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065B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WALL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334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도형 붙이는 인터랙티브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공간 전체의 첫인상 · 메인 인터랙티브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233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입구에서 가장 먼저 보이는 큰 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도형 블록을 붙이면 벽 세계가 바로 반응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여러 아이가 동시에 참여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1945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FF8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09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WALL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6334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바닥 연계 + 붙이기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바닥에서 시작된 것이 벽으로 이어지는 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0233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바닥에서 키운 것이 벽으로 올라옴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벽에 블록을 붙여 다음 장면을 만듦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Floor와 Wall 1 사이의 다리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19659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19456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00913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5820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FLOOR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26334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꼼지락 · 단순한 인터랙티브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영유아가 오래 머무는 곳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0233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바닥 매트 또는 낮은 테이블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만지면 바로 작게 반응, 실패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</a:rPr>
              <a:t>보호자가 옆에 앉아 함께</a:t>
            </a:r>
            <a:endParaRPr lang="en-US" sz="14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개념도 1 | 평면 배치안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4 × 6m 가정 · 위에서 본 모습 · 배치는 제안안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2148840"/>
            <a:ext cx="3730752" cy="2487168"/>
          </a:xfrm>
          <a:prstGeom prst="rect">
            <a:avLst/>
          </a:prstGeom>
          <a:solidFill>
            <a:srgbClr val="F6F6F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148840"/>
            <a:ext cx="3730752" cy="0"/>
          </a:xfrm>
          <a:prstGeom prst="line">
            <a:avLst/>
          </a:prstGeom>
          <a:noFill/>
          <a:ln w="114300">
            <a:solidFill>
              <a:srgbClr val="0065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48840"/>
            <a:ext cx="0" cy="2487168"/>
          </a:xfrm>
          <a:prstGeom prst="line">
            <a:avLst/>
          </a:prstGeom>
          <a:noFill/>
          <a:ln w="114300">
            <a:solidFill>
              <a:srgbClr val="FF8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2024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5B2"/>
                </a:solidFill>
              </a:rPr>
              <a:t>WALL 1 · 메인 (6m)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</a:rPr>
              <a:t>WALL 2 (4m)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7552" y="2651760"/>
            <a:ext cx="2148840" cy="1828800"/>
          </a:xfrm>
          <a:prstGeom prst="roundRect">
            <a:avLst>
              <a:gd name="adj" fmla="val 12500"/>
            </a:avLst>
          </a:prstGeom>
          <a:solidFill>
            <a:srgbClr val="DFF1E4"/>
          </a:solidFill>
          <a:ln w="19050">
            <a:solidFill>
              <a:srgbClr val="00913B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11430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913B"/>
                </a:solidFill>
              </a:rPr>
              <a:t>FLOOR · 꼼지락 존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2588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DF00"/>
          </a:solidFill>
          <a:ln/>
        </p:spPr>
      </p:sp>
      <p:sp>
        <p:nvSpPr>
          <p:cNvPr id="13" name="Shape 10"/>
          <p:cNvSpPr/>
          <p:nvPr/>
        </p:nvSpPr>
        <p:spPr>
          <a:xfrm>
            <a:off x="1783080" y="356616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D92B9"/>
          </a:solidFill>
          <a:ln/>
        </p:spPr>
      </p:sp>
      <p:sp>
        <p:nvSpPr>
          <p:cNvPr id="14" name="Shape 11"/>
          <p:cNvSpPr/>
          <p:nvPr/>
        </p:nvSpPr>
        <p:spPr>
          <a:xfrm>
            <a:off x="2286000" y="32461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62B5E5"/>
          </a:solidFill>
          <a:ln/>
        </p:spPr>
      </p:sp>
      <p:sp>
        <p:nvSpPr>
          <p:cNvPr id="15" name="Shape 12"/>
          <p:cNvSpPr/>
          <p:nvPr/>
        </p:nvSpPr>
        <p:spPr>
          <a:xfrm>
            <a:off x="1554480" y="393192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8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2514600" y="388620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DF00"/>
          </a:solidFill>
          <a:ln/>
        </p:spPr>
      </p:sp>
      <p:sp>
        <p:nvSpPr>
          <p:cNvPr id="17" name="Shape 14"/>
          <p:cNvSpPr/>
          <p:nvPr/>
        </p:nvSpPr>
        <p:spPr>
          <a:xfrm>
            <a:off x="859536" y="2651760"/>
            <a:ext cx="128016" cy="1828800"/>
          </a:xfrm>
          <a:prstGeom prst="rect">
            <a:avLst/>
          </a:prstGeom>
          <a:solidFill>
            <a:srgbClr val="FF8000">
              <a:alpha val="4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337560" y="356616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4160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낮은 테이블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371600" y="2203704"/>
            <a:ext cx="3017520" cy="164592"/>
          </a:xfrm>
          <a:prstGeom prst="rect">
            <a:avLst/>
          </a:prstGeom>
          <a:solidFill>
            <a:srgbClr val="0065B2">
              <a:alpha val="4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286000" y="23957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5B2"/>
                </a:solidFill>
              </a:rPr>
              <a:t>붙이는 구역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33672" y="2697480"/>
            <a:ext cx="22860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273552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</a:rPr>
              <a:t>보호자 벤치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73552" y="4599432"/>
            <a:ext cx="82296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273552" y="4709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입구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V="1">
            <a:off x="3685032" y="4114800"/>
            <a:ext cx="0" cy="411480"/>
          </a:xfrm>
          <a:prstGeom prst="line">
            <a:avLst/>
          </a:prstGeom>
          <a:noFill/>
          <a:ln w="25400">
            <a:solidFill>
              <a:srgbClr val="E41E2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3200400" y="3063240"/>
            <a:ext cx="457200" cy="0"/>
          </a:xfrm>
          <a:prstGeom prst="line">
            <a:avLst/>
          </a:prstGeom>
          <a:noFill/>
          <a:ln w="25400">
            <a:solidFill>
              <a:srgbClr val="E41E2E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834640" y="2715768"/>
            <a:ext cx="201168" cy="128016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29" name="Shape 26"/>
          <p:cNvSpPr/>
          <p:nvPr/>
        </p:nvSpPr>
        <p:spPr>
          <a:xfrm>
            <a:off x="3931920" y="2971800"/>
            <a:ext cx="201168" cy="128016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30" name="Shape 27"/>
          <p:cNvSpPr/>
          <p:nvPr/>
        </p:nvSpPr>
        <p:spPr>
          <a:xfrm>
            <a:off x="2834640" y="4297680"/>
            <a:ext cx="201168" cy="128016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029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범례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029200" y="2395728"/>
            <a:ext cx="274320" cy="201168"/>
          </a:xfrm>
          <a:prstGeom prst="rect">
            <a:avLst/>
          </a:prstGeom>
          <a:solidFill>
            <a:srgbClr val="0065B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44068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Wall 1 · 메인 벽(도형 붙이기)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29200" y="2779776"/>
            <a:ext cx="274320" cy="201168"/>
          </a:xfrm>
          <a:prstGeom prst="rect">
            <a:avLst/>
          </a:prstGeom>
          <a:solidFill>
            <a:srgbClr val="FF800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4406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Wall 2 · 바닥 연계 벽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029200" y="3163824"/>
            <a:ext cx="274320" cy="201168"/>
          </a:xfrm>
          <a:prstGeom prst="rect">
            <a:avLst/>
          </a:prstGeom>
          <a:solidFill>
            <a:srgbClr val="00913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44068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Floor · 꼼지락 존(매트 · 블록)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029200" y="3547872"/>
            <a:ext cx="274320" cy="201168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40680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천장 프로젝터 · 센서 위치(예시)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029200" y="3931920"/>
            <a:ext cx="274320" cy="201168"/>
          </a:xfrm>
          <a:prstGeom prst="rect">
            <a:avLst/>
          </a:prstGeom>
          <a:solidFill>
            <a:srgbClr val="E41E2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440680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아이 동선(입구 → 바닥 → 벽)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029200" y="4434840"/>
            <a:ext cx="6583680" cy="1783080"/>
          </a:xfrm>
          <a:prstGeom prst="roundRect">
            <a:avLst>
              <a:gd name="adj" fmla="val 5128"/>
            </a:avLst>
          </a:prstGeom>
          <a:solidFill>
            <a:srgbClr val="F6F6F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2578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배치 이유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257800" y="4937760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입구 정면 긴 벽을 Wall 1로 → 들어오자마자 공간의 인상이 됨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Wall 2 바로 앞에 꼼지락 존 → 바닥에서 한 일이 옆 벽으로 바로 이어짐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입구 쪽 벤치 → 보호자가 아이와 벽을 함께 볼 수 있는 자리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2439619" y="4983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6m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4645152" y="326806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4m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개념도 2 | 벽 입면 · 손 닿는 높이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붙이는 구역은 영유아 손 높이에 집중 · 위쪽은 보는 영상 영역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401568" cy="1955902"/>
          </a:xfrm>
          <a:prstGeom prst="rect">
            <a:avLst/>
          </a:prstGeom>
          <a:solidFill>
            <a:srgbClr val="F6F6F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103120"/>
            <a:ext cx="3401568" cy="1075746"/>
          </a:xfrm>
          <a:prstGeom prst="rect">
            <a:avLst/>
          </a:prstGeom>
          <a:solidFill>
            <a:srgbClr val="0065B2">
              <a:alpha val="2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2128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5B2"/>
                </a:solidFill>
              </a:rPr>
              <a:t>보는 영역 · 공간 인상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276661"/>
            <a:ext cx="3401568" cy="645448"/>
          </a:xfrm>
          <a:prstGeom prst="rect">
            <a:avLst/>
          </a:prstGeom>
          <a:solidFill>
            <a:srgbClr val="0065B2">
              <a:alpha val="40000"/>
            </a:srgbClr>
          </a:solidFill>
          <a:ln w="19050">
            <a:solidFill>
              <a:srgbClr val="0065B2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85800" y="3331525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붙이는 구역 0.4–1.2m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660709"/>
            <a:ext cx="347472" cy="347472"/>
          </a:xfrm>
          <a:prstGeom prst="triangle">
            <a:avLst/>
          </a:prstGeom>
          <a:solidFill>
            <a:srgbClr val="FFDF00"/>
          </a:solidFill>
          <a:ln/>
        </p:spPr>
      </p:sp>
      <p:sp>
        <p:nvSpPr>
          <p:cNvPr id="11" name="Shape 8"/>
          <p:cNvSpPr/>
          <p:nvPr/>
        </p:nvSpPr>
        <p:spPr>
          <a:xfrm>
            <a:off x="1645920" y="3660709"/>
            <a:ext cx="347472" cy="347472"/>
          </a:xfrm>
          <a:prstGeom prst="ellipse">
            <a:avLst/>
          </a:prstGeom>
          <a:solidFill>
            <a:srgbClr val="ED92B9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3660709"/>
            <a:ext cx="347472" cy="347472"/>
          </a:xfrm>
          <a:prstGeom prst="roundRect">
            <a:avLst/>
          </a:prstGeom>
          <a:solidFill>
            <a:srgbClr val="62B5E5"/>
          </a:solidFill>
          <a:ln/>
        </p:spPr>
      </p:sp>
      <p:sp>
        <p:nvSpPr>
          <p:cNvPr id="13" name="Shape 10"/>
          <p:cNvSpPr/>
          <p:nvPr/>
        </p:nvSpPr>
        <p:spPr>
          <a:xfrm>
            <a:off x="2926080" y="3660709"/>
            <a:ext cx="347472" cy="347472"/>
          </a:xfrm>
          <a:prstGeom prst="triangle">
            <a:avLst/>
          </a:prstGeom>
          <a:solidFill>
            <a:srgbClr val="00913B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3660709"/>
            <a:ext cx="347472" cy="347472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4059022"/>
            <a:ext cx="3584448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16875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WALL 1 · 메인 벽 (6m)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92040" y="2103120"/>
            <a:ext cx="2267712" cy="1955902"/>
          </a:xfrm>
          <a:prstGeom prst="rect">
            <a:avLst/>
          </a:prstGeom>
          <a:solidFill>
            <a:srgbClr val="F6F6F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103120"/>
            <a:ext cx="2267712" cy="1075746"/>
          </a:xfrm>
          <a:prstGeom prst="rect">
            <a:avLst/>
          </a:prstGeom>
          <a:solidFill>
            <a:srgbClr val="FF8000">
              <a:alpha val="20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29200" y="2212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8000"/>
                </a:solidFill>
              </a:rPr>
              <a:t>보는 영역 · 공간 인상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92040" y="3276661"/>
            <a:ext cx="2267712" cy="645448"/>
          </a:xfrm>
          <a:prstGeom prst="rect">
            <a:avLst/>
          </a:prstGeom>
          <a:solidFill>
            <a:srgbClr val="FF8000">
              <a:alpha val="40000"/>
            </a:srgbClr>
          </a:solidFill>
          <a:ln w="19050">
            <a:solidFill>
              <a:srgbClr val="FF8000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5029200" y="3331525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붙이는 구역 0.4–1.2m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49240" y="3660709"/>
            <a:ext cx="347472" cy="347472"/>
          </a:xfrm>
          <a:prstGeom prst="triangle">
            <a:avLst/>
          </a:prstGeom>
          <a:solidFill>
            <a:srgbClr val="FFDF00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3660709"/>
            <a:ext cx="347472" cy="347472"/>
          </a:xfrm>
          <a:prstGeom prst="ellipse">
            <a:avLst/>
          </a:prstGeom>
          <a:solidFill>
            <a:srgbClr val="ED92B9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9400" y="3660709"/>
            <a:ext cx="347472" cy="347472"/>
          </a:xfrm>
          <a:prstGeom prst="roundRect">
            <a:avLst/>
          </a:prstGeom>
          <a:solidFill>
            <a:srgbClr val="62B5E5"/>
          </a:solidFill>
          <a:ln/>
        </p:spPr>
      </p:sp>
      <p:sp>
        <p:nvSpPr>
          <p:cNvPr id="25" name="Shape 22"/>
          <p:cNvSpPr/>
          <p:nvPr/>
        </p:nvSpPr>
        <p:spPr>
          <a:xfrm>
            <a:off x="4800600" y="4059022"/>
            <a:ext cx="2450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4059022"/>
            <a:ext cx="2267712" cy="320040"/>
          </a:xfrm>
          <a:prstGeom prst="rect">
            <a:avLst/>
          </a:prstGeom>
          <a:solidFill>
            <a:srgbClr val="00913B">
              <a:alpha val="45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29200" y="410474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바닥 투사가 벽 아래로 이어짐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892040" y="447050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WALL 2 · 바닥 연계 벽 (4m)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80960" y="210312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F6F6F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90956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높이 기준(가정)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65176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붙이는 구역 약 0.4–1.2m: 2–5세가 서서 손이 닿는 범위로 잡은 가정값, 현장 측정 필요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위쪽 영상 영역은 만지지 않아도 즐길 수 있는 장면(공간 인상)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벽 높이 3m는 예시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Wall 2는 바닥 투사와 맞붙여 바닥 → 벽 이동을 끊김 없이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Wall 1 | 도형을 붙이면 벽이 살아남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공간 전체의 첫인상이자 메인 인터랙티브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6583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6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WALL 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0065B2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5B2"/>
                </a:solidFill>
              </a:rPr>
              <a:t>한 줄 콘셉트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동그라미 · 세모 · 네모 · 막대를 붙이면, 벽 속 작은 존재들이 그 도형을 쓰고, 짝이 맞으면 생명이 태어남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참고</a:t>
            </a:r>
            <a:endParaRPr lang="en-US" sz="1200" dirty="0"/>
          </a:p>
        </p:txBody>
      </p:sp>
      <p:sp>
        <p:nvSpPr>
          <p:cNvPr id="10" name="Text 7">
            <a:hlinkClick r:id="rId1" tooltip=""/>
          </p:cNvPr>
          <p:cNvSpPr txBox="1"/>
          <p:nvPr/>
        </p:nvSpPr>
        <p:spPr>
          <a:xfrm>
            <a:off x="77724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0065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teamLab · Little People 음악 벽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63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붙인 모양에 따라 작은 사람들이 반응. 이전 아이데이션 D안 “모양이 생명이 되는 벽”과 연결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965960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57800" y="20574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붙이는 것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0391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자석 도형 블록 4–5종(동그라미 · 세모 · 네모 · 막대 · 반원). 큰 크기, 모서리 둥글게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0" y="2816352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29077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즉시 반응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288950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붙이는 순간 도형이 빛나고 소리. 작은 존재들이 모여 올라타고 · 미끄러지고 · 숨음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3666744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57800" y="37581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조합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98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세모 + 세모 = 나비, 동그라미 + 막대 = 꽃 등 짝이 맞으면 생명이 되어 벽 밖으로 퍼짐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0" y="4517136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57800" y="46085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공간 인상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59028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위쪽 영상 영역은 생명이 늘수록 계절 · 색이 바뀜. 만지지 않는 아이도 볼거리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0" y="5367528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57800" y="54589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5B2"/>
                </a:solidFill>
              </a:rPr>
              <a:t>여럿이 함께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44068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동시에 여러 도형 인식. 같은 모양을 여럿이 붙이면 큰 장면(무리 비행 등)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Wall 2 | 바닥에서 키우고, 벽에서 요리하고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바닥 연계 + 붙이는 인터랙티브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6583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F8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WALL 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F8000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</a:rPr>
              <a:t>한 줄 콘셉트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바닥에서 키운 채소 · 꽃이 털 보송한 친구가 되어 벽으로 올라오고, 벽에 붙인 그릇 블록에 모여 요리함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참고 프로토타입</a:t>
            </a:r>
            <a:endParaRPr lang="en-US" sz="1200" dirty="0"/>
          </a:p>
        </p:txBody>
      </p:sp>
      <p:sp>
        <p:nvSpPr>
          <p:cNvPr id="10" name="Text 7">
            <a:hlinkClick r:id="rId1" tooltip=""/>
          </p:cNvPr>
          <p:cNvSpPr txBox="1"/>
          <p:nvPr/>
        </p:nvSpPr>
        <p:spPr>
          <a:xfrm>
            <a:off x="777240" y="4315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0065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Botanic Kitchen v4 · 작은 정원 요리사들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965960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20574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바닥 → 벽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0391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꼼지락 존에서 다 자란 식물을 누르면 톡 뽑혀 벽 쪽으로 달려가 벽 아래에서 등장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2816352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9077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붙이는 것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88950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컵 · 케이크 · 수프 그릇 · 병 모양 블록 4종(동그란 블록 없음)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3666744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7800" y="37581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요리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37398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친구들이 블록 선반에 뛰어올라 요리. 어떤 재료든 어떤 그릇에서도 실패 없이 완성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4517136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46085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남는 것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459028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완성 요리가 벽 위 ‘오늘의 메뉴’ 선반에 쌓임. 두 요리가 함께 완성되면 깜짝 장면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0" y="5367528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589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000"/>
                </a:solidFill>
              </a:rPr>
              <a:t>Wall 1과 연결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544068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Wall 1에서 태어난 나비 · 벌이 Wall 2 정원으로 날아와 꽃가루를 옮김(제안)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Floor | 오래 머무는 꼼지락 존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바닥 또는 낮은 테이블 · 단순하고 즉각적인 반응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966960" y="6583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FLOOR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00913B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13B"/>
                </a:solidFill>
              </a:rPr>
              <a:t>한 줄 콘셉트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손으로 만지고, 옮기고, 쌓을 때마다 바로 작은 변화가 생기는 정원 바닥. 끝이 없고 실패가 없음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</a:rPr>
              <a:t>참고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31596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Funky Forest · Connected Worlds(바닥 물체로 흐름 바꾸기), Imagination Playground(영유아 폼 블록), Light Ball Orchestra(물체 자체가 빛 · 소리)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965960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57800" y="20574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형태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0391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A 바닥 매트(앉거나 엎드려서) · B 낮은 테이블(서서 · 앉아서). 둘 다 두는 안 가능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2816352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90779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만지는 것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88950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큰 소프트 블록 · 촉감 패드(보송 · 말랑 · 오돌토돌). 들고 옮기기 쉬운 크기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3666744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57800" y="37581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반응 규칙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37398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놓으면 싹이 남, 쓰다듬으면 물결 · 소리, 쌓으면 그만큼 키가 자람. 한 가지 행동 = 한 가지 반응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4517136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46085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오래 머물기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459028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반복해도 매번 조금씩 다른 반응, 천천히 자라는 정원, 보호자 앉을 자리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0" y="5367528"/>
            <a:ext cx="65836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589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3B"/>
                </a:solidFill>
              </a:rPr>
              <a:t>Wall 2 연결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544068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다 자란 식물은 벽 쪽으로 보낼 수 있음(보내지 않아도 바닥 놀이로 완결)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체험 흐름 | 세 영역이 하나의 정원 이야기로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어디서 시작해도 되지만, 이어지면 더 커지는 구조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51560" y="2103120"/>
            <a:ext cx="1005840" cy="10058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입장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정면 Wall 1의 큰 장면이 첫인상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14600" y="246888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2103120"/>
            <a:ext cx="1005840" cy="1005840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37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Floor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앉아서 만지고 쌓기 · 싹이 남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246888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15" name="Shape 12"/>
          <p:cNvSpPr/>
          <p:nvPr/>
        </p:nvSpPr>
        <p:spPr>
          <a:xfrm>
            <a:off x="5623560" y="2103120"/>
            <a:ext cx="1005840" cy="1005840"/>
          </a:xfrm>
          <a:prstGeom prst="ellipse">
            <a:avLst/>
          </a:prstGeom>
          <a:solidFill>
            <a:srgbClr val="FF8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623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Wall 2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키운 친구가 벽으로 · 그릇 블록에 모여 요리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086600" y="246888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20" name="Shape 17"/>
          <p:cNvSpPr/>
          <p:nvPr/>
        </p:nvSpPr>
        <p:spPr>
          <a:xfrm>
            <a:off x="7909560" y="2103120"/>
            <a:ext cx="1005840" cy="1005840"/>
          </a:xfrm>
          <a:prstGeom prst="ellipse">
            <a:avLst/>
          </a:prstGeom>
          <a:solidFill>
            <a:srgbClr val="0065B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9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Wall 1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도형 붙이기 · 짝 맞추면 생명 탄생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372600" y="2468880"/>
            <a:ext cx="182880" cy="274320"/>
          </a:xfrm>
          <a:prstGeom prst="chevron">
            <a:avLst/>
          </a:prstGeom>
          <a:solidFill>
            <a:srgbClr val="D6D6D6"/>
          </a:solidFill>
          <a:ln/>
        </p:spPr>
      </p:sp>
      <p:sp>
        <p:nvSpPr>
          <p:cNvPr id="25" name="Shape 22"/>
          <p:cNvSpPr/>
          <p:nvPr/>
        </p:nvSpPr>
        <p:spPr>
          <a:xfrm>
            <a:off x="10195560" y="2103120"/>
            <a:ext cx="1005840" cy="1005840"/>
          </a:xfrm>
          <a:prstGeom prst="ellipse">
            <a:avLst/>
          </a:prstGeom>
          <a:solidFill>
            <a:srgbClr val="00913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19556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96926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순환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6926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Wall 1의 생명이 Wall 2 · Floor 정원으로 돌아옴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6F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공통 세계관(제안)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세 영역 모두 ‘작은 정원’ 하나를 공유합니다. 같은 캐릭터 · 색 · 소리 규칙을 써서, 아이가 어느 영역에 있어도 같은 세계로 느끼게 합니다. 영역마다 테마를 따로 정하면 공간 인상이 흩어질 수 있습니다.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결정이 필요한 것 | 5가지 중 하나씩 선택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초록 테두리는 이 문서의 제안안 · 회의에서 □에 체크해 결정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29968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9842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Wall 1 테마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71800" y="187452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212140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47288" y="19476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도형 → 생명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47288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짝 맞추면 나비 · 꽃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102352" y="1965960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97880" y="187452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12140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1947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작은 존재 놀이터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도형 위에서 놀기만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823960" y="187452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0" y="212140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99448" y="1947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소리 정원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299448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도형마다 악기 소리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28529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Wall 2 블록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971800" y="274320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99008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47288" y="2816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그릇 4종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447288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컵 · 케이크 · 수프 · 병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102352" y="2834640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제안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897880" y="274320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299008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73368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도형(Wall 1과 같게)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73368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블록 통일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823960" y="274320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961120" y="299008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99448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자연물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99448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잎 · 돌 · 물방울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" y="3721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Floor 형태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971800" y="361188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108960" y="385876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47288" y="3685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바닥 매트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3447288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앉고 엎드려 놀기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897880" y="361188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035040" y="385876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73368" y="3685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낮은 테이블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373368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서서 · 앉아서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823960" y="361188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61120" y="385876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299448" y="36850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매트 + 테이블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9299448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연령별로 나눔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954512" y="3703320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제안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1143000" y="45902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바닥 반응 방식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2971800" y="448056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108960" y="472744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47288" y="45537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바닥 투사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3447288" y="4882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천장 프로젝터 + 센서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102352" y="4572000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제안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897880" y="448056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035040" y="472744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373368" y="4553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블록 자체 반응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6373368" y="4882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LED · 소리 내장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8823960" y="448056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961120" y="472744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299448" y="4553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투사 + 반응 블록</a:t>
            </a:r>
            <a:endParaRPr lang="en-US" sz="1300" dirty="0"/>
          </a:p>
        </p:txBody>
      </p:sp>
      <p:sp>
        <p:nvSpPr>
          <p:cNvPr id="64" name="Text 61"/>
          <p:cNvSpPr txBox="1"/>
          <p:nvPr/>
        </p:nvSpPr>
        <p:spPr>
          <a:xfrm>
            <a:off x="9299448" y="4882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둘을 함께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rgbClr val="E41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⑤</a:t>
            </a:r>
            <a:endParaRPr lang="en-US" sz="1800" dirty="0"/>
          </a:p>
        </p:txBody>
      </p:sp>
      <p:sp>
        <p:nvSpPr>
          <p:cNvPr id="66" name="Text 63"/>
          <p:cNvSpPr txBox="1"/>
          <p:nvPr/>
        </p:nvSpPr>
        <p:spPr>
          <a:xfrm>
            <a:off x="1143000" y="54589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벽 블록 인식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2971800" y="534924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108960" y="559612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3447288" y="5422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자석 위치 센서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3447288" y="5751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벽 안쪽 감지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897880" y="534924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25400">
            <a:solidFill>
              <a:srgbClr val="00913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035040" y="559612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3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373368" y="54223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마커 + 카메라</a:t>
            </a:r>
            <a:endParaRPr lang="en-US" sz="1300" dirty="0"/>
          </a:p>
        </p:txBody>
      </p:sp>
      <p:sp>
        <p:nvSpPr>
          <p:cNvPr id="74" name="Text 71"/>
          <p:cNvSpPr txBox="1"/>
          <p:nvPr/>
        </p:nvSpPr>
        <p:spPr>
          <a:xfrm>
            <a:off x="6373368" y="5751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블록 뒷면 표식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8028432" y="5440680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09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제안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8823960" y="5349240"/>
            <a:ext cx="278892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961120" y="5596128"/>
            <a:ext cx="237744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9299448" y="5422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카메라 실루엣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9299448" y="5751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모양으로 인식</a:t>
            </a:r>
            <a:endParaRPr lang="en-US" sz="110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다음 단계 | 확인할 것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307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수치는 모두 가정이며 현장 · 하드웨어 검토로 정해야 함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5B2"/>
                </a:solidFill>
              </a:rPr>
              <a:t>공간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실제 공간 크기 · 천장 높이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입구 위치 · 동선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벽 재질(자석 부착 가능 여부)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55848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84448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000"/>
                </a:solidFill>
              </a:rPr>
              <a:t>하드웨어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584448" y="2651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벽 · 바닥 프로젝터 수와 위치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벽 블록 인식 방식 실증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아이 몸이 블록을 가릴 때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63056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165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913B"/>
                </a:solidFill>
              </a:rPr>
              <a:t>운영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391656" y="2651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동시 수용 인원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블록 분실 · 위생 관리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보호자 동반 기준(2세)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70264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98864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5B2"/>
                </a:solidFill>
              </a:rPr>
              <a:t>콘텐츠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9198864" y="2651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공통 캐릭터 · 세계관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소리 크기 · 쉼 장면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</a:rPr>
              <a:t>Wall 1 ↔ Wall 2 연결 연출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관련 자료: BLOCK 존 아이데이션 · 바닥 블록 레퍼런스 · Botanic Kitchen v4 (claude.ai 페이지)</a:t>
            </a:r>
            <a:endParaRPr lang="en-US" sz="12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A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ck Zone">
  <a:themeElements>
    <a:clrScheme name="Block Zone">
      <a:dk1>
        <a:srgbClr val="111111"/>
      </a:dk1>
      <a:lt1>
        <a:srgbClr val="FFFFFF"/>
      </a:lt1>
      <a:dk2>
        <a:srgbClr val="353535"/>
      </a:dk2>
      <a:lt2>
        <a:srgbClr val="F6F6F4"/>
      </a:lt2>
      <a:accent1>
        <a:srgbClr val="0065B2"/>
      </a:accent1>
      <a:accent2>
        <a:srgbClr val="FFDF00"/>
      </a:accent2>
      <a:accent3>
        <a:srgbClr val="00913B"/>
      </a:accent3>
      <a:accent4>
        <a:srgbClr val="FF8000"/>
      </a:accent4>
      <a:accent5>
        <a:srgbClr val="ED92B9"/>
      </a:accent5>
      <a:accent6>
        <a:srgbClr val="62B5E5"/>
      </a:accent6>
      <a:hlink>
        <a:srgbClr val="0065B2"/>
      </a:hlink>
      <a:folHlink>
        <a:srgbClr val="353535"/>
      </a:folHlink>
    </a:clrScheme>
    <a:fontScheme name="Block Zon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ZONE 공간 계획</dc:title>
  <dc:subject>PptxGenJS Presentation</dc:subject>
  <dc:creator>PptxGenJS</dc:creator>
  <cp:lastModifiedBy>PptxGenJS</cp:lastModifiedBy>
  <cp:revision>1</cp:revision>
  <dcterms:created xsi:type="dcterms:W3CDTF">2026-10-19T09:03:27Z</dcterms:created>
  <dcterms:modified xsi:type="dcterms:W3CDTF">2026-10-19T09:03:27Z</dcterms:modified>
</cp:coreProperties>
</file>