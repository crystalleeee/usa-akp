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3" r:id="rId1"/>
  </p:sldMasterIdLst>
  <p:notesMasterIdLst>
    <p:notesMasterId r:id="rId6"/>
  </p:notesMasterIdLst>
  <p:sldIdLst>
    <p:sldId id="4399" r:id="rId15"/>
  </p:sldIdLst>
  <p:sldSz cx="12192000" cy="6858000"/>
  <p:notesSz cx="6858000" cy="9144000"/>
  <p:embeddedFontLst>
    <p:embeddedFont>
      <p:font typeface="LINE Seed Sans KR Bold" panose="020B0603020203020204" pitchFamily="34" charset="-127"/>
      <p:bold r:id="rId7"/>
    </p:embeddedFont>
    <p:embeddedFont>
      <p:font typeface="LINE Seed Sans KR Regular" panose="020B0603020203020204" pitchFamily="34" charset="-127"/>
      <p:regular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616" userDrawn="1">
          <p15:clr>
            <a:srgbClr val="A4A3A4"/>
          </p15:clr>
        </p15:guide>
        <p15:guide id="12" pos="721" userDrawn="1">
          <p15:clr>
            <a:srgbClr val="A4A3A4"/>
          </p15:clr>
        </p15:guide>
        <p15:guide id="13" pos="6947" userDrawn="1">
          <p15:clr>
            <a:srgbClr val="A4A3A4"/>
          </p15:clr>
        </p15:guide>
        <p15:guide id="16" orient="horz" pos="1139" userDrawn="1">
          <p15:clr>
            <a:srgbClr val="A4A3A4"/>
          </p15:clr>
        </p15:guide>
        <p15:guide id="18" pos="2525" userDrawn="1">
          <p15:clr>
            <a:srgbClr val="A4A3A4"/>
          </p15:clr>
        </p15:guide>
        <p15:guide id="19" orient="horz" pos="20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300"/>
    <a:srgbClr val="0065B2"/>
    <a:srgbClr val="EF560C"/>
    <a:srgbClr val="FBAE40"/>
    <a:srgbClr val="FBFBFB"/>
    <a:srgbClr val="6B7280"/>
    <a:srgbClr val="2F7BEA"/>
    <a:srgbClr val="00AA00"/>
    <a:srgbClr val="FF3300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88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900" y="102"/>
      </p:cViewPr>
      <p:guideLst>
        <p:guide orient="horz" pos="4065"/>
        <p:guide orient="horz" pos="346"/>
        <p:guide orient="horz" pos="1616"/>
        <p:guide pos="721"/>
        <p:guide pos="6947"/>
        <p:guide orient="horz" pos="1139"/>
        <p:guide pos="2525"/>
        <p:guide orient="horz" pos="200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7848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445B9C-CEC5-46C5-8236-4C42941CDC25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EBA-5D8A-4E8B-9829-3F57D0661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10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958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332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세로 제목 및 텍스트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4581889-1FD5-D8BB-64FC-69FE199E98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41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EF4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7610A44-286A-998E-A774-C0D6A5AFA7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37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rgbClr val="FFAF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B9D3AA9-9B5D-D633-8A12-44FCD40414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44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rgbClr val="005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E441782-31E0-5203-0CD2-AF7B49419F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28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7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9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사용자 지정 레이아웃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0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735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38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7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95" r:id="rId2"/>
    <p:sldLayoutId id="2147483679" r:id="rId3"/>
    <p:sldLayoutId id="2147483660" r:id="rId4"/>
    <p:sldLayoutId id="2147483663" r:id="rId5"/>
    <p:sldLayoutId id="2147483664" r:id="rId6"/>
    <p:sldLayoutId id="2147483666" r:id="rId7"/>
    <p:sldLayoutId id="2147483701" r:id="rId8"/>
    <p:sldLayoutId id="2147483682" r:id="rId9"/>
    <p:sldLayoutId id="2147483698" r:id="rId10"/>
    <p:sldLayoutId id="2147483700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pinnaclepres.org/the-role-of-the-atelierista" TargetMode="External"/><Relationship Id="rId3" Type="http://schemas.openxmlformats.org/officeDocument/2006/relationships/hyperlink" Target="https://scanmagazine.co.uk/lego-house-housing-creativity/" TargetMode="External"/><Relationship Id="rId4" Type="http://schemas.openxmlformats.org/officeDocument/2006/relationships/hyperlink" Target="https://www.mcny.org/mcny-kids-art-studio" TargetMode="External"/><Relationship Id="rId5" Type="http://schemas.openxmlformats.org/officeDocument/2006/relationships/hyperlink" Target="https://www.commonsense.org/education/app/artsonia-kids-art-museum" TargetMode="External"/><Relationship Id="rId6" Type="http://schemas.openxmlformats.org/officeDocument/2006/relationships/hyperlink" Target="https://www.ecfr.gov/current/title-16/chapter-I/subchapter-C/part-312" TargetMode="External"/><Relationship Id="rId7" Type="http://schemas.openxmlformats.org/officeDocument/2006/relationships/hyperlink" Target="https://grahammann.net/book-notes/flow-mihaly-csikszentmihalyi" TargetMode="External"/><Relationship Id="rId8" Type="http://schemas.openxmlformats.org/officeDocument/2006/relationships/hyperlink" Target="https://ideas.repec.org/a/oup/jconrs/v37y2010i3p409-425.html" TargetMode="Externa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5" name="TextBox 194">
            <a:extLst>
              <a:ext uri="{FF2B5EF4-FFF2-40B4-BE49-F238E27FC236}">
                <a16:creationId xmlns:a16="http://schemas.microsoft.com/office/drawing/2014/main" id="{9F7143B7-4B0E-94D9-5D63-906AAFB0BFE2}"/>
              </a:ext>
            </a:extLst>
          </p:cNvPr>
          <p:cNvSpPr txBox="1"/>
          <p:nvPr/>
        </p:nvSpPr>
        <p:spPr>
          <a:xfrm>
            <a:off x="1134220" y="508796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experience zone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0E1D8AE-FEE1-0621-3A3E-2634DF07B78E}"/>
              </a:ext>
            </a:extLst>
          </p:cNvPr>
          <p:cNvSpPr txBox="1"/>
          <p:nvPr/>
        </p:nvSpPr>
        <p:spPr>
          <a:xfrm>
            <a:off x="1045371" y="1134429"/>
            <a:ext cx="6400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000000"/>
                </a:solidFill>
                <a:latin typeface="LINE Seed Sans KR Bold" pitchFamily="34" charset="0"/>
                <a:ea typeface="LINE Seed Sans KR Bold" pitchFamily="34" charset="-122"/>
                <a:cs typeface="LINE Seed Sans KR Bold" pitchFamily="34" charset="-120"/>
              </a:rPr>
              <a:t>Immersion Design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0DCA4294-5BE4-7705-0422-06501C6DC913}"/>
              </a:ext>
            </a:extLst>
          </p:cNvPr>
          <p:cNvSpPr txBox="1"/>
          <p:nvPr/>
        </p:nvSpPr>
        <p:spPr>
          <a:xfrm>
            <a:off x="1047752" y="1704914"/>
            <a:ext cx="9601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몰입을 만드는 환경</a:t>
            </a:r>
            <a:r>
              <a:rPr lang="ko-KR" altLang="en-US" sz="1200" dirty="0">
                <a:latin typeface="+mj-ea"/>
                <a:ea typeface="+mj-ea"/>
              </a:rPr>
              <a:t>과 </a:t>
            </a:r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작품이 남는 구조</a:t>
            </a:r>
            <a:r>
              <a:rPr lang="ko-KR" altLang="en-US" sz="1200" dirty="0">
                <a:latin typeface="+mj-ea"/>
                <a:ea typeface="+mj-ea"/>
              </a:rPr>
              <a:t>(제안 · 현장 시험으로 확인 필요)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22960" y="2103120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Immersion Design</a:t>
            </a:r>
            <a:r>
              <a:rPr sz="9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   몰입을 만드는 환경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22960" y="2395727"/>
            <a:ext cx="525780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32688" y="2578608"/>
            <a:ext cx="457200" cy="457200"/>
          </a:xfrm>
          <a:prstGeom prst="ellipse">
            <a:avLst/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32688" y="25786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01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554480" y="248716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끝을 정하지 않기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554480" y="2761487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정답과 완성 기준 없이 원하는 만큼 확장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" y="299923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시험에서 볼 것  </a:t>
            </a:r>
            <a:r>
              <a:rPr sz="7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몰입 시간 · 중간에 자리를 뜬 횟수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22960" y="3328415"/>
            <a:ext cx="525780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32688" y="3511296"/>
            <a:ext cx="457200" cy="457200"/>
          </a:xfrm>
          <a:prstGeom prst="ellipse">
            <a:avLst/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32688" y="35112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02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554480" y="3419856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재료는 단순하게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554480" y="369417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선택지를 과도하게 늘리지 않아 창작에 집중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" y="393192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시험에서 볼 것  </a:t>
            </a:r>
            <a:r>
              <a:rPr sz="7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재료 고르는 시간 · 포기율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822960" y="4261104"/>
            <a:ext cx="525780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32688" y="4443984"/>
            <a:ext cx="457200" cy="457200"/>
          </a:xfrm>
          <a:prstGeom prst="ellipse">
            <a:avLst/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32688" y="44439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03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554480" y="4352544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기다림 줄이기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554480" y="4626864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바로 시작하고 이어서 만들 수 있는 운영 구조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554480" y="4864608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시험에서 볼 것  </a:t>
            </a:r>
            <a:r>
              <a:rPr sz="7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입장 · 변환 대기 시간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22960" y="5193792"/>
            <a:ext cx="525780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32688" y="5376672"/>
            <a:ext cx="457200" cy="457200"/>
          </a:xfrm>
          <a:prstGeom prst="ellipse">
            <a:avLst/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32688" y="53766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04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554480" y="5285231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시선 · 소리 분리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554480" y="555955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주변 자극을 줄여 작업에 머무는 환경 조성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554480" y="5797296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7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시험에서 볼 것  </a:t>
            </a:r>
            <a:r>
              <a:rPr sz="7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자리 이탈 · 작업 중단 횟수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263640" y="2103120"/>
            <a:ext cx="5074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Archive Design</a:t>
            </a:r>
            <a:r>
              <a:rPr sz="9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   작품이 되는 4단계 · 근거 사례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6263640" y="2395727"/>
            <a:ext cx="50749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355079" y="2487168"/>
            <a:ext cx="320040" cy="320040"/>
          </a:xfrm>
          <a:prstGeom prst="ellipse">
            <a:avLst/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79" y="2487168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766559" y="2441447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만든다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001000" y="2432303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8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자유 창작, 만드는 장면도 사진으로 남김</a:t>
            </a:r>
          </a:p>
          <a:p>
            <a:pPr>
              <a:spcAft>
                <a:spcPts val="100"/>
              </a:spcAft>
            </a:pPr>
            <a:r>
              <a:rPr sz="7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Reggio: 사진 · 아이의 말 · 작품으로 과정을 기록  </a:t>
            </a:r>
            <a:r>
              <a:rPr sz="7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2"/>
              </a:rPr>
              <a:t>Pinnacle Presbyterian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6263640" y="2962656"/>
            <a:ext cx="50749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6355079" y="3054096"/>
            <a:ext cx="320040" cy="320040"/>
          </a:xfrm>
          <a:prstGeom prst="ellipse">
            <a:avLst/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355079" y="3054096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766559" y="3008375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작품이 된다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001000" y="299923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8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작품 카드(번호 · QR · 날짜 · 재료)</a:t>
            </a:r>
          </a:p>
          <a:p>
            <a:pPr>
              <a:spcAft>
                <a:spcPts val="100"/>
              </a:spcAft>
            </a:pPr>
            <a:r>
              <a:rPr sz="7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LEGO House: 입장 때 받은 손목밴드에 창작물 기록  </a:t>
            </a:r>
            <a:r>
              <a:rPr sz="7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3"/>
              </a:rPr>
              <a:t>SCAN Magazine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6263640" y="3529583"/>
            <a:ext cx="50749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6355079" y="3621023"/>
            <a:ext cx="320040" cy="320040"/>
          </a:xfrm>
          <a:prstGeom prst="ellipse">
            <a:avLst/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355079" y="3621023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3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766559" y="3575303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전시 · 선택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001000" y="35661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8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실물은 선반, 디지털은 월. 가져가기 / 두고 가기를 아이가 선택</a:t>
            </a:r>
          </a:p>
          <a:p>
            <a:pPr>
              <a:spcAft>
                <a:spcPts val="100"/>
              </a:spcAft>
            </a:pPr>
            <a:r>
              <a:rPr sz="7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MCNY: 가져가거나 두고 가서 다른 방문자에게 전시  </a:t>
            </a:r>
            <a:r>
              <a:rPr sz="7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4"/>
              </a:rPr>
              <a:t>MCNY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6263640" y="4096511"/>
            <a:ext cx="50749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6355079" y="4187951"/>
            <a:ext cx="320040" cy="320040"/>
          </a:xfrm>
          <a:prstGeom prst="ellipse">
            <a:avLst/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355079" y="418795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6766559" y="4142231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다시 만난다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8001000" y="4133087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78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QR로 기록 확인, 다음 방문에 이어 만들기</a:t>
            </a:r>
          </a:p>
          <a:p>
            <a:pPr>
              <a:spcAft>
                <a:spcPts val="100"/>
              </a:spcAft>
            </a:pPr>
            <a:r>
              <a:rPr sz="7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Artsonia: 작품이 쌓이는 온라인 아카이브, 가족이 보고 댓글  </a:t>
            </a:r>
            <a:r>
              <a:rPr sz="7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5"/>
              </a:rPr>
              <a:t>Common Sense Education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6263640" y="4663440"/>
            <a:ext cx="5074920" cy="566928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373368" y="4709159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E41E2E"/>
                </a:solidFill>
                <a:latin typeface="LINE Seed Sans KR Bold"/>
                <a:ea typeface="LINE Seed Sans KR Bold"/>
                <a:cs typeface="LINE Seed Sans KR Bold"/>
              </a:rPr>
              <a:t>＋ 보관 전 동의 </a:t>
            </a:r>
          </a:p>
          <a:p>
            <a:pPr>
              <a:spcAft>
                <a:spcPts val="100"/>
              </a:spcAft>
            </a:pPr>
            <a:r>
              <a:rPr sz="7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미국은 13세 미만 아이의 사진 · 영상 수집에 부모 동의가 필요할 수 있음(COPPA). 현행 조문과 적용 범위는 법무 확인 필요  </a:t>
            </a:r>
            <a:r>
              <a:rPr sz="75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6"/>
              </a:rPr>
              <a:t>16 CFR 312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263640" y="53035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3겹의 보관</a:t>
            </a:r>
            <a:r>
              <a:rPr sz="7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   제안 구조(근거 사례 없음)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6263640" y="5550408"/>
            <a:ext cx="1618487" cy="475488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336792" y="557784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8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1겹 · 오늘의 월</a:t>
            </a:r>
          </a:p>
          <a:p>
            <a:pPr>
              <a:spcAft>
                <a:spcPts val="100"/>
              </a:spcAft>
            </a:pPr>
            <a:r>
              <a:rPr sz="73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공동 화면, 하루 한 장 저장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7955279" y="5550408"/>
            <a:ext cx="1618487" cy="475488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8028431" y="557784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8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2겹 · 내 도감</a:t>
            </a:r>
          </a:p>
          <a:p>
            <a:pPr>
              <a:spcAft>
                <a:spcPts val="100"/>
              </a:spcAft>
            </a:pPr>
            <a:r>
              <a:rPr sz="73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개인, QR 카드로 모임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9646919" y="5550408"/>
            <a:ext cx="1618487" cy="475488"/>
          </a:xfrm>
          <a:prstGeom prst="roundRect">
            <a:avLst>
              <a:gd name="adj" fmla="val 5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9720072" y="557784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100"/>
              </a:spcAft>
            </a:pPr>
            <a:r>
              <a:rPr sz="8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3겹 · 시즌 컬렉션</a:t>
            </a:r>
          </a:p>
          <a:p>
            <a:pPr>
              <a:spcAft>
                <a:spcPts val="100"/>
              </a:spcAft>
            </a:pPr>
            <a:r>
              <a:rPr sz="73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공동, 대형 전시 · 파사드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E41E2E"/>
                </a:solidFill>
                <a:latin typeface="LINE Seed Sans KR Bold"/>
                <a:ea typeface="LINE Seed Sans KR Bold"/>
                <a:cs typeface="LINE Seed Sans KR Bold"/>
              </a:rPr>
              <a:t>근거 메모  </a:t>
            </a:r>
            <a:r>
              <a:rPr sz="78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Immersion Design 4가지는 설계 원칙(제안)입니다. 아이 대상 근거는 찾지 못했고, 몰입의 조건(명확한 목표 · 즉각 피드백 · 도전과 실력의 균형)은 </a:t>
            </a:r>
            <a:r>
              <a:rPr sz="78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7"/>
              </a:rPr>
              <a:t>2차 요약</a:t>
            </a:r>
            <a:r>
              <a:rPr sz="78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, 선택지 과다의 효과는 </a:t>
            </a:r>
            <a:r>
              <a:rPr sz="78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8"/>
              </a:rPr>
              <a:t>메타분석에서 평균 거의 0</a:t>
            </a:r>
            <a:r>
              <a:rPr sz="78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으로 엇갈려 현장 시험으로 확인이 필요합니다.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te">
      <a:majorFont>
        <a:latin typeface="LINE Seed Sans KR Regular"/>
        <a:ea typeface="LINE Seed Sans KR Regular"/>
        <a:cs typeface=""/>
      </a:majorFont>
      <a:minorFont>
        <a:latin typeface="LINE Seed Sans KR Regular"/>
        <a:ea typeface="LINE Seed Sans KR Thin"/>
        <a:cs typeface="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7F9B17B8-1924-4988-A0C4-97074C3EFB85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18e273cb-12ab-4a62-8d7a-98d5d1316c4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521ED2F-E1D9-433D-AA47-6AC16B2DDA11}">
  <we:reference id="wa200005566" version="3.0.0.3" store="ko-KR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77396</TotalTime>
  <Words>1090</Words>
  <Application>Microsoft Office PowerPoint</Application>
  <PresentationFormat>와이드스크린</PresentationFormat>
  <Paragraphs>136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LINE Seed Sans KR Regular</vt:lpstr>
      <vt:lpstr>LINE Seed Sans KR Bold</vt:lpstr>
      <vt:lpstr>맑은 고딕</vt:lpstr>
      <vt:lpstr>Arial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한지연</dc:creator>
  <cp:lastModifiedBy>Su-jeong Lee (DSKR-이수정)</cp:lastModifiedBy>
  <cp:revision>992</cp:revision>
  <dcterms:created xsi:type="dcterms:W3CDTF">2022-05-06T02:30:22Z</dcterms:created>
  <dcterms:modified xsi:type="dcterms:W3CDTF">2026-10-23T08:26:22Z</dcterms:modified>
</cp:coreProperties>
</file>