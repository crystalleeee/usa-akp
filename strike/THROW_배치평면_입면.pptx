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THROW · 배치 평면</a:t>
            </a:r>
            <a:endParaRPr lang="en-US" sz="2400" dirty="0"/>
          </a:p>
        </p:txBody>
      </p:sp>
      <p:sp>
        <p:nvSpPr>
          <p:cNvPr id="3" name="subtitle_2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Arte Kids Park USA · W 5,000 × D 3,000 mm · 공 던지기 대결 (1 vs 1) · 개념안</a:t>
            </a:r>
            <a:endParaRPr lang="en-US" sz="1100" dirty="0"/>
          </a:p>
        </p:txBody>
      </p:sp>
      <p:sp>
        <p:nvSpPr>
          <p:cNvPr id="4" name="floor_3"/>
          <p:cNvSpPr/>
          <p:nvPr/>
        </p:nvSpPr>
        <p:spPr>
          <a:xfrm>
            <a:off x="1188720" y="1463040"/>
            <a:ext cx="5943600" cy="35661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" name="play_zone_P1_4"/>
          <p:cNvSpPr/>
          <p:nvPr/>
        </p:nvSpPr>
        <p:spPr>
          <a:xfrm>
            <a:off x="1188720" y="1463040"/>
            <a:ext cx="2971800" cy="2377440"/>
          </a:xfrm>
          <a:prstGeom prst="rect">
            <a:avLst/>
          </a:prstGeom>
          <a:solidFill>
            <a:srgbClr val="F5C400">
              <a:alpha val="12000"/>
            </a:srgbClr>
          </a:solidFill>
          <a:ln/>
        </p:spPr>
      </p:sp>
      <p:sp>
        <p:nvSpPr>
          <p:cNvPr id="6" name="play_zone_P2_5"/>
          <p:cNvSpPr/>
          <p:nvPr/>
        </p:nvSpPr>
        <p:spPr>
          <a:xfrm>
            <a:off x="4160520" y="1463040"/>
            <a:ext cx="2971800" cy="2377440"/>
          </a:xfrm>
          <a:prstGeom prst="rect">
            <a:avLst/>
          </a:prstGeom>
          <a:solidFill>
            <a:srgbClr val="2F7BEA">
              <a:alpha val="12000"/>
            </a:srgbClr>
          </a:solidFill>
          <a:ln/>
        </p:spPr>
      </p:sp>
      <p:sp>
        <p:nvSpPr>
          <p:cNvPr id="7" name="center_line_6"/>
          <p:cNvSpPr/>
          <p:nvPr/>
        </p:nvSpPr>
        <p:spPr>
          <a:xfrm>
            <a:off x="4160520" y="1629461"/>
            <a:ext cx="0" cy="3399739"/>
          </a:xfrm>
          <a:prstGeom prst="line">
            <a:avLst/>
          </a:prstGeom>
          <a:noFill/>
          <a:ln w="9525">
            <a:solidFill>
              <a:srgbClr val="D6DAE0"/>
            </a:solidFill>
            <a:prstDash val="sysDot"/>
          </a:ln>
        </p:spPr>
      </p:sp>
      <p:sp>
        <p:nvSpPr>
          <p:cNvPr id="8" name="video_wall_4x4_7"/>
          <p:cNvSpPr/>
          <p:nvPr/>
        </p:nvSpPr>
        <p:spPr>
          <a:xfrm>
            <a:off x="1275497" y="1463040"/>
            <a:ext cx="5770047" cy="112928"/>
          </a:xfrm>
          <a:prstGeom prst="rect">
            <a:avLst/>
          </a:prstGeom>
          <a:solidFill>
            <a:srgbClr val="353A40"/>
          </a:solidFill>
          <a:ln/>
        </p:spPr>
      </p:sp>
      <p:sp>
        <p:nvSpPr>
          <p:cNvPr id="9" name="protective_glazing_8"/>
          <p:cNvSpPr/>
          <p:nvPr/>
        </p:nvSpPr>
        <p:spPr>
          <a:xfrm>
            <a:off x="1260043" y="1575968"/>
            <a:ext cx="5800954" cy="47549"/>
          </a:xfrm>
          <a:prstGeom prst="rect">
            <a:avLst/>
          </a:prstGeom>
          <a:solidFill>
            <a:srgbClr val="5FB3D4"/>
          </a:solidFill>
          <a:ln/>
        </p:spPr>
      </p:sp>
      <p:sp>
        <p:nvSpPr>
          <p:cNvPr id="10" name="label_video_wall_9"/>
          <p:cNvSpPr txBox="1"/>
          <p:nvPr/>
        </p:nvSpPr>
        <p:spPr>
          <a:xfrm>
            <a:off x="2148840" y="11521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비디오월 4,854 (55″ × 4열) + 보호 글레이징</a:t>
            </a:r>
            <a:endParaRPr lang="en-US" sz="1000" dirty="0"/>
          </a:p>
        </p:txBody>
      </p:sp>
      <p:sp>
        <p:nvSpPr>
          <p:cNvPr id="11" name="wall_target_10"/>
          <p:cNvSpPr/>
          <p:nvPr/>
        </p:nvSpPr>
        <p:spPr>
          <a:xfrm>
            <a:off x="1188720" y="1463040"/>
            <a:ext cx="5943600" cy="0"/>
          </a:xfrm>
          <a:prstGeom prst="line">
            <a:avLst/>
          </a:prstGeom>
          <a:noFill/>
          <a:ln w="38100">
            <a:solidFill>
              <a:srgbClr val="111418"/>
            </a:solidFill>
            <a:prstDash val="solid"/>
          </a:ln>
        </p:spPr>
      </p:sp>
      <p:sp>
        <p:nvSpPr>
          <p:cNvPr id="12" name="wall_side_left_11"/>
          <p:cNvSpPr/>
          <p:nvPr/>
        </p:nvSpPr>
        <p:spPr>
          <a:xfrm>
            <a:off x="1188720" y="1463040"/>
            <a:ext cx="0" cy="3566160"/>
          </a:xfrm>
          <a:prstGeom prst="line">
            <a:avLst/>
          </a:prstGeom>
          <a:noFill/>
          <a:ln w="38100">
            <a:solidFill>
              <a:srgbClr val="111418"/>
            </a:solidFill>
            <a:prstDash val="solid"/>
          </a:ln>
        </p:spPr>
      </p:sp>
      <p:sp>
        <p:nvSpPr>
          <p:cNvPr id="13" name="wall_side_right_12"/>
          <p:cNvSpPr/>
          <p:nvPr/>
        </p:nvSpPr>
        <p:spPr>
          <a:xfrm>
            <a:off x="7132320" y="1463040"/>
            <a:ext cx="0" cy="3566160"/>
          </a:xfrm>
          <a:prstGeom prst="line">
            <a:avLst/>
          </a:prstGeom>
          <a:noFill/>
          <a:ln w="38100">
            <a:solidFill>
              <a:srgbClr val="111418"/>
            </a:solidFill>
            <a:prstDash val="solid"/>
          </a:ln>
        </p:spPr>
      </p:sp>
      <p:sp>
        <p:nvSpPr>
          <p:cNvPr id="14" name="entrance_open_side_13"/>
          <p:cNvSpPr/>
          <p:nvPr/>
        </p:nvSpPr>
        <p:spPr>
          <a:xfrm>
            <a:off x="1188720" y="5029200"/>
            <a:ext cx="5943600" cy="0"/>
          </a:xfrm>
          <a:prstGeom prst="line">
            <a:avLst/>
          </a:prstGeom>
          <a:noFill/>
          <a:ln w="12700">
            <a:solidFill>
              <a:srgbClr val="7A828C"/>
            </a:solidFill>
            <a:prstDash val="dash"/>
          </a:ln>
        </p:spPr>
      </p:sp>
      <p:sp>
        <p:nvSpPr>
          <p:cNvPr id="15" name="sensor_scan_plane_14"/>
          <p:cNvSpPr/>
          <p:nvPr/>
        </p:nvSpPr>
        <p:spPr>
          <a:xfrm>
            <a:off x="1283818" y="1677010"/>
            <a:ext cx="5753405" cy="0"/>
          </a:xfrm>
          <a:prstGeom prst="line">
            <a:avLst/>
          </a:prstGeom>
          <a:noFill/>
          <a:ln w="15875">
            <a:solidFill>
              <a:srgbClr val="00A7B5"/>
            </a:solidFill>
            <a:prstDash val="dash"/>
          </a:ln>
        </p:spPr>
      </p:sp>
      <p:sp>
        <p:nvSpPr>
          <p:cNvPr id="16" name="wall_sensor_left_15"/>
          <p:cNvSpPr/>
          <p:nvPr/>
        </p:nvSpPr>
        <p:spPr>
          <a:xfrm>
            <a:off x="1219810" y="1613002"/>
            <a:ext cx="128016" cy="128016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17" name="wall_sensor_right_16"/>
          <p:cNvSpPr/>
          <p:nvPr/>
        </p:nvSpPr>
        <p:spPr>
          <a:xfrm>
            <a:off x="6973214" y="1613002"/>
            <a:ext cx="128016" cy="128016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18" name="label_wall_sensor_17"/>
          <p:cNvSpPr txBox="1"/>
          <p:nvPr/>
        </p:nvSpPr>
        <p:spPr>
          <a:xfrm>
            <a:off x="274320" y="157642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A7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</a:t>
            </a:r>
            <a:endParaRPr lang="en-US" sz="950" dirty="0"/>
          </a:p>
        </p:txBody>
      </p:sp>
      <p:sp>
        <p:nvSpPr>
          <p:cNvPr id="19" name="label_wall_sensor_18"/>
          <p:cNvSpPr txBox="1"/>
          <p:nvPr/>
        </p:nvSpPr>
        <p:spPr>
          <a:xfrm>
            <a:off x="7223760" y="157642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7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</a:t>
            </a:r>
            <a:endParaRPr lang="en-US" sz="950" dirty="0"/>
          </a:p>
        </p:txBody>
      </p:sp>
      <p:sp>
        <p:nvSpPr>
          <p:cNvPr id="20" name="throw_line_19"/>
          <p:cNvSpPr/>
          <p:nvPr/>
        </p:nvSpPr>
        <p:spPr>
          <a:xfrm>
            <a:off x="1188720" y="3840480"/>
            <a:ext cx="5943600" cy="0"/>
          </a:xfrm>
          <a:prstGeom prst="line">
            <a:avLst/>
          </a:prstGeom>
          <a:noFill/>
          <a:ln w="28575">
            <a:solidFill>
              <a:srgbClr val="FF8000"/>
            </a:solidFill>
            <a:prstDash val="dash"/>
          </a:ln>
        </p:spPr>
      </p:sp>
      <p:sp>
        <p:nvSpPr>
          <p:cNvPr id="21" name="label_throw_line_20"/>
          <p:cNvSpPr txBox="1"/>
          <p:nvPr/>
        </p:nvSpPr>
        <p:spPr>
          <a:xfrm>
            <a:off x="2788920" y="3895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던지는 선 (벽에서 약 2,000)</a:t>
            </a:r>
            <a:endParaRPr lang="en-US" sz="1000" dirty="0"/>
          </a:p>
        </p:txBody>
      </p:sp>
      <p:sp>
        <p:nvSpPr>
          <p:cNvPr id="22" name="aim_P1_21"/>
          <p:cNvSpPr/>
          <p:nvPr/>
        </p:nvSpPr>
        <p:spPr>
          <a:xfrm>
            <a:off x="2674620" y="1772107"/>
            <a:ext cx="0" cy="2520086"/>
          </a:xfrm>
          <a:prstGeom prst="line">
            <a:avLst/>
          </a:prstGeom>
          <a:noFill/>
          <a:ln w="12700">
            <a:solidFill>
              <a:srgbClr val="F5C400"/>
            </a:solidFill>
            <a:prstDash val="sysDash"/>
          </a:ln>
        </p:spPr>
      </p:sp>
      <p:sp>
        <p:nvSpPr>
          <p:cNvPr id="23" name="player_P1_22"/>
          <p:cNvSpPr/>
          <p:nvPr/>
        </p:nvSpPr>
        <p:spPr>
          <a:xfrm>
            <a:off x="2546604" y="4306824"/>
            <a:ext cx="256032" cy="256032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4" name="label_P1_23"/>
          <p:cNvSpPr txBox="1"/>
          <p:nvPr/>
        </p:nvSpPr>
        <p:spPr>
          <a:xfrm>
            <a:off x="2546604" y="43434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P1</a:t>
            </a:r>
            <a:endParaRPr lang="en-US" sz="900" dirty="0"/>
          </a:p>
        </p:txBody>
      </p:sp>
      <p:sp>
        <p:nvSpPr>
          <p:cNvPr id="25" name="aim_P2_24"/>
          <p:cNvSpPr/>
          <p:nvPr/>
        </p:nvSpPr>
        <p:spPr>
          <a:xfrm>
            <a:off x="5646420" y="1772107"/>
            <a:ext cx="0" cy="2520086"/>
          </a:xfrm>
          <a:prstGeom prst="line">
            <a:avLst/>
          </a:prstGeom>
          <a:noFill/>
          <a:ln w="12700">
            <a:solidFill>
              <a:srgbClr val="2F7BEA"/>
            </a:solidFill>
            <a:prstDash val="sysDash"/>
          </a:ln>
        </p:spPr>
      </p:sp>
      <p:sp>
        <p:nvSpPr>
          <p:cNvPr id="26" name="player_P2_25"/>
          <p:cNvSpPr/>
          <p:nvPr/>
        </p:nvSpPr>
        <p:spPr>
          <a:xfrm>
            <a:off x="5518404" y="4306824"/>
            <a:ext cx="256032" cy="256032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27" name="label_P2_26"/>
          <p:cNvSpPr txBox="1"/>
          <p:nvPr/>
        </p:nvSpPr>
        <p:spPr>
          <a:xfrm>
            <a:off x="5518404" y="43434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P2</a:t>
            </a:r>
            <a:endParaRPr lang="en-US" sz="900" dirty="0"/>
          </a:p>
        </p:txBody>
      </p:sp>
      <p:sp>
        <p:nvSpPr>
          <p:cNvPr id="28" name="ball_bin_P1_27"/>
          <p:cNvSpPr/>
          <p:nvPr/>
        </p:nvSpPr>
        <p:spPr>
          <a:xfrm>
            <a:off x="1236269" y="39593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F5C400"/>
          </a:solidFill>
          <a:ln/>
        </p:spPr>
      </p:sp>
      <p:sp>
        <p:nvSpPr>
          <p:cNvPr id="29" name="ball_bin_P2_28"/>
          <p:cNvSpPr/>
          <p:nvPr/>
        </p:nvSpPr>
        <p:spPr>
          <a:xfrm>
            <a:off x="6490411" y="3959352"/>
            <a:ext cx="594360" cy="475488"/>
          </a:xfrm>
          <a:prstGeom prst="roundRect">
            <a:avLst>
              <a:gd name="adj" fmla="val 7692"/>
            </a:avLst>
          </a:prstGeom>
          <a:solidFill>
            <a:srgbClr val="2F7BEA"/>
          </a:solidFill>
          <a:ln/>
        </p:spPr>
      </p:sp>
      <p:sp>
        <p:nvSpPr>
          <p:cNvPr id="30" name="label_ball_bin_29"/>
          <p:cNvSpPr txBox="1"/>
          <p:nvPr/>
        </p:nvSpPr>
        <p:spPr>
          <a:xfrm>
            <a:off x="1076249" y="4480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공 바구니</a:t>
            </a:r>
            <a:endParaRPr lang="en-US" sz="900" dirty="0"/>
          </a:p>
        </p:txBody>
      </p:sp>
      <p:sp>
        <p:nvSpPr>
          <p:cNvPr id="31" name="label_ball_bin_30"/>
          <p:cNvSpPr txBox="1"/>
          <p:nvPr/>
        </p:nvSpPr>
        <p:spPr>
          <a:xfrm>
            <a:off x="6330391" y="4480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공 바구니</a:t>
            </a:r>
            <a:endParaRPr lang="en-US" sz="900" dirty="0"/>
          </a:p>
        </p:txBody>
      </p:sp>
      <p:sp>
        <p:nvSpPr>
          <p:cNvPr id="32" name="label_entrance_31"/>
          <p:cNvSpPr txBox="1"/>
          <p:nvPr/>
        </p:nvSpPr>
        <p:spPr>
          <a:xfrm>
            <a:off x="2514600" y="47914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입구 · 운영 쪽 (개방 여부 확인 필요)</a:t>
            </a:r>
            <a:endParaRPr lang="en-US" sz="900" dirty="0"/>
          </a:p>
        </p:txBody>
      </p:sp>
      <p:sp>
        <p:nvSpPr>
          <p:cNvPr id="33" name="dim_32"/>
          <p:cNvSpPr/>
          <p:nvPr/>
        </p:nvSpPr>
        <p:spPr>
          <a:xfrm>
            <a:off x="1188720" y="5303520"/>
            <a:ext cx="5943600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34" name="dim_33"/>
          <p:cNvSpPr/>
          <p:nvPr/>
        </p:nvSpPr>
        <p:spPr>
          <a:xfrm>
            <a:off x="1188720" y="5248656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35" name="dim_34"/>
          <p:cNvSpPr/>
          <p:nvPr/>
        </p:nvSpPr>
        <p:spPr>
          <a:xfrm>
            <a:off x="7132320" y="5248656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36" name="dim_label_35"/>
          <p:cNvSpPr txBox="1"/>
          <p:nvPr/>
        </p:nvSpPr>
        <p:spPr>
          <a:xfrm>
            <a:off x="3611880" y="5358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5,000</a:t>
            </a:r>
            <a:endParaRPr lang="en-US" sz="1000" dirty="0"/>
          </a:p>
        </p:txBody>
      </p:sp>
      <p:sp>
        <p:nvSpPr>
          <p:cNvPr id="37" name="dim_36"/>
          <p:cNvSpPr/>
          <p:nvPr/>
        </p:nvSpPr>
        <p:spPr>
          <a:xfrm>
            <a:off x="8092440" y="1463040"/>
            <a:ext cx="0" cy="356616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38" name="dim_37"/>
          <p:cNvSpPr/>
          <p:nvPr/>
        </p:nvSpPr>
        <p:spPr>
          <a:xfrm>
            <a:off x="8037576" y="1463040"/>
            <a:ext cx="109728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39" name="dim_38"/>
          <p:cNvSpPr/>
          <p:nvPr/>
        </p:nvSpPr>
        <p:spPr>
          <a:xfrm>
            <a:off x="8037576" y="5029200"/>
            <a:ext cx="109728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40" name="dim_label_39"/>
          <p:cNvSpPr txBox="1"/>
          <p:nvPr/>
        </p:nvSpPr>
        <p:spPr>
          <a:xfrm>
            <a:off x="8165592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3,000</a:t>
            </a:r>
            <a:endParaRPr lang="en-US" sz="1000" dirty="0"/>
          </a:p>
        </p:txBody>
      </p:sp>
      <p:sp>
        <p:nvSpPr>
          <p:cNvPr id="41" name="dim_40"/>
          <p:cNvSpPr/>
          <p:nvPr/>
        </p:nvSpPr>
        <p:spPr>
          <a:xfrm>
            <a:off x="868680" y="1997964"/>
            <a:ext cx="0" cy="1842516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42" name="dim_41"/>
          <p:cNvSpPr/>
          <p:nvPr/>
        </p:nvSpPr>
        <p:spPr>
          <a:xfrm>
            <a:off x="813816" y="3840480"/>
            <a:ext cx="109728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43" name="dim_label_42"/>
          <p:cNvSpPr txBox="1"/>
          <p:nvPr/>
        </p:nvSpPr>
        <p:spPr>
          <a:xfrm>
            <a:off x="274320" y="263438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2,000</a:t>
            </a:r>
            <a:endParaRPr lang="en-US" sz="1000" dirty="0"/>
          </a:p>
        </p:txBody>
      </p:sp>
      <p:sp>
        <p:nvSpPr>
          <p:cNvPr id="44" name="legend_title_43"/>
          <p:cNvSpPr txBox="1"/>
          <p:nvPr/>
        </p:nvSpPr>
        <p:spPr>
          <a:xfrm>
            <a:off x="90982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범례</a:t>
            </a:r>
            <a:endParaRPr lang="en-US" sz="1300" dirty="0"/>
          </a:p>
        </p:txBody>
      </p:sp>
      <p:sp>
        <p:nvSpPr>
          <p:cNvPr id="45" name="legend_swatch_44"/>
          <p:cNvSpPr/>
          <p:nvPr/>
        </p:nvSpPr>
        <p:spPr>
          <a:xfrm>
            <a:off x="9098280" y="1673352"/>
            <a:ext cx="256032" cy="146304"/>
          </a:xfrm>
          <a:prstGeom prst="rect">
            <a:avLst/>
          </a:prstGeom>
          <a:solidFill>
            <a:srgbClr val="353A40"/>
          </a:solidFill>
          <a:ln/>
        </p:spPr>
      </p:sp>
      <p:sp>
        <p:nvSpPr>
          <p:cNvPr id="46" name="legend_label_45"/>
          <p:cNvSpPr txBox="1"/>
          <p:nvPr/>
        </p:nvSpPr>
        <p:spPr>
          <a:xfrm>
            <a:off x="9464040" y="1645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비디오월 (55″ FHD 4 × 4)</a:t>
            </a:r>
            <a:endParaRPr lang="en-US" sz="1050" dirty="0"/>
          </a:p>
        </p:txBody>
      </p:sp>
      <p:sp>
        <p:nvSpPr>
          <p:cNvPr id="47" name="legend_swatch_46"/>
          <p:cNvSpPr/>
          <p:nvPr/>
        </p:nvSpPr>
        <p:spPr>
          <a:xfrm>
            <a:off x="9098280" y="1947672"/>
            <a:ext cx="256032" cy="146304"/>
          </a:xfrm>
          <a:prstGeom prst="rect">
            <a:avLst/>
          </a:prstGeom>
          <a:solidFill>
            <a:srgbClr val="5FB3D4"/>
          </a:solidFill>
          <a:ln/>
        </p:spPr>
      </p:sp>
      <p:sp>
        <p:nvSpPr>
          <p:cNvPr id="48" name="legend_label_47"/>
          <p:cNvSpPr txBox="1"/>
          <p:nvPr/>
        </p:nvSpPr>
        <p:spPr>
          <a:xfrm>
            <a:off x="9464040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보호 글레이징</a:t>
            </a:r>
            <a:endParaRPr lang="en-US" sz="1050" dirty="0"/>
          </a:p>
        </p:txBody>
      </p:sp>
      <p:sp>
        <p:nvSpPr>
          <p:cNvPr id="49" name="legend_swatch_48"/>
          <p:cNvSpPr/>
          <p:nvPr/>
        </p:nvSpPr>
        <p:spPr>
          <a:xfrm>
            <a:off x="9162288" y="2231136"/>
            <a:ext cx="128016" cy="128016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50" name="legend_label_49"/>
          <p:cNvSpPr txBox="1"/>
          <p:nvPr/>
        </p:nvSpPr>
        <p:spPr>
          <a:xfrm>
            <a:off x="9464040" y="2194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공 인식 센서</a:t>
            </a:r>
            <a:endParaRPr lang="en-US" sz="1050" dirty="0"/>
          </a:p>
        </p:txBody>
      </p:sp>
      <p:sp>
        <p:nvSpPr>
          <p:cNvPr id="51" name="legend_swatch_50"/>
          <p:cNvSpPr/>
          <p:nvPr/>
        </p:nvSpPr>
        <p:spPr>
          <a:xfrm>
            <a:off x="9098280" y="2569464"/>
            <a:ext cx="256032" cy="0"/>
          </a:xfrm>
          <a:prstGeom prst="line">
            <a:avLst/>
          </a:prstGeom>
          <a:noFill/>
          <a:ln w="19050">
            <a:solidFill>
              <a:srgbClr val="00A7B5"/>
            </a:solidFill>
            <a:prstDash val="dash"/>
          </a:ln>
        </p:spPr>
      </p:sp>
      <p:sp>
        <p:nvSpPr>
          <p:cNvPr id="52" name="legend_label_51"/>
          <p:cNvSpPr txBox="1"/>
          <p:nvPr/>
        </p:nvSpPr>
        <p:spPr>
          <a:xfrm>
            <a:off x="9464040" y="2468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센서 감지층 (글레이징 앞)</a:t>
            </a:r>
            <a:endParaRPr lang="en-US" sz="1050" dirty="0"/>
          </a:p>
        </p:txBody>
      </p:sp>
      <p:sp>
        <p:nvSpPr>
          <p:cNvPr id="53" name="legend_swatch_52"/>
          <p:cNvSpPr/>
          <p:nvPr/>
        </p:nvSpPr>
        <p:spPr>
          <a:xfrm>
            <a:off x="9098280" y="2843784"/>
            <a:ext cx="256032" cy="0"/>
          </a:xfrm>
          <a:prstGeom prst="line">
            <a:avLst/>
          </a:prstGeom>
          <a:noFill/>
          <a:ln w="25400">
            <a:solidFill>
              <a:srgbClr val="FF8000"/>
            </a:solidFill>
            <a:prstDash val="dash"/>
          </a:ln>
        </p:spPr>
      </p:sp>
      <p:sp>
        <p:nvSpPr>
          <p:cNvPr id="54" name="legend_label_53"/>
          <p:cNvSpPr txBox="1"/>
          <p:nvPr/>
        </p:nvSpPr>
        <p:spPr>
          <a:xfrm>
            <a:off x="9464040" y="2743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던지는 선</a:t>
            </a:r>
            <a:endParaRPr lang="en-US" sz="1050" dirty="0"/>
          </a:p>
        </p:txBody>
      </p:sp>
      <p:sp>
        <p:nvSpPr>
          <p:cNvPr id="55" name="legend_swatch_54"/>
          <p:cNvSpPr/>
          <p:nvPr/>
        </p:nvSpPr>
        <p:spPr>
          <a:xfrm>
            <a:off x="9098280" y="3044952"/>
            <a:ext cx="256032" cy="146304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56" name="legend_label_55"/>
          <p:cNvSpPr txBox="1"/>
          <p:nvPr/>
        </p:nvSpPr>
        <p:spPr>
          <a:xfrm>
            <a:off x="9464040" y="30175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P1 (YELLOW) · 공 바구니</a:t>
            </a:r>
            <a:endParaRPr lang="en-US" sz="1050" dirty="0"/>
          </a:p>
        </p:txBody>
      </p:sp>
      <p:sp>
        <p:nvSpPr>
          <p:cNvPr id="57" name="legend_swatch_56"/>
          <p:cNvSpPr/>
          <p:nvPr/>
        </p:nvSpPr>
        <p:spPr>
          <a:xfrm>
            <a:off x="9098280" y="3319272"/>
            <a:ext cx="256032" cy="146304"/>
          </a:xfrm>
          <a:prstGeom prst="rect">
            <a:avLst/>
          </a:prstGeom>
          <a:solidFill>
            <a:srgbClr val="2F7BEA"/>
          </a:solidFill>
          <a:ln/>
        </p:spPr>
      </p:sp>
      <p:sp>
        <p:nvSpPr>
          <p:cNvPr id="58" name="legend_label_57"/>
          <p:cNvSpPr txBox="1"/>
          <p:nvPr/>
        </p:nvSpPr>
        <p:spPr>
          <a:xfrm>
            <a:off x="9464040" y="3291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P2 (BLUE) · 공 바구니</a:t>
            </a:r>
            <a:endParaRPr lang="en-US" sz="1050" dirty="0"/>
          </a:p>
        </p:txBody>
      </p:sp>
      <p:sp>
        <p:nvSpPr>
          <p:cNvPr id="59" name="notes_title_58"/>
          <p:cNvSpPr txBox="1"/>
          <p:nvPr/>
        </p:nvSpPr>
        <p:spPr>
          <a:xfrm>
            <a:off x="90982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가정 · 메모</a:t>
            </a:r>
            <a:endParaRPr lang="en-US" sz="1300" dirty="0"/>
          </a:p>
        </p:txBody>
      </p:sp>
      <p:sp>
        <p:nvSpPr>
          <p:cNvPr id="60" name="notes_59"/>
          <p:cNvSpPr txBox="1"/>
          <p:nvPr/>
        </p:nvSpPr>
        <p:spPr>
          <a:xfrm>
            <a:off x="9098280" y="40690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5,000 쪽을 타깃 벽으로 가정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던지는 선 2,000은 제안값 — 목업으로 확정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공 인식 방식(전용 IR / 2D LiDAR)은 목업 인식률로 선택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옆벽 · 입구 쪽 그물 또는 패드로 공 튐 방지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60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418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THROW · 타깃 벽 입면</a:t>
            </a:r>
            <a:endParaRPr lang="en-US" sz="2400" dirty="0"/>
          </a:p>
        </p:txBody>
      </p:sp>
      <p:sp>
        <p:nvSpPr>
          <p:cNvPr id="3" name="subtitle_61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55″ FHD 비디오월 4 × 4 (16장) + 보호 글레이징 · 패널 1,213.4 × 684.2 mm 예시 · 개념안</a:t>
            </a:r>
            <a:endParaRPr lang="en-US" sz="1100" dirty="0"/>
          </a:p>
        </p:txBody>
      </p:sp>
      <p:sp>
        <p:nvSpPr>
          <p:cNvPr id="4" name="wall_surface_62"/>
          <p:cNvSpPr/>
          <p:nvPr/>
        </p:nvSpPr>
        <p:spPr>
          <a:xfrm>
            <a:off x="1188720" y="1792224"/>
            <a:ext cx="6400800" cy="3968496"/>
          </a:xfrm>
          <a:prstGeom prst="rect">
            <a:avLst/>
          </a:prstGeom>
          <a:solidFill>
            <a:srgbClr val="F5F6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5" name="floor_line_63"/>
          <p:cNvSpPr/>
          <p:nvPr/>
        </p:nvSpPr>
        <p:spPr>
          <a:xfrm>
            <a:off x="932688" y="5760720"/>
            <a:ext cx="6912864" cy="0"/>
          </a:xfrm>
          <a:prstGeom prst="line">
            <a:avLst/>
          </a:prstGeom>
          <a:noFill/>
          <a:ln w="31750">
            <a:solidFill>
              <a:srgbClr val="111418"/>
            </a:solidFill>
            <a:prstDash val="solid"/>
          </a:ln>
        </p:spPr>
      </p:sp>
      <p:sp>
        <p:nvSpPr>
          <p:cNvPr id="6" name="kickplate_64"/>
          <p:cNvSpPr/>
          <p:nvPr/>
        </p:nvSpPr>
        <p:spPr>
          <a:xfrm>
            <a:off x="1188720" y="5568696"/>
            <a:ext cx="6400800" cy="192024"/>
          </a:xfrm>
          <a:prstGeom prst="rect">
            <a:avLst/>
          </a:prstGeom>
          <a:solidFill>
            <a:srgbClr val="7A828C">
              <a:alpha val="50000"/>
            </a:srgbClr>
          </a:solidFill>
          <a:ln/>
        </p:spPr>
      </p:sp>
      <p:sp>
        <p:nvSpPr>
          <p:cNvPr id="7" name="panel_r4_c1_65"/>
          <p:cNvSpPr/>
          <p:nvPr/>
        </p:nvSpPr>
        <p:spPr>
          <a:xfrm>
            <a:off x="1286744" y="4697383"/>
            <a:ext cx="1544202" cy="866741"/>
          </a:xfrm>
          <a:prstGeom prst="rect">
            <a:avLst/>
          </a:prstGeom>
          <a:solidFill>
            <a:srgbClr val="F5C400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8" name="target_r4_c1_66"/>
          <p:cNvSpPr/>
          <p:nvPr/>
        </p:nvSpPr>
        <p:spPr>
          <a:xfrm>
            <a:off x="1326977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9" name="target_r4_c1_67"/>
          <p:cNvSpPr/>
          <p:nvPr/>
        </p:nvSpPr>
        <p:spPr>
          <a:xfrm>
            <a:off x="1326977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0" name="target_r4_c1_68"/>
          <p:cNvSpPr/>
          <p:nvPr/>
        </p:nvSpPr>
        <p:spPr>
          <a:xfrm>
            <a:off x="1717426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1" name="target_r4_c1_69"/>
          <p:cNvSpPr/>
          <p:nvPr/>
        </p:nvSpPr>
        <p:spPr>
          <a:xfrm>
            <a:off x="1717426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2" name="target_r4_c1_70"/>
          <p:cNvSpPr/>
          <p:nvPr/>
        </p:nvSpPr>
        <p:spPr>
          <a:xfrm>
            <a:off x="2107875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3" name="target_r4_c1_71"/>
          <p:cNvSpPr/>
          <p:nvPr/>
        </p:nvSpPr>
        <p:spPr>
          <a:xfrm>
            <a:off x="2107875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4" name="target_r4_c1_72"/>
          <p:cNvSpPr/>
          <p:nvPr/>
        </p:nvSpPr>
        <p:spPr>
          <a:xfrm>
            <a:off x="2498324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5" name="target_r4_c1_73"/>
          <p:cNvSpPr/>
          <p:nvPr/>
        </p:nvSpPr>
        <p:spPr>
          <a:xfrm>
            <a:off x="2498324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6" name="panel_r3_c1_74"/>
          <p:cNvSpPr/>
          <p:nvPr/>
        </p:nvSpPr>
        <p:spPr>
          <a:xfrm>
            <a:off x="1286744" y="3821497"/>
            <a:ext cx="1544202" cy="866741"/>
          </a:xfrm>
          <a:prstGeom prst="rect">
            <a:avLst/>
          </a:prstGeom>
          <a:solidFill>
            <a:srgbClr val="F5C400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17" name="target_r3_c1_75"/>
          <p:cNvSpPr/>
          <p:nvPr/>
        </p:nvSpPr>
        <p:spPr>
          <a:xfrm>
            <a:off x="1326977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8" name="target_r3_c1_76"/>
          <p:cNvSpPr/>
          <p:nvPr/>
        </p:nvSpPr>
        <p:spPr>
          <a:xfrm>
            <a:off x="1326977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19" name="target_r3_c1_77"/>
          <p:cNvSpPr/>
          <p:nvPr/>
        </p:nvSpPr>
        <p:spPr>
          <a:xfrm>
            <a:off x="1717426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0" name="target_r3_c1_78"/>
          <p:cNvSpPr/>
          <p:nvPr/>
        </p:nvSpPr>
        <p:spPr>
          <a:xfrm>
            <a:off x="1717426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1" name="target_r3_c1_79"/>
          <p:cNvSpPr/>
          <p:nvPr/>
        </p:nvSpPr>
        <p:spPr>
          <a:xfrm>
            <a:off x="2107875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2" name="target_r3_c1_80"/>
          <p:cNvSpPr/>
          <p:nvPr/>
        </p:nvSpPr>
        <p:spPr>
          <a:xfrm>
            <a:off x="2107875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3" name="target_r3_c1_81"/>
          <p:cNvSpPr/>
          <p:nvPr/>
        </p:nvSpPr>
        <p:spPr>
          <a:xfrm>
            <a:off x="2498324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4" name="target_r3_c1_82"/>
          <p:cNvSpPr/>
          <p:nvPr/>
        </p:nvSpPr>
        <p:spPr>
          <a:xfrm>
            <a:off x="2498324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5" name="panel_r2_c1_83"/>
          <p:cNvSpPr/>
          <p:nvPr/>
        </p:nvSpPr>
        <p:spPr>
          <a:xfrm>
            <a:off x="1286744" y="2945612"/>
            <a:ext cx="1544202" cy="866741"/>
          </a:xfrm>
          <a:prstGeom prst="rect">
            <a:avLst/>
          </a:prstGeom>
          <a:solidFill>
            <a:srgbClr val="F5C400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26" name="target_r2_c1_84"/>
          <p:cNvSpPr/>
          <p:nvPr/>
        </p:nvSpPr>
        <p:spPr>
          <a:xfrm>
            <a:off x="1326977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7" name="target_r2_c1_85"/>
          <p:cNvSpPr/>
          <p:nvPr/>
        </p:nvSpPr>
        <p:spPr>
          <a:xfrm>
            <a:off x="1326977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8" name="target_r2_c1_86"/>
          <p:cNvSpPr/>
          <p:nvPr/>
        </p:nvSpPr>
        <p:spPr>
          <a:xfrm>
            <a:off x="1717426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29" name="target_r2_c1_87"/>
          <p:cNvSpPr/>
          <p:nvPr/>
        </p:nvSpPr>
        <p:spPr>
          <a:xfrm>
            <a:off x="1717426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0" name="target_r2_c1_88"/>
          <p:cNvSpPr/>
          <p:nvPr/>
        </p:nvSpPr>
        <p:spPr>
          <a:xfrm>
            <a:off x="2107875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1" name="target_r2_c1_89"/>
          <p:cNvSpPr/>
          <p:nvPr/>
        </p:nvSpPr>
        <p:spPr>
          <a:xfrm>
            <a:off x="2107875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2" name="target_r2_c1_90"/>
          <p:cNvSpPr/>
          <p:nvPr/>
        </p:nvSpPr>
        <p:spPr>
          <a:xfrm>
            <a:off x="2498324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3" name="target_r2_c1_91"/>
          <p:cNvSpPr/>
          <p:nvPr/>
        </p:nvSpPr>
        <p:spPr>
          <a:xfrm>
            <a:off x="2498324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4" name="panel_r1_c1_92"/>
          <p:cNvSpPr/>
          <p:nvPr/>
        </p:nvSpPr>
        <p:spPr>
          <a:xfrm>
            <a:off x="1286744" y="2069726"/>
            <a:ext cx="1544202" cy="866741"/>
          </a:xfrm>
          <a:prstGeom prst="rect">
            <a:avLst/>
          </a:prstGeom>
          <a:solidFill>
            <a:srgbClr val="1B2230"/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35" name="panel_r4_c2_93"/>
          <p:cNvSpPr/>
          <p:nvPr/>
        </p:nvSpPr>
        <p:spPr>
          <a:xfrm>
            <a:off x="2840090" y="4697383"/>
            <a:ext cx="1544202" cy="866741"/>
          </a:xfrm>
          <a:prstGeom prst="rect">
            <a:avLst/>
          </a:prstGeom>
          <a:solidFill>
            <a:srgbClr val="F5C400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36" name="target_r4_c2_94"/>
          <p:cNvSpPr/>
          <p:nvPr/>
        </p:nvSpPr>
        <p:spPr>
          <a:xfrm>
            <a:off x="2880323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7" name="target_r4_c2_95"/>
          <p:cNvSpPr/>
          <p:nvPr/>
        </p:nvSpPr>
        <p:spPr>
          <a:xfrm>
            <a:off x="2880323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8" name="target_r4_c2_96"/>
          <p:cNvSpPr/>
          <p:nvPr/>
        </p:nvSpPr>
        <p:spPr>
          <a:xfrm>
            <a:off x="3270772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39" name="target_r4_c2_97"/>
          <p:cNvSpPr/>
          <p:nvPr/>
        </p:nvSpPr>
        <p:spPr>
          <a:xfrm>
            <a:off x="3270772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0" name="target_r4_c2_98"/>
          <p:cNvSpPr/>
          <p:nvPr/>
        </p:nvSpPr>
        <p:spPr>
          <a:xfrm>
            <a:off x="3661221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1" name="target_r4_c2_99"/>
          <p:cNvSpPr/>
          <p:nvPr/>
        </p:nvSpPr>
        <p:spPr>
          <a:xfrm>
            <a:off x="3661221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2" name="target_r4_c2_100"/>
          <p:cNvSpPr/>
          <p:nvPr/>
        </p:nvSpPr>
        <p:spPr>
          <a:xfrm>
            <a:off x="4051670" y="4763219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3" name="target_r4_c2_101"/>
          <p:cNvSpPr/>
          <p:nvPr/>
        </p:nvSpPr>
        <p:spPr>
          <a:xfrm>
            <a:off x="4051670" y="5185672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4" name="panel_r3_c2_102"/>
          <p:cNvSpPr/>
          <p:nvPr/>
        </p:nvSpPr>
        <p:spPr>
          <a:xfrm>
            <a:off x="2840090" y="3821497"/>
            <a:ext cx="1544202" cy="866741"/>
          </a:xfrm>
          <a:prstGeom prst="rect">
            <a:avLst/>
          </a:prstGeom>
          <a:solidFill>
            <a:srgbClr val="F5C400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45" name="target_r3_c2_103"/>
          <p:cNvSpPr/>
          <p:nvPr/>
        </p:nvSpPr>
        <p:spPr>
          <a:xfrm>
            <a:off x="2880323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6" name="target_r3_c2_104"/>
          <p:cNvSpPr/>
          <p:nvPr/>
        </p:nvSpPr>
        <p:spPr>
          <a:xfrm>
            <a:off x="2880323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7" name="target_r3_c2_105"/>
          <p:cNvSpPr/>
          <p:nvPr/>
        </p:nvSpPr>
        <p:spPr>
          <a:xfrm>
            <a:off x="3270772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8" name="target_r3_c2_106"/>
          <p:cNvSpPr/>
          <p:nvPr/>
        </p:nvSpPr>
        <p:spPr>
          <a:xfrm>
            <a:off x="3270772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49" name="target_r3_c2_107"/>
          <p:cNvSpPr/>
          <p:nvPr/>
        </p:nvSpPr>
        <p:spPr>
          <a:xfrm>
            <a:off x="3661221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0" name="target_r3_c2_108"/>
          <p:cNvSpPr/>
          <p:nvPr/>
        </p:nvSpPr>
        <p:spPr>
          <a:xfrm>
            <a:off x="3661221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1" name="target_r3_c2_109"/>
          <p:cNvSpPr/>
          <p:nvPr/>
        </p:nvSpPr>
        <p:spPr>
          <a:xfrm>
            <a:off x="4051670" y="3887334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2" name="target_r3_c2_110"/>
          <p:cNvSpPr/>
          <p:nvPr/>
        </p:nvSpPr>
        <p:spPr>
          <a:xfrm>
            <a:off x="4051670" y="4309787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3" name="panel_r2_c2_111"/>
          <p:cNvSpPr/>
          <p:nvPr/>
        </p:nvSpPr>
        <p:spPr>
          <a:xfrm>
            <a:off x="2840090" y="2945612"/>
            <a:ext cx="1544202" cy="866741"/>
          </a:xfrm>
          <a:prstGeom prst="rect">
            <a:avLst/>
          </a:prstGeom>
          <a:solidFill>
            <a:srgbClr val="F5C400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54" name="target_r2_c2_112"/>
          <p:cNvSpPr/>
          <p:nvPr/>
        </p:nvSpPr>
        <p:spPr>
          <a:xfrm>
            <a:off x="2880323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5" name="target_r2_c2_113"/>
          <p:cNvSpPr/>
          <p:nvPr/>
        </p:nvSpPr>
        <p:spPr>
          <a:xfrm>
            <a:off x="2880323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6" name="target_r2_c2_114"/>
          <p:cNvSpPr/>
          <p:nvPr/>
        </p:nvSpPr>
        <p:spPr>
          <a:xfrm>
            <a:off x="3270772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7" name="target_r2_c2_115"/>
          <p:cNvSpPr/>
          <p:nvPr/>
        </p:nvSpPr>
        <p:spPr>
          <a:xfrm>
            <a:off x="3270772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8" name="target_r2_c2_116"/>
          <p:cNvSpPr/>
          <p:nvPr/>
        </p:nvSpPr>
        <p:spPr>
          <a:xfrm>
            <a:off x="3661221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59" name="target_r2_c2_117"/>
          <p:cNvSpPr/>
          <p:nvPr/>
        </p:nvSpPr>
        <p:spPr>
          <a:xfrm>
            <a:off x="3661221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60" name="target_r2_c2_118"/>
          <p:cNvSpPr/>
          <p:nvPr/>
        </p:nvSpPr>
        <p:spPr>
          <a:xfrm>
            <a:off x="4051670" y="3011448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61" name="target_r2_c2_119"/>
          <p:cNvSpPr/>
          <p:nvPr/>
        </p:nvSpPr>
        <p:spPr>
          <a:xfrm>
            <a:off x="4051670" y="3433901"/>
            <a:ext cx="294437" cy="294437"/>
          </a:xfrm>
          <a:prstGeom prst="ellipse">
            <a:avLst/>
          </a:prstGeom>
          <a:solidFill>
            <a:srgbClr val="F5C400"/>
          </a:solidFill>
          <a:ln/>
        </p:spPr>
      </p:sp>
      <p:sp>
        <p:nvSpPr>
          <p:cNvPr id="62" name="panel_r1_c2_120"/>
          <p:cNvSpPr/>
          <p:nvPr/>
        </p:nvSpPr>
        <p:spPr>
          <a:xfrm>
            <a:off x="2840090" y="2069726"/>
            <a:ext cx="1544202" cy="866741"/>
          </a:xfrm>
          <a:prstGeom prst="rect">
            <a:avLst/>
          </a:prstGeom>
          <a:solidFill>
            <a:srgbClr val="1B2230"/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63" name="panel_r4_c3_121"/>
          <p:cNvSpPr/>
          <p:nvPr/>
        </p:nvSpPr>
        <p:spPr>
          <a:xfrm>
            <a:off x="4393436" y="4697383"/>
            <a:ext cx="1544202" cy="866741"/>
          </a:xfrm>
          <a:prstGeom prst="rect">
            <a:avLst/>
          </a:prstGeom>
          <a:solidFill>
            <a:srgbClr val="2F7BEA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64" name="target_r4_c3_122"/>
          <p:cNvSpPr/>
          <p:nvPr/>
        </p:nvSpPr>
        <p:spPr>
          <a:xfrm>
            <a:off x="4433670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65" name="target_r4_c3_123"/>
          <p:cNvSpPr/>
          <p:nvPr/>
        </p:nvSpPr>
        <p:spPr>
          <a:xfrm>
            <a:off x="4433670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66" name="target_r4_c3_124"/>
          <p:cNvSpPr/>
          <p:nvPr/>
        </p:nvSpPr>
        <p:spPr>
          <a:xfrm>
            <a:off x="4824118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67" name="target_r4_c3_125"/>
          <p:cNvSpPr/>
          <p:nvPr/>
        </p:nvSpPr>
        <p:spPr>
          <a:xfrm>
            <a:off x="4824118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68" name="target_r4_c3_126"/>
          <p:cNvSpPr/>
          <p:nvPr/>
        </p:nvSpPr>
        <p:spPr>
          <a:xfrm>
            <a:off x="5214567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69" name="target_r4_c3_127"/>
          <p:cNvSpPr/>
          <p:nvPr/>
        </p:nvSpPr>
        <p:spPr>
          <a:xfrm>
            <a:off x="5214567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0" name="target_r4_c3_128"/>
          <p:cNvSpPr/>
          <p:nvPr/>
        </p:nvSpPr>
        <p:spPr>
          <a:xfrm>
            <a:off x="5605016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1" name="target_r4_c3_129"/>
          <p:cNvSpPr/>
          <p:nvPr/>
        </p:nvSpPr>
        <p:spPr>
          <a:xfrm>
            <a:off x="5605016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2" name="panel_r3_c3_130"/>
          <p:cNvSpPr/>
          <p:nvPr/>
        </p:nvSpPr>
        <p:spPr>
          <a:xfrm>
            <a:off x="4393436" y="3821497"/>
            <a:ext cx="1544202" cy="866741"/>
          </a:xfrm>
          <a:prstGeom prst="rect">
            <a:avLst/>
          </a:prstGeom>
          <a:solidFill>
            <a:srgbClr val="2F7BEA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73" name="target_r3_c3_131"/>
          <p:cNvSpPr/>
          <p:nvPr/>
        </p:nvSpPr>
        <p:spPr>
          <a:xfrm>
            <a:off x="4433670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4" name="target_r3_c3_132"/>
          <p:cNvSpPr/>
          <p:nvPr/>
        </p:nvSpPr>
        <p:spPr>
          <a:xfrm>
            <a:off x="4433670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5" name="target_r3_c3_133"/>
          <p:cNvSpPr/>
          <p:nvPr/>
        </p:nvSpPr>
        <p:spPr>
          <a:xfrm>
            <a:off x="4824118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6" name="target_r3_c3_134"/>
          <p:cNvSpPr/>
          <p:nvPr/>
        </p:nvSpPr>
        <p:spPr>
          <a:xfrm>
            <a:off x="4824118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7" name="target_r3_c3_135"/>
          <p:cNvSpPr/>
          <p:nvPr/>
        </p:nvSpPr>
        <p:spPr>
          <a:xfrm>
            <a:off x="5214567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8" name="target_r3_c3_136"/>
          <p:cNvSpPr/>
          <p:nvPr/>
        </p:nvSpPr>
        <p:spPr>
          <a:xfrm>
            <a:off x="5214567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79" name="target_r3_c3_137"/>
          <p:cNvSpPr/>
          <p:nvPr/>
        </p:nvSpPr>
        <p:spPr>
          <a:xfrm>
            <a:off x="5605016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0" name="target_r3_c3_138"/>
          <p:cNvSpPr/>
          <p:nvPr/>
        </p:nvSpPr>
        <p:spPr>
          <a:xfrm>
            <a:off x="5605016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1" name="panel_r2_c3_139"/>
          <p:cNvSpPr/>
          <p:nvPr/>
        </p:nvSpPr>
        <p:spPr>
          <a:xfrm>
            <a:off x="4393436" y="2945612"/>
            <a:ext cx="1544202" cy="866741"/>
          </a:xfrm>
          <a:prstGeom prst="rect">
            <a:avLst/>
          </a:prstGeom>
          <a:solidFill>
            <a:srgbClr val="2F7BEA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82" name="target_r2_c3_140"/>
          <p:cNvSpPr/>
          <p:nvPr/>
        </p:nvSpPr>
        <p:spPr>
          <a:xfrm>
            <a:off x="4433670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3" name="target_r2_c3_141"/>
          <p:cNvSpPr/>
          <p:nvPr/>
        </p:nvSpPr>
        <p:spPr>
          <a:xfrm>
            <a:off x="4433670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4" name="target_r2_c3_142"/>
          <p:cNvSpPr/>
          <p:nvPr/>
        </p:nvSpPr>
        <p:spPr>
          <a:xfrm>
            <a:off x="4824118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5" name="target_r2_c3_143"/>
          <p:cNvSpPr/>
          <p:nvPr/>
        </p:nvSpPr>
        <p:spPr>
          <a:xfrm>
            <a:off x="4824118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6" name="target_r2_c3_144"/>
          <p:cNvSpPr/>
          <p:nvPr/>
        </p:nvSpPr>
        <p:spPr>
          <a:xfrm>
            <a:off x="5214567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7" name="target_r2_c3_145"/>
          <p:cNvSpPr/>
          <p:nvPr/>
        </p:nvSpPr>
        <p:spPr>
          <a:xfrm>
            <a:off x="5214567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8" name="target_r2_c3_146"/>
          <p:cNvSpPr/>
          <p:nvPr/>
        </p:nvSpPr>
        <p:spPr>
          <a:xfrm>
            <a:off x="5605016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89" name="target_r2_c3_147"/>
          <p:cNvSpPr/>
          <p:nvPr/>
        </p:nvSpPr>
        <p:spPr>
          <a:xfrm>
            <a:off x="5605016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0" name="panel_r1_c3_148"/>
          <p:cNvSpPr/>
          <p:nvPr/>
        </p:nvSpPr>
        <p:spPr>
          <a:xfrm>
            <a:off x="4393436" y="2069726"/>
            <a:ext cx="1544202" cy="866741"/>
          </a:xfrm>
          <a:prstGeom prst="rect">
            <a:avLst/>
          </a:prstGeom>
          <a:solidFill>
            <a:srgbClr val="1B2230"/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91" name="panel_r4_c4_149"/>
          <p:cNvSpPr/>
          <p:nvPr/>
        </p:nvSpPr>
        <p:spPr>
          <a:xfrm>
            <a:off x="5946782" y="4697383"/>
            <a:ext cx="1544202" cy="866741"/>
          </a:xfrm>
          <a:prstGeom prst="rect">
            <a:avLst/>
          </a:prstGeom>
          <a:solidFill>
            <a:srgbClr val="2F7BEA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92" name="target_r4_c4_150"/>
          <p:cNvSpPr/>
          <p:nvPr/>
        </p:nvSpPr>
        <p:spPr>
          <a:xfrm>
            <a:off x="5987016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3" name="target_r4_c4_151"/>
          <p:cNvSpPr/>
          <p:nvPr/>
        </p:nvSpPr>
        <p:spPr>
          <a:xfrm>
            <a:off x="5987016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4" name="target_r4_c4_152"/>
          <p:cNvSpPr/>
          <p:nvPr/>
        </p:nvSpPr>
        <p:spPr>
          <a:xfrm>
            <a:off x="6377465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5" name="target_r4_c4_153"/>
          <p:cNvSpPr/>
          <p:nvPr/>
        </p:nvSpPr>
        <p:spPr>
          <a:xfrm>
            <a:off x="6377465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6" name="target_r4_c4_154"/>
          <p:cNvSpPr/>
          <p:nvPr/>
        </p:nvSpPr>
        <p:spPr>
          <a:xfrm>
            <a:off x="6767913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7" name="target_r4_c4_155"/>
          <p:cNvSpPr/>
          <p:nvPr/>
        </p:nvSpPr>
        <p:spPr>
          <a:xfrm>
            <a:off x="6767913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8" name="target_r4_c4_156"/>
          <p:cNvSpPr/>
          <p:nvPr/>
        </p:nvSpPr>
        <p:spPr>
          <a:xfrm>
            <a:off x="7158362" y="4763219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99" name="target_r4_c4_157"/>
          <p:cNvSpPr/>
          <p:nvPr/>
        </p:nvSpPr>
        <p:spPr>
          <a:xfrm>
            <a:off x="7158362" y="5185672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0" name="panel_r3_c4_158"/>
          <p:cNvSpPr/>
          <p:nvPr/>
        </p:nvSpPr>
        <p:spPr>
          <a:xfrm>
            <a:off x="5946782" y="3821497"/>
            <a:ext cx="1544202" cy="866741"/>
          </a:xfrm>
          <a:prstGeom prst="rect">
            <a:avLst/>
          </a:prstGeom>
          <a:solidFill>
            <a:srgbClr val="2F7BEA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101" name="target_r3_c4_159"/>
          <p:cNvSpPr/>
          <p:nvPr/>
        </p:nvSpPr>
        <p:spPr>
          <a:xfrm>
            <a:off x="5987016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2" name="target_r3_c4_160"/>
          <p:cNvSpPr/>
          <p:nvPr/>
        </p:nvSpPr>
        <p:spPr>
          <a:xfrm>
            <a:off x="5987016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3" name="target_r3_c4_161"/>
          <p:cNvSpPr/>
          <p:nvPr/>
        </p:nvSpPr>
        <p:spPr>
          <a:xfrm>
            <a:off x="6377465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4" name="target_r3_c4_162"/>
          <p:cNvSpPr/>
          <p:nvPr/>
        </p:nvSpPr>
        <p:spPr>
          <a:xfrm>
            <a:off x="6377465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5" name="target_r3_c4_163"/>
          <p:cNvSpPr/>
          <p:nvPr/>
        </p:nvSpPr>
        <p:spPr>
          <a:xfrm>
            <a:off x="6767913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6" name="target_r3_c4_164"/>
          <p:cNvSpPr/>
          <p:nvPr/>
        </p:nvSpPr>
        <p:spPr>
          <a:xfrm>
            <a:off x="6767913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7" name="target_r3_c4_165"/>
          <p:cNvSpPr/>
          <p:nvPr/>
        </p:nvSpPr>
        <p:spPr>
          <a:xfrm>
            <a:off x="7158362" y="3887334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8" name="target_r3_c4_166"/>
          <p:cNvSpPr/>
          <p:nvPr/>
        </p:nvSpPr>
        <p:spPr>
          <a:xfrm>
            <a:off x="7158362" y="4309787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09" name="panel_r2_c4_167"/>
          <p:cNvSpPr/>
          <p:nvPr/>
        </p:nvSpPr>
        <p:spPr>
          <a:xfrm>
            <a:off x="5946782" y="2945612"/>
            <a:ext cx="1544202" cy="866741"/>
          </a:xfrm>
          <a:prstGeom prst="rect">
            <a:avLst/>
          </a:prstGeom>
          <a:solidFill>
            <a:srgbClr val="2F7BEA">
              <a:alpha val="35000"/>
            </a:srgbClr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110" name="target_r2_c4_168"/>
          <p:cNvSpPr/>
          <p:nvPr/>
        </p:nvSpPr>
        <p:spPr>
          <a:xfrm>
            <a:off x="5987016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1" name="target_r2_c4_169"/>
          <p:cNvSpPr/>
          <p:nvPr/>
        </p:nvSpPr>
        <p:spPr>
          <a:xfrm>
            <a:off x="5987016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2" name="target_r2_c4_170"/>
          <p:cNvSpPr/>
          <p:nvPr/>
        </p:nvSpPr>
        <p:spPr>
          <a:xfrm>
            <a:off x="6377465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3" name="target_r2_c4_171"/>
          <p:cNvSpPr/>
          <p:nvPr/>
        </p:nvSpPr>
        <p:spPr>
          <a:xfrm>
            <a:off x="6377465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4" name="target_r2_c4_172"/>
          <p:cNvSpPr/>
          <p:nvPr/>
        </p:nvSpPr>
        <p:spPr>
          <a:xfrm>
            <a:off x="6767913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5" name="target_r2_c4_173"/>
          <p:cNvSpPr/>
          <p:nvPr/>
        </p:nvSpPr>
        <p:spPr>
          <a:xfrm>
            <a:off x="6767913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6" name="target_r2_c4_174"/>
          <p:cNvSpPr/>
          <p:nvPr/>
        </p:nvSpPr>
        <p:spPr>
          <a:xfrm>
            <a:off x="7158362" y="3011448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7" name="target_r2_c4_175"/>
          <p:cNvSpPr/>
          <p:nvPr/>
        </p:nvSpPr>
        <p:spPr>
          <a:xfrm>
            <a:off x="7158362" y="3433901"/>
            <a:ext cx="294437" cy="294437"/>
          </a:xfrm>
          <a:prstGeom prst="ellipse">
            <a:avLst/>
          </a:prstGeom>
          <a:solidFill>
            <a:srgbClr val="2F7BEA"/>
          </a:solidFill>
          <a:ln/>
        </p:spPr>
      </p:sp>
      <p:sp>
        <p:nvSpPr>
          <p:cNvPr id="118" name="panel_r1_c4_176"/>
          <p:cNvSpPr/>
          <p:nvPr/>
        </p:nvSpPr>
        <p:spPr>
          <a:xfrm>
            <a:off x="5946782" y="2069726"/>
            <a:ext cx="1544202" cy="866741"/>
          </a:xfrm>
          <a:prstGeom prst="rect">
            <a:avLst/>
          </a:prstGeom>
          <a:solidFill>
            <a:srgbClr val="1B2230"/>
          </a:solidFill>
          <a:ln w="6350">
            <a:solidFill>
              <a:srgbClr val="353A40"/>
            </a:solidFill>
            <a:prstDash val="solid"/>
          </a:ln>
        </p:spPr>
      </p:sp>
      <p:sp>
        <p:nvSpPr>
          <p:cNvPr id="119" name="hud_text_177"/>
          <p:cNvSpPr txBox="1"/>
          <p:nvPr/>
        </p:nvSpPr>
        <p:spPr>
          <a:xfrm>
            <a:off x="1282172" y="2110874"/>
            <a:ext cx="6213385" cy="784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YELLOW 48%          00:38          46% BLUE</a:t>
            </a:r>
            <a:endParaRPr lang="en-US" sz="1400" dirty="0"/>
          </a:p>
        </p:txBody>
      </p:sp>
      <p:sp>
        <p:nvSpPr>
          <p:cNvPr id="120" name="glazing_module_1_1_178"/>
          <p:cNvSpPr/>
          <p:nvPr/>
        </p:nvSpPr>
        <p:spPr>
          <a:xfrm>
            <a:off x="1300460" y="3835213"/>
            <a:ext cx="3070116" cy="1715195"/>
          </a:xfrm>
          <a:prstGeom prst="rect">
            <a:avLst/>
          </a:prstGeom>
          <a:ln w="22225">
            <a:solidFill>
              <a:srgbClr val="5FB3D4"/>
            </a:solidFill>
            <a:prstDash val="dash"/>
          </a:ln>
        </p:spPr>
      </p:sp>
      <p:sp>
        <p:nvSpPr>
          <p:cNvPr id="121" name="glazing_module_2_1_179"/>
          <p:cNvSpPr/>
          <p:nvPr/>
        </p:nvSpPr>
        <p:spPr>
          <a:xfrm>
            <a:off x="1300460" y="2083442"/>
            <a:ext cx="3070116" cy="1715195"/>
          </a:xfrm>
          <a:prstGeom prst="rect">
            <a:avLst/>
          </a:prstGeom>
          <a:ln w="22225">
            <a:solidFill>
              <a:srgbClr val="5FB3D4"/>
            </a:solidFill>
            <a:prstDash val="dash"/>
          </a:ln>
        </p:spPr>
      </p:sp>
      <p:sp>
        <p:nvSpPr>
          <p:cNvPr id="122" name="glazing_module_1_2_180"/>
          <p:cNvSpPr/>
          <p:nvPr/>
        </p:nvSpPr>
        <p:spPr>
          <a:xfrm>
            <a:off x="4407152" y="3835213"/>
            <a:ext cx="3070116" cy="1715195"/>
          </a:xfrm>
          <a:prstGeom prst="rect">
            <a:avLst/>
          </a:prstGeom>
          <a:ln w="22225">
            <a:solidFill>
              <a:srgbClr val="5FB3D4"/>
            </a:solidFill>
            <a:prstDash val="dash"/>
          </a:ln>
        </p:spPr>
      </p:sp>
      <p:sp>
        <p:nvSpPr>
          <p:cNvPr id="123" name="glazing_module_2_2_181"/>
          <p:cNvSpPr/>
          <p:nvPr/>
        </p:nvSpPr>
        <p:spPr>
          <a:xfrm>
            <a:off x="4407152" y="2083442"/>
            <a:ext cx="3070116" cy="1715195"/>
          </a:xfrm>
          <a:prstGeom prst="rect">
            <a:avLst/>
          </a:prstGeom>
          <a:ln w="22225">
            <a:solidFill>
              <a:srgbClr val="5FB3D4"/>
            </a:solidFill>
            <a:prstDash val="dash"/>
          </a:ln>
        </p:spPr>
      </p:sp>
      <p:sp>
        <p:nvSpPr>
          <p:cNvPr id="124" name="wall_sensor_left_182"/>
          <p:cNvSpPr/>
          <p:nvPr/>
        </p:nvSpPr>
        <p:spPr>
          <a:xfrm>
            <a:off x="1175918" y="1924337"/>
            <a:ext cx="128016" cy="128016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125" name="wall_sensor_right_183"/>
          <p:cNvSpPr/>
          <p:nvPr/>
        </p:nvSpPr>
        <p:spPr>
          <a:xfrm>
            <a:off x="7474306" y="1924337"/>
            <a:ext cx="128016" cy="128016"/>
          </a:xfrm>
          <a:prstGeom prst="ellipse">
            <a:avLst/>
          </a:prstGeom>
          <a:solidFill>
            <a:srgbClr val="00A7B5"/>
          </a:solidFill>
          <a:ln/>
        </p:spPr>
      </p:sp>
      <p:sp>
        <p:nvSpPr>
          <p:cNvPr id="126" name="label_hud_184"/>
          <p:cNvSpPr txBox="1"/>
          <p:nvPr/>
        </p:nvSpPr>
        <p:spPr>
          <a:xfrm>
            <a:off x="7772400" y="2320217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HUD 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430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점수 · 영역 % · 타이머</a:t>
            </a:r>
            <a:endParaRPr lang="en-US" sz="1000" dirty="0"/>
          </a:p>
        </p:txBody>
      </p:sp>
      <p:sp>
        <p:nvSpPr>
          <p:cNvPr id="127" name="label_play_area_185"/>
          <p:cNvSpPr txBox="1"/>
          <p:nvPr/>
        </p:nvSpPr>
        <p:spPr>
          <a:xfrm>
            <a:off x="7772400" y="40719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플레이 영역 3줄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원형 타깃 (노랑 · 파랑)</a:t>
            </a:r>
            <a:endParaRPr lang="en-US" sz="1000" dirty="0"/>
          </a:p>
        </p:txBody>
      </p:sp>
      <p:sp>
        <p:nvSpPr>
          <p:cNvPr id="128" name="label_glazing_186"/>
          <p:cNvSpPr txBox="1"/>
          <p:nvPr/>
        </p:nvSpPr>
        <p:spPr>
          <a:xfrm>
            <a:off x="7772400" y="310851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8F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보호 글레이징 모듈 ×4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8F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(패널 2 × 2 단위)</a:t>
            </a:r>
            <a:endParaRPr lang="en-US" sz="1000" dirty="0"/>
          </a:p>
        </p:txBody>
      </p:sp>
      <p:sp>
        <p:nvSpPr>
          <p:cNvPr id="129" name="label_wall_sensor_187"/>
          <p:cNvSpPr txBox="1"/>
          <p:nvPr/>
        </p:nvSpPr>
        <p:spPr>
          <a:xfrm>
            <a:off x="7772400" y="188776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7B5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벽면 센서 (양 끝 상단)</a:t>
            </a:r>
            <a:endParaRPr lang="en-US" sz="1000" dirty="0"/>
          </a:p>
        </p:txBody>
      </p:sp>
      <p:sp>
        <p:nvSpPr>
          <p:cNvPr id="130" name="label_kickplate_188"/>
          <p:cNvSpPr txBox="1"/>
          <p:nvPr/>
        </p:nvSpPr>
        <p:spPr>
          <a:xfrm>
            <a:off x="7772400" y="55641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하단 킥플레이트 150</a:t>
            </a:r>
            <a:endParaRPr lang="en-US" sz="1000" dirty="0"/>
          </a:p>
        </p:txBody>
      </p:sp>
      <p:sp>
        <p:nvSpPr>
          <p:cNvPr id="131" name="dim_189"/>
          <p:cNvSpPr/>
          <p:nvPr/>
        </p:nvSpPr>
        <p:spPr>
          <a:xfrm>
            <a:off x="1282172" y="1790834"/>
            <a:ext cx="6213385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132" name="dim_190"/>
          <p:cNvSpPr/>
          <p:nvPr/>
        </p:nvSpPr>
        <p:spPr>
          <a:xfrm>
            <a:off x="1282172" y="1735970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133" name="dim_191"/>
          <p:cNvSpPr/>
          <p:nvPr/>
        </p:nvSpPr>
        <p:spPr>
          <a:xfrm>
            <a:off x="7495556" y="1735970"/>
            <a:ext cx="0" cy="109728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134" name="dim_label_192"/>
          <p:cNvSpPr txBox="1"/>
          <p:nvPr/>
        </p:nvSpPr>
        <p:spPr>
          <a:xfrm>
            <a:off x="3474720" y="155309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4,854 (1,213.4 × 4)</a:t>
            </a:r>
            <a:endParaRPr lang="en-US" sz="1000" dirty="0"/>
          </a:p>
        </p:txBody>
      </p:sp>
      <p:sp>
        <p:nvSpPr>
          <p:cNvPr id="135" name="dim_193"/>
          <p:cNvSpPr/>
          <p:nvPr/>
        </p:nvSpPr>
        <p:spPr>
          <a:xfrm>
            <a:off x="868680" y="2065154"/>
            <a:ext cx="0" cy="3503542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136" name="dim_194"/>
          <p:cNvSpPr/>
          <p:nvPr/>
        </p:nvSpPr>
        <p:spPr>
          <a:xfrm>
            <a:off x="813816" y="5568696"/>
            <a:ext cx="109728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137" name="dim_195"/>
          <p:cNvSpPr/>
          <p:nvPr/>
        </p:nvSpPr>
        <p:spPr>
          <a:xfrm>
            <a:off x="813816" y="2065154"/>
            <a:ext cx="109728" cy="0"/>
          </a:xfrm>
          <a:prstGeom prst="line">
            <a:avLst/>
          </a:prstGeom>
          <a:noFill/>
          <a:ln w="9525">
            <a:solidFill>
              <a:srgbClr val="7A828C"/>
            </a:solidFill>
            <a:prstDash val="solid"/>
          </a:ln>
        </p:spPr>
      </p:sp>
      <p:sp>
        <p:nvSpPr>
          <p:cNvPr id="138" name="dim_label_196"/>
          <p:cNvSpPr txBox="1"/>
          <p:nvPr/>
        </p:nvSpPr>
        <p:spPr>
          <a:xfrm>
            <a:off x="45720" y="3634045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2,737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53A40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(684.2 × 4)</a:t>
            </a:r>
            <a:endParaRPr lang="en-US" sz="1000" dirty="0"/>
          </a:p>
        </p:txBody>
      </p:sp>
      <p:sp>
        <p:nvSpPr>
          <p:cNvPr id="139" name="caption_197"/>
          <p:cNvSpPr txBox="1"/>
          <p:nvPr/>
        </p:nvSpPr>
        <p:spPr>
          <a:xfrm>
            <a:off x="457200" y="6172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8C"/>
                </a:solidFill>
                <a:latin typeface="LINE Seed Sans KR" pitchFamily="34" charset="0"/>
                <a:ea typeface="LINE Seed Sans KR" pitchFamily="34" charset="-122"/>
                <a:cs typeface="LINE Seed Sans KR" pitchFamily="34" charset="-120"/>
              </a:rPr>
              <a:t>공간 높이 미정 — 4 × 4는 약 3.0 m 이상 필요 (150 + 2,737 + 상부 마감)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THROW 배치 평면 · 입면</dc:title>
  <dc:subject>PptxGenJS Presentation</dc:subject>
  <dc:creator>PptxGenJS</dc:creator>
  <cp:lastModifiedBy>PptxGenJS</cp:lastModifiedBy>
  <cp:revision>1</cp:revision>
  <dcterms:created xsi:type="dcterms:W3CDTF">2026-09-23T10:27:38Z</dcterms:created>
  <dcterms:modified xsi:type="dcterms:W3CDTF">2026-09-23T10:27:38Z</dcterms:modified>
</cp:coreProperties>
</file>