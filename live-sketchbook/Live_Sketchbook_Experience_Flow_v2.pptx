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a446278a-8485-0b06-32d7-12ce4bdce0cf}">
          <p14:sldIdLst>
            <p14:sldId id="256"/>
          </p14:sldIdLst>
        </p14:section>
        <p14:section name="요약" id="{f1d5b4ff-21f7-fcef-ebd6-d698f4ab79fd}">
          <p14:sldIdLst>
            <p14:sldId id="257"/>
          </p14:sldIdLst>
        </p14:section>
        <p14:section name="검토" id="{dea93831-f194-9b7f-7994-2a39f242a98b}">
          <p14:sldIdLst>
            <p14:sldId id="258"/>
          </p14:sldIdLst>
        </p14:section>
        <p14:section name="01 Drawing" id="{510cf7c5-949b-eabe-0845-16408d3bc569}">
          <p14:sldIdLst>
            <p14:sldId id="259"/>
          </p14:sldIdLst>
        </p14:section>
        <p14:section name="02 Scan" id="{4b07b914-19f4-2e9e-c34f-4a62a11db927}">
          <p14:sldIdLst>
            <p14:sldId id="260"/>
          </p14:sldIdLst>
        </p14:section>
        <p14:section name="03 Wall" id="{e6b20892-cff1-c2f6-6a82-33019b78b3a7}">
          <p14:sldIdLst>
            <p14:sldId id="261"/>
          </p14:sldIdLst>
        </p14:section>
        <p14:section name="04 Facade" id="{502f27c5-58c0-2737-201b-3941d4457fe3}">
          <p14:sldIdLst>
            <p14:sldId id="262"/>
          </p14:sldIdLst>
        </p14:section>
        <p14:section name="05 Archive" id="{7164ae49-243f-3290-4f2c-60c38b3e4556}">
          <p14:sldIdLst>
            <p14:sldId id="263"/>
          </p14:sldIdLst>
        </p14:section>
        <p14:section name="운영" id="{0a07e603-bbc1-dd85-78a9-f630f5977a34}">
          <p14:sldIdLst>
            <p14:sldId id="264"/>
          </p14:sldIdLst>
        </p14:section>
        <p14:section name="다음 단계" id="{12a61eed-f4fb-76ab-c4a5-0b0f880f787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원안(Live_Sketchbook_Experience_Flow_FIXED.pptx)의 4단계 흐름을 그대로 두고, 각 단계에 발전 제안을 붙였습니다. 수치는 모두 가정입니다.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C안은 처음 요청(도안 없이 자유롭게 그려서 아카이빙)을 지키는 안입니다. A/B는 그리기 어려워하는 아이를 위한 선택지로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제안안 근거: ① 처음 요청(도안 없이 자유롭게) ② 처리 시간과 제작 범위 ③ 배경 아이데이션 추천 조합 ④ 광장 이동 동기 + 평소 볼거리 ⑤ 하루 기록이 파사드 마감 쇼와 연결됨. 참고: 배경 아이데이션 https://claude.ai/artifact/D1egd98wfpfk7UxL8675ko · 기존 콘텐츠 연계 https://claude.ai/artifact/8Ly23dXVmzK4ApvdEsQWh9 · 쌓이는 그림 아카이브 https://claude.ai/artifact/V1VBgNDnCrYZTeZJq4ga5x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9184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5DCDC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DFE6E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17287"/>
                </a:solidFill>
              </a:rPr>
              <a:t>LIVE SKETCHBOOK  /  EXPERIENCE FLOW v2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43A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617287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17287"/>
                </a:solidFill>
              </a:rPr>
              <a:t>CONCEPT FLOW · 검토와 발전안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LIVE SKETCHBOOK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91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5DCDC1"/>
                </a:solidFill>
              </a:rPr>
              <a:t>Experience Flow v2 · 원안 검토와 발전안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FE6EB"/>
                </a:solidFill>
              </a:rPr>
              <a:t>원안 4단계를 유지하고 단계마다 발전 제안을 더함 · 보관 단계 추가 · 2026.10.19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한눈에 보기 | 원안 4단계 + 보관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위 줄은 원안, 아래 줄은 발전 방향 · 빨간 표시는 결정이 필요한 단계</a:t>
            </a:r>
            <a:endParaRPr lang="en-US" sz="1500" dirty="0"/>
          </a:p>
        </p:txBody>
      </p:sp>
      <p:sp>
        <p:nvSpPr>
          <p:cNvPr id="4" name="step-card-01"/>
          <p:cNvSpPr/>
          <p:nvPr/>
        </p:nvSpPr>
        <p:spPr>
          <a:xfrm>
            <a:off x="548640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Drawing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도안 A/B + 크레용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자유 그리기 C안 · 카드 번호</a:t>
            </a:r>
            <a:endParaRPr lang="en-US" sz="1400" dirty="0"/>
          </a:p>
        </p:txBody>
      </p:sp>
      <p:sp>
        <p:nvSpPr>
          <p:cNvPr id="12" name="decision-badge"/>
          <p:cNvSpPr txBox="1"/>
          <p:nvPr/>
        </p:nvSpPr>
        <p:spPr>
          <a:xfrm>
            <a:off x="731520" y="559612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결정 ①</a:t>
            </a:r>
            <a:endParaRPr lang="en-US" sz="1100" dirty="0"/>
          </a:p>
        </p:txBody>
      </p:sp>
      <p:sp>
        <p:nvSpPr>
          <p:cNvPr id="13" name="arrow"/>
          <p:cNvSpPr/>
          <p:nvPr/>
        </p:nvSpPr>
        <p:spPr>
          <a:xfrm>
            <a:off x="2615184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14" name="step-card-02"/>
          <p:cNvSpPr/>
          <p:nvPr/>
        </p:nvSpPr>
        <p:spPr>
          <a:xfrm>
            <a:off x="2807208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90088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02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2990088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Scan + α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99008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990088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2D/3D 변환 + 표정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0088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90088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990088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2D 우선 · 10초 표정 · 직원 확인</a:t>
            </a:r>
            <a:endParaRPr lang="en-US" sz="1400" dirty="0"/>
          </a:p>
        </p:txBody>
      </p:sp>
      <p:sp>
        <p:nvSpPr>
          <p:cNvPr id="22" name="decision-badge"/>
          <p:cNvSpPr txBox="1"/>
          <p:nvPr/>
        </p:nvSpPr>
        <p:spPr>
          <a:xfrm>
            <a:off x="2990088" y="559612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결정 ②</a:t>
            </a:r>
            <a:endParaRPr lang="en-US" sz="1100" dirty="0"/>
          </a:p>
        </p:txBody>
      </p:sp>
      <p:sp>
        <p:nvSpPr>
          <p:cNvPr id="23" name="arrow"/>
          <p:cNvSpPr/>
          <p:nvPr/>
        </p:nvSpPr>
        <p:spPr>
          <a:xfrm>
            <a:off x="4873752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24" name="step-card-03"/>
          <p:cNvSpPr/>
          <p:nvPr/>
        </p:nvSpPr>
        <p:spPr>
          <a:xfrm>
            <a:off x="5065776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48656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03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5248656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Sketchbook Wall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248656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248656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등장 + 연못/가든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248656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248656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248656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배경에 붙는 방식 · 내 그림 찾기</a:t>
            </a:r>
            <a:endParaRPr lang="en-US" sz="1400" dirty="0"/>
          </a:p>
        </p:txBody>
      </p:sp>
      <p:sp>
        <p:nvSpPr>
          <p:cNvPr id="32" name="decision-badge"/>
          <p:cNvSpPr txBox="1"/>
          <p:nvPr/>
        </p:nvSpPr>
        <p:spPr>
          <a:xfrm>
            <a:off x="5248656" y="559612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결정 ③</a:t>
            </a:r>
            <a:endParaRPr lang="en-US" sz="1100" dirty="0"/>
          </a:p>
        </p:txBody>
      </p:sp>
      <p:sp>
        <p:nvSpPr>
          <p:cNvPr id="33" name="arrow"/>
          <p:cNvSpPr/>
          <p:nvPr/>
        </p:nvSpPr>
        <p:spPr>
          <a:xfrm>
            <a:off x="7132320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34" name="step-card-04"/>
          <p:cNvSpPr/>
          <p:nvPr/>
        </p:nvSpPr>
        <p:spPr>
          <a:xfrm>
            <a:off x="7324344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07224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04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7507224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Main Facade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7507224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507224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퍼레이드 · Art/Logo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507224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07224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507224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정시 퍼레이드 + 상시 합류</a:t>
            </a:r>
            <a:endParaRPr lang="en-US" sz="1400" dirty="0"/>
          </a:p>
        </p:txBody>
      </p:sp>
      <p:sp>
        <p:nvSpPr>
          <p:cNvPr id="42" name="decision-badge"/>
          <p:cNvSpPr txBox="1"/>
          <p:nvPr/>
        </p:nvSpPr>
        <p:spPr>
          <a:xfrm>
            <a:off x="7507224" y="559612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결정 ④</a:t>
            </a:r>
            <a:endParaRPr lang="en-US" sz="1100" dirty="0"/>
          </a:p>
        </p:txBody>
      </p:sp>
      <p:sp>
        <p:nvSpPr>
          <p:cNvPr id="43" name="arrow"/>
          <p:cNvSpPr/>
          <p:nvPr/>
        </p:nvSpPr>
        <p:spPr>
          <a:xfrm>
            <a:off x="9390888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44" name="step-card-05"/>
          <p:cNvSpPr/>
          <p:nvPr/>
        </p:nvSpPr>
        <p:spPr>
          <a:xfrm>
            <a:off x="9582912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EAF5F1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65792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05</a:t>
            </a:r>
            <a:endParaRPr lang="en-US" sz="2600" dirty="0"/>
          </a:p>
        </p:txBody>
      </p:sp>
      <p:sp>
        <p:nvSpPr>
          <p:cNvPr id="46" name="chip-NEW"/>
          <p:cNvSpPr txBox="1"/>
          <p:nvPr/>
        </p:nvSpPr>
        <p:spPr>
          <a:xfrm>
            <a:off x="10817352" y="2194560"/>
            <a:ext cx="59436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NEW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765792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Archive</a:t>
            </a:r>
            <a:endParaRPr lang="en-US" sz="1700" dirty="0"/>
          </a:p>
        </p:txBody>
      </p:sp>
      <p:sp>
        <p:nvSpPr>
          <p:cNvPr id="48" name="Text 46"/>
          <p:cNvSpPr txBox="1"/>
          <p:nvPr/>
        </p:nvSpPr>
        <p:spPr>
          <a:xfrm>
            <a:off x="9765792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765792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7287"/>
                </a:solidFill>
              </a:rPr>
              <a:t>원안에 없음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765792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65792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765792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QR 보관함 · 하루 한 장 · 굿즈</a:t>
            </a:r>
            <a:endParaRPr lang="en-US" sz="1400" dirty="0"/>
          </a:p>
        </p:txBody>
      </p:sp>
      <p:sp>
        <p:nvSpPr>
          <p:cNvPr id="53" name="decision-badge"/>
          <p:cNvSpPr txBox="1"/>
          <p:nvPr/>
        </p:nvSpPr>
        <p:spPr>
          <a:xfrm>
            <a:off x="9765792" y="559612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결정 ⑤</a:t>
            </a:r>
            <a:endParaRPr lang="en-US" sz="1100" dirty="0"/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원안 검토 | 흐름은 명확, 비어 있는 곳 5가지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탄생 → 등장 → 확장의 감정선은 좋고, 운영과 보관에 빈칸이 있음</a:t>
            </a:r>
            <a:endParaRPr lang="en-US" sz="1500" dirty="0"/>
          </a:p>
        </p:txBody>
      </p:sp>
      <p:sp>
        <p:nvSpPr>
          <p:cNvPr id="4" name="good"/>
          <p:cNvSpPr/>
          <p:nvPr/>
        </p:nvSpPr>
        <p:spPr>
          <a:xfrm>
            <a:off x="548640" y="1965960"/>
            <a:ext cx="420624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3A"/>
                </a:solidFill>
              </a:rPr>
              <a:t>좋은 점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703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6243A"/>
                </a:solidFill>
              </a:rPr>
              <a:t>4단계로 단순해 아이 · 보호자 모두 흐름을 이해하기 쉬움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6243A"/>
                </a:solidFill>
              </a:rPr>
              <a:t>내 그림이 벽 → 광장으로 커지는 성취감의 흐름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6243A"/>
                </a:solidFill>
              </a:rPr>
              <a:t>기존 파사드 콘텐츠(Art · Logo)와 바로 연결</a:t>
            </a:r>
            <a:endParaRPr lang="en-US" sz="1400" dirty="0"/>
          </a:p>
        </p:txBody>
      </p:sp>
      <p:sp>
        <p:nvSpPr>
          <p:cNvPr id="7" name="gap-0"/>
          <p:cNvSpPr/>
          <p:nvPr/>
        </p:nvSpPr>
        <p:spPr>
          <a:xfrm>
            <a:off x="5029200" y="196596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0" y="212140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205740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처음 방향과 충돌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205740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“도안 없이 자유롭게”였는데 A/B 모두 가이드 도안</a:t>
            </a:r>
            <a:endParaRPr lang="en-US" sz="1300" dirty="0"/>
          </a:p>
        </p:txBody>
      </p:sp>
      <p:sp>
        <p:nvSpPr>
          <p:cNvPr id="11" name="gap-1"/>
          <p:cNvSpPr/>
          <p:nvPr/>
        </p:nvSpPr>
        <p:spPr>
          <a:xfrm>
            <a:off x="5029200" y="278892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0" y="294436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806440" y="288036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보관 단계가 없음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8036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파사드 이후 그림이 어디에 남는지 정해지지 않음</a:t>
            </a:r>
            <a:endParaRPr lang="en-US" sz="1300" dirty="0"/>
          </a:p>
        </p:txBody>
      </p:sp>
      <p:sp>
        <p:nvSpPr>
          <p:cNvPr id="15" name="gap-2"/>
          <p:cNvSpPr/>
          <p:nvPr/>
        </p:nvSpPr>
        <p:spPr>
          <a:xfrm>
            <a:off x="5029200" y="361188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376732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06440" y="370332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내 그림 찾기 장치 없음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70332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벽 · 파사드에서 내 캐릭터를 알아볼 방법</a:t>
            </a:r>
            <a:endParaRPr lang="en-US" sz="1300" dirty="0"/>
          </a:p>
        </p:txBody>
      </p:sp>
      <p:sp>
        <p:nvSpPr>
          <p:cNvPr id="19" name="gap-3"/>
          <p:cNvSpPr/>
          <p:nvPr/>
        </p:nvSpPr>
        <p:spPr>
          <a:xfrm>
            <a:off x="5029200" y="443484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12080" y="459028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452628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대기 · 처리 시간 기준 없음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52628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드로잉 시간, 스캐너 수, 등장까지 걸리는 시간</a:t>
            </a:r>
            <a:endParaRPr lang="en-US" sz="1300" dirty="0"/>
          </a:p>
        </p:txBody>
      </p:sp>
      <p:sp>
        <p:nvSpPr>
          <p:cNvPr id="23" name="gap-4"/>
          <p:cNvSpPr/>
          <p:nvPr/>
        </p:nvSpPr>
        <p:spPr>
          <a:xfrm>
            <a:off x="5029200" y="525780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12080" y="541324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534924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공개 전 확인 없음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34924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파사드에 나가기 전 직원 확인 단계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Drawing | 나만의 캐릭터 만들기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아이의 상상력에 따라 세상에 하나뿐인 캐릭터 탄생</a:t>
            </a:r>
            <a:endParaRPr lang="en-US" sz="1500" dirty="0"/>
          </a:p>
        </p:txBody>
      </p:sp>
      <p:sp>
        <p:nvSpPr>
          <p:cNvPr id="4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6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" name="chip-1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1-1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 방식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종이 + 크레용 / 점토 유료 옵션</a:t>
            </a:r>
            <a:endParaRPr lang="en-US" sz="1100" dirty="0"/>
          </a:p>
        </p:txBody>
      </p:sp>
      <p:sp>
        <p:nvSpPr>
          <p:cNvPr id="9" name="chip-1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1-2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Draw Me! 도안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A4 가이드 도안 · A안 얼굴 · 몸통 · 팔 · 다리 / B안 얼굴만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12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3" name="chip-체험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자유 그리기 C안 추가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테두리와 스캔 표시만 있는 빈 카드. “도안 없이 자유롭게” 방향을 살림</a:t>
            </a:r>
            <a:endParaRPr lang="en-US" sz="1200" dirty="0"/>
          </a:p>
        </p:txBody>
      </p:sp>
      <p:sp>
        <p:nvSpPr>
          <p:cNvPr id="16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7" name="chip-체험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‘사는 곳’ 고르기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물 · 풀 · 하늘 스티커 하나를 붙이면 벽에서 그 자리로 감</a:t>
            </a:r>
            <a:endParaRPr lang="en-US" sz="1200" dirty="0"/>
          </a:p>
        </p:txBody>
      </p:sp>
      <p:sp>
        <p:nvSpPr>
          <p:cNvPr id="20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1" name="chip-운영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카드에 번호 · QR 인쇄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내 그림 찾기와 보관함을 한 장으로 연결</a:t>
            </a:r>
            <a:endParaRPr lang="en-US" sz="1200" dirty="0"/>
          </a:p>
        </p:txBody>
      </p:sp>
      <p:sp>
        <p:nvSpPr>
          <p:cNvPr id="24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5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점토는 2차 옵션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3D 스캔 비용 · 처리 시간을 확인한 뒤 결정</a:t>
            </a:r>
            <a:endParaRPr lang="en-US" sz="1200" dirty="0"/>
          </a:p>
        </p:txBody>
      </p:sp>
      <p:sp>
        <p:nvSpPr>
          <p:cNvPr id="28" name="decision-pill"/>
          <p:cNvSpPr txBox="1"/>
          <p:nvPr/>
        </p:nvSpPr>
        <p:spPr>
          <a:xfrm>
            <a:off x="548640" y="587044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결정 ①  기본 도안 · A / B / C 중 선택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587044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7287"/>
                </a:solidFill>
              </a:rPr>
              <a:t>확인할 것  </a:t>
            </a:r>
            <a:pPr indent="0" marL="0">
              <a:buNone/>
            </a:pPr>
            <a:r>
              <a:rPr lang="en-US" sz="1200" dirty="0">
                <a:solidFill>
                  <a:srgbClr val="16243A"/>
                </a:solidFill>
              </a:rPr>
              <a:t>테이블 좌석 수 · 드로잉 시간(가정 3–5분) · A/B/C 중 기본안</a:t>
            </a:r>
            <a:endParaRPr lang="en-US" sz="12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pSp>
        <p:nvGrpSpPr>
          <p:cNvPr id="31" name="원안 그림"/>
          <p:cNvGrpSpPr/>
          <p:nvPr/>
        </p:nvGrpSpPr>
        <p:grpSpPr>
          <a:xfrm>
            <a:off x="930029" y="2331720"/>
            <a:ext cx="3443462" cy="2212848"/>
            <a:chOff x="6108192" y="2313432"/>
            <a:chExt cx="5577840" cy="3584448"/>
          </a:xfrm>
        </p:grpSpPr>
        <p:sp>
          <p:nvSpPr>
            <p:cNvPr id="32" name="Shape 18"/>
            <p:cNvSpPr/>
            <p:nvPr/>
          </p:nvSpPr>
          <p:spPr>
            <a:xfrm>
              <a:off x="6108192" y="2313432"/>
              <a:ext cx="5577840" cy="3584448"/>
            </a:xfrm>
            <a:prstGeom prst="roundRect">
              <a:avLst>
                <a:gd name="adj" fmla="val 2551"/>
              </a:avLst>
            </a:prstGeom>
            <a:solidFill>
              <a:srgbClr val="EAF5F1"/>
            </a:solidFill>
            <a:ln w="12700">
              <a:solidFill>
                <a:srgbClr val="EAF5F1">
                  <a:alpha val="0"/>
                </a:srgbClr>
              </a:solidFill>
              <a:prstDash val="solid"/>
            </a:ln>
          </p:spPr>
        </p:sp>
        <p:sp>
          <p:nvSpPr>
            <p:cNvPr id="33" name="Shape 19"/>
            <p:cNvSpPr/>
            <p:nvPr/>
          </p:nvSpPr>
          <p:spPr>
            <a:xfrm rot="-300000">
              <a:off x="6839712" y="2615184"/>
              <a:ext cx="2176272" cy="3008376"/>
            </a:xfrm>
            <a:prstGeom prst="roundRect">
              <a:avLst>
                <a:gd name="adj" fmla="val 4202"/>
              </a:avLst>
            </a:prstGeom>
            <a:solidFill>
              <a:srgbClr val="FFFFFF"/>
            </a:solidFill>
            <a:ln w="12700">
              <a:solidFill>
                <a:srgbClr val="D3E1DC"/>
              </a:solidFill>
              <a:prstDash val="solid"/>
            </a:ln>
          </p:spPr>
        </p:sp>
        <p:sp>
          <p:nvSpPr>
            <p:cNvPr id="34" name="Text 20"/>
            <p:cNvSpPr/>
            <p:nvPr/>
          </p:nvSpPr>
          <p:spPr>
            <a:xfrm>
              <a:off x="7123176" y="2862072"/>
              <a:ext cx="16459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indent="0" marL="0">
                <a:buNone/>
              </a:pPr>
              <a:r>
                <a:rPr lang="en-US" sz="1100" b="1" dirty="0">
                  <a:solidFill>
                    <a:srgbClr val="16243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Draw Me!</a:t>
              </a:r>
              <a:endParaRPr lang="en-US" sz="1100" dirty="0"/>
            </a:p>
          </p:txBody>
        </p:sp>
        <p:sp>
          <p:nvSpPr>
            <p:cNvPr id="35" name="Shape 21"/>
            <p:cNvSpPr/>
            <p:nvPr/>
          </p:nvSpPr>
          <p:spPr>
            <a:xfrm>
              <a:off x="7770571" y="3392424"/>
              <a:ext cx="594360" cy="594360"/>
            </a:xfrm>
            <a:prstGeom prst="ellipse">
              <a:avLst>
                <a:gd name="adj" fmla="val 15385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36" name="Shape 22"/>
            <p:cNvSpPr/>
            <p:nvPr/>
          </p:nvSpPr>
          <p:spPr>
            <a:xfrm rot="10800000">
              <a:off x="7675474" y="3915461"/>
              <a:ext cx="808330" cy="903427"/>
            </a:xfrm>
            <a:prstGeom prst="arc">
              <a:avLst>
                <a:gd name="adj" fmla="val 11312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37" name="Shape 23"/>
            <p:cNvSpPr/>
            <p:nvPr/>
          </p:nvSpPr>
          <p:spPr>
            <a:xfrm>
              <a:off x="7711135" y="4176979"/>
              <a:ext cx="653796" cy="118872"/>
            </a:xfrm>
            <a:prstGeom prst="line">
              <a:avLst>
                <a:gd name="adj" fmla="val 76923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38" name="Shape 24"/>
            <p:cNvSpPr/>
            <p:nvPr/>
          </p:nvSpPr>
          <p:spPr>
            <a:xfrm flipH="1">
              <a:off x="7616037" y="4676242"/>
              <a:ext cx="166421" cy="427939"/>
            </a:xfrm>
            <a:prstGeom prst="line">
              <a:avLst>
                <a:gd name="adj" fmla="val -5494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39" name="Shape 25"/>
            <p:cNvSpPr/>
            <p:nvPr/>
          </p:nvSpPr>
          <p:spPr>
            <a:xfrm>
              <a:off x="8234172" y="4676242"/>
              <a:ext cx="166421" cy="427939"/>
            </a:xfrm>
            <a:prstGeom prst="line">
              <a:avLst>
                <a:gd name="adj" fmla="val 5494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0" name="Shape 26"/>
            <p:cNvSpPr/>
            <p:nvPr/>
          </p:nvSpPr>
          <p:spPr>
            <a:xfrm>
              <a:off x="7925105" y="3653942"/>
              <a:ext cx="41605" cy="41605"/>
            </a:xfrm>
            <a:prstGeom prst="ellipse">
              <a:avLst>
                <a:gd name="adj" fmla="val 21978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41" name="Shape 27"/>
            <p:cNvSpPr/>
            <p:nvPr/>
          </p:nvSpPr>
          <p:spPr>
            <a:xfrm>
              <a:off x="8127187" y="3653942"/>
              <a:ext cx="41605" cy="41605"/>
            </a:xfrm>
            <a:prstGeom prst="ellipse">
              <a:avLst>
                <a:gd name="adj" fmla="val 21978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42" name="Shape 28"/>
            <p:cNvSpPr/>
            <p:nvPr/>
          </p:nvSpPr>
          <p:spPr>
            <a:xfrm rot="360000">
              <a:off x="9262872" y="2898648"/>
              <a:ext cx="1755648" cy="2377440"/>
            </a:xfrm>
            <a:prstGeom prst="roundRect">
              <a:avLst>
                <a:gd name="adj" fmla="val 5208"/>
              </a:avLst>
            </a:prstGeom>
            <a:solidFill>
              <a:srgbClr val="FFFFFF"/>
            </a:solidFill>
            <a:ln w="12700">
              <a:solidFill>
                <a:srgbClr val="DFE6EB"/>
              </a:solidFill>
              <a:prstDash val="solid"/>
            </a:ln>
          </p:spPr>
        </p:sp>
        <p:sp>
          <p:nvSpPr>
            <p:cNvPr id="43" name="Text 29"/>
            <p:cNvSpPr/>
            <p:nvPr/>
          </p:nvSpPr>
          <p:spPr>
            <a:xfrm>
              <a:off x="9619488" y="3136392"/>
              <a:ext cx="10058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61728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FACE</a:t>
              </a:r>
              <a:endParaRPr lang="en-US" sz="900" dirty="0"/>
            </a:p>
          </p:txBody>
        </p:sp>
        <p:sp>
          <p:nvSpPr>
            <p:cNvPr id="44" name="Shape 30"/>
            <p:cNvSpPr/>
            <p:nvPr/>
          </p:nvSpPr>
          <p:spPr>
            <a:xfrm>
              <a:off x="9637776" y="3675888"/>
              <a:ext cx="996696" cy="1042416"/>
            </a:xfrm>
            <a:prstGeom prst="ellipse">
              <a:avLst>
                <a:gd name="adj" fmla="val 9174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45" name="Text 31"/>
            <p:cNvSpPr/>
            <p:nvPr/>
          </p:nvSpPr>
          <p:spPr>
            <a:xfrm>
              <a:off x="7479792" y="5550408"/>
              <a:ext cx="2871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61728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 / B 도안 옵션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Scan | 그림 스캔하기 + α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평면의 그림이 살아 움직이는 캐릭터로 변화하는 시각적 놀라움</a:t>
            </a:r>
            <a:endParaRPr lang="en-US" sz="1500" dirty="0"/>
          </a:p>
        </p:txBody>
      </p:sp>
      <p:sp>
        <p:nvSpPr>
          <p:cNvPr id="4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02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6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" name="chip-2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2-1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스캔 · 캐릭터 변환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그림을 스캔해 2D 또는 3D 캐릭터로 변환</a:t>
            </a:r>
            <a:endParaRPr lang="en-US" sz="1100" dirty="0"/>
          </a:p>
        </p:txBody>
      </p:sp>
      <p:sp>
        <p:nvSpPr>
          <p:cNvPr id="9" name="chip-2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2-2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+ α 표정 커스터마이징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터치 모니터에서 눈 · 코 · 입 선택 · 보정 검토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12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3" name="chip-연출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2D 우선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그림 모양 그대로 휘고 흔드는 움직임. 3D 변환은 품질 · 시간 검증 뒤</a:t>
            </a:r>
            <a:endParaRPr lang="en-US" sz="1200" dirty="0"/>
          </a:p>
        </p:txBody>
      </p:sp>
      <p:sp>
        <p:nvSpPr>
          <p:cNvPr id="16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7" name="chip-체험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표정은 큰 버튼 3–4개 · 10초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건너뛰어도 기본 표정으로 진행해 줄이 길어지지 않게</a:t>
            </a:r>
            <a:endParaRPr lang="en-US" sz="1200" dirty="0"/>
          </a:p>
        </p:txBody>
      </p:sp>
      <p:sp>
        <p:nvSpPr>
          <p:cNvPr id="20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1" name="chip-운영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공개 전 직원 확인 한 번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파사드에 나가기 전 부적절한 그림 · 빈 종이 거르기</a:t>
            </a:r>
            <a:endParaRPr lang="en-US" sz="1200" dirty="0"/>
          </a:p>
        </p:txBody>
      </p:sp>
      <p:sp>
        <p:nvSpPr>
          <p:cNvPr id="24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5" name="chip-연출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스캔 순간 3초 미리보기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스캐너 옆 화면에서 그림이 ‘일어나는’ 모습을 먼저 보여 줌</a:t>
            </a:r>
            <a:endParaRPr lang="en-US" sz="1200" dirty="0"/>
          </a:p>
        </p:txBody>
      </p:sp>
      <p:sp>
        <p:nvSpPr>
          <p:cNvPr id="28" name="decision-pill"/>
          <p:cNvSpPr txBox="1"/>
          <p:nvPr/>
        </p:nvSpPr>
        <p:spPr>
          <a:xfrm>
            <a:off x="548640" y="587044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결정 ②  캐릭터 방식 · 2D / 3D 중 선택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587044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7287"/>
                </a:solidFill>
              </a:rPr>
              <a:t>확인할 것  </a:t>
            </a:r>
            <a:pPr indent="0" marL="0">
              <a:buNone/>
            </a:pPr>
            <a:r>
              <a:rPr lang="en-US" sz="1200" dirty="0">
                <a:solidFill>
                  <a:srgbClr val="16243A"/>
                </a:solidFill>
              </a:rPr>
              <a:t>스캐너 대수 · 스캔부터 벽 등장까지 시간(가정 10초 이내) · 3D 변환 방식</a:t>
            </a:r>
            <a:endParaRPr lang="en-US" sz="12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grpSp>
        <p:nvGrpSpPr>
          <p:cNvPr id="31" name="원안 그림"/>
          <p:cNvGrpSpPr/>
          <p:nvPr/>
        </p:nvGrpSpPr>
        <p:grpSpPr>
          <a:xfrm>
            <a:off x="876199" y="2331720"/>
            <a:ext cx="3551122" cy="2212848"/>
            <a:chOff x="6144768" y="2331720"/>
            <a:chExt cx="5532120" cy="3447288"/>
          </a:xfrm>
        </p:grpSpPr>
        <p:sp>
          <p:nvSpPr>
            <p:cNvPr id="32" name="Shape 18"/>
            <p:cNvSpPr/>
            <p:nvPr/>
          </p:nvSpPr>
          <p:spPr>
            <a:xfrm>
              <a:off x="6144768" y="2331720"/>
              <a:ext cx="5532120" cy="3447288"/>
            </a:xfrm>
            <a:prstGeom prst="roundRect">
              <a:avLst>
                <a:gd name="adj" fmla="val 2653"/>
              </a:avLst>
            </a:prstGeom>
            <a:solidFill>
              <a:srgbClr val="EAF1F8"/>
            </a:solidFill>
            <a:ln w="12700">
              <a:solidFill>
                <a:srgbClr val="EAF1F8">
                  <a:alpha val="0"/>
                </a:srgbClr>
              </a:solidFill>
              <a:prstDash val="solid"/>
            </a:ln>
          </p:spPr>
        </p:sp>
        <p:sp>
          <p:nvSpPr>
            <p:cNvPr id="33" name="Shape 19"/>
            <p:cNvSpPr/>
            <p:nvPr/>
          </p:nvSpPr>
          <p:spPr>
            <a:xfrm>
              <a:off x="6455664" y="2926080"/>
              <a:ext cx="1554480" cy="2139696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12700">
              <a:solidFill>
                <a:srgbClr val="DFE6EB"/>
              </a:solidFill>
              <a:prstDash val="solid"/>
            </a:ln>
          </p:spPr>
        </p:sp>
        <p:sp>
          <p:nvSpPr>
            <p:cNvPr id="34" name="Shape 20"/>
            <p:cNvSpPr/>
            <p:nvPr/>
          </p:nvSpPr>
          <p:spPr>
            <a:xfrm>
              <a:off x="6926031" y="3337560"/>
              <a:ext cx="361188" cy="361188"/>
            </a:xfrm>
            <a:prstGeom prst="ellipse">
              <a:avLst>
                <a:gd name="adj" fmla="val 25316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35" name="Shape 21"/>
            <p:cNvSpPr/>
            <p:nvPr/>
          </p:nvSpPr>
          <p:spPr>
            <a:xfrm rot="10800000">
              <a:off x="6868241" y="3655405"/>
              <a:ext cx="491216" cy="549006"/>
            </a:xfrm>
            <a:prstGeom prst="arc">
              <a:avLst>
                <a:gd name="adj" fmla="val 18615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36" name="Shape 22"/>
            <p:cNvSpPr/>
            <p:nvPr/>
          </p:nvSpPr>
          <p:spPr>
            <a:xfrm>
              <a:off x="6889913" y="3814328"/>
              <a:ext cx="397307" cy="72238"/>
            </a:xfrm>
            <a:prstGeom prst="line">
              <a:avLst>
                <a:gd name="adj" fmla="val 126582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37" name="Shape 23"/>
            <p:cNvSpPr/>
            <p:nvPr/>
          </p:nvSpPr>
          <p:spPr>
            <a:xfrm flipH="1">
              <a:off x="6832122" y="4117726"/>
              <a:ext cx="101133" cy="260055"/>
            </a:xfrm>
            <a:prstGeom prst="line">
              <a:avLst>
                <a:gd name="adj" fmla="val -9041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38" name="Shape 24"/>
            <p:cNvSpPr/>
            <p:nvPr/>
          </p:nvSpPr>
          <p:spPr>
            <a:xfrm>
              <a:off x="7207758" y="4117726"/>
              <a:ext cx="101133" cy="260055"/>
            </a:xfrm>
            <a:prstGeom prst="line">
              <a:avLst>
                <a:gd name="adj" fmla="val 9041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39" name="Shape 25"/>
            <p:cNvSpPr/>
            <p:nvPr/>
          </p:nvSpPr>
          <p:spPr>
            <a:xfrm>
              <a:off x="7019940" y="3496483"/>
              <a:ext cx="25283" cy="25283"/>
            </a:xfrm>
            <a:prstGeom prst="ellipse">
              <a:avLst>
                <a:gd name="adj" fmla="val 361666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40" name="Shape 26"/>
            <p:cNvSpPr/>
            <p:nvPr/>
          </p:nvSpPr>
          <p:spPr>
            <a:xfrm>
              <a:off x="7142744" y="3496483"/>
              <a:ext cx="25283" cy="25283"/>
            </a:xfrm>
            <a:prstGeom prst="ellipse">
              <a:avLst>
                <a:gd name="adj" fmla="val 361666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41" name="Shape 27"/>
            <p:cNvSpPr/>
            <p:nvPr/>
          </p:nvSpPr>
          <p:spPr>
            <a:xfrm>
              <a:off x="8183880" y="3813048"/>
              <a:ext cx="548640" cy="685800"/>
            </a:xfrm>
            <a:prstGeom prst="chevron">
              <a:avLst>
                <a:gd name="adj" fmla="val 16667"/>
              </a:avLst>
            </a:prstGeom>
            <a:solidFill>
              <a:srgbClr val="5DCDC1"/>
            </a:solidFill>
            <a:ln w="12700">
              <a:solidFill>
                <a:srgbClr val="5DCDC1">
                  <a:alpha val="0"/>
                </a:srgbClr>
              </a:solidFill>
              <a:prstDash val="solid"/>
            </a:ln>
          </p:spPr>
        </p:sp>
        <p:sp>
          <p:nvSpPr>
            <p:cNvPr id="42" name="Shape 28"/>
            <p:cNvSpPr/>
            <p:nvPr/>
          </p:nvSpPr>
          <p:spPr>
            <a:xfrm>
              <a:off x="8942832" y="2843784"/>
              <a:ext cx="2249424" cy="2340864"/>
            </a:xfrm>
            <a:prstGeom prst="roundRect">
              <a:avLst>
                <a:gd name="adj" fmla="val 4065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43" name="Shape 29"/>
            <p:cNvSpPr/>
            <p:nvPr/>
          </p:nvSpPr>
          <p:spPr>
            <a:xfrm>
              <a:off x="9089136" y="2999232"/>
              <a:ext cx="1947672" cy="1874520"/>
            </a:xfrm>
            <a:prstGeom prst="roundRect">
              <a:avLst>
                <a:gd name="adj" fmla="val 4878"/>
              </a:avLst>
            </a:prstGeom>
            <a:solidFill>
              <a:srgbClr val="D8EFF0"/>
            </a:solidFill>
            <a:ln w="12700">
              <a:solidFill>
                <a:srgbClr val="D8EFF0">
                  <a:alpha val="0"/>
                </a:srgbClr>
              </a:solidFill>
              <a:prstDash val="solid"/>
            </a:ln>
          </p:spPr>
        </p:sp>
        <p:sp>
          <p:nvSpPr>
            <p:cNvPr id="44" name="Shape 30"/>
            <p:cNvSpPr/>
            <p:nvPr/>
          </p:nvSpPr>
          <p:spPr>
            <a:xfrm>
              <a:off x="9792858" y="3182112"/>
              <a:ext cx="393192" cy="393192"/>
            </a:xfrm>
            <a:prstGeom prst="ellipse">
              <a:avLst>
                <a:gd name="adj" fmla="val 23256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45" name="Shape 31"/>
            <p:cNvSpPr/>
            <p:nvPr/>
          </p:nvSpPr>
          <p:spPr>
            <a:xfrm rot="10800000">
              <a:off x="9729948" y="3528121"/>
              <a:ext cx="534741" cy="597652"/>
            </a:xfrm>
            <a:prstGeom prst="arc">
              <a:avLst>
                <a:gd name="adj" fmla="val 17100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46" name="Shape 32"/>
            <p:cNvSpPr/>
            <p:nvPr/>
          </p:nvSpPr>
          <p:spPr>
            <a:xfrm>
              <a:off x="9753539" y="3701125"/>
              <a:ext cx="432511" cy="78638"/>
            </a:xfrm>
            <a:prstGeom prst="line">
              <a:avLst>
                <a:gd name="adj" fmla="val 116280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7" name="Shape 33"/>
            <p:cNvSpPr/>
            <p:nvPr/>
          </p:nvSpPr>
          <p:spPr>
            <a:xfrm flipH="1">
              <a:off x="9690628" y="4031407"/>
              <a:ext cx="110094" cy="283098"/>
            </a:xfrm>
            <a:prstGeom prst="line">
              <a:avLst>
                <a:gd name="adj" fmla="val -8305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8" name="Shape 34"/>
            <p:cNvSpPr/>
            <p:nvPr/>
          </p:nvSpPr>
          <p:spPr>
            <a:xfrm>
              <a:off x="10099548" y="4031407"/>
              <a:ext cx="110094" cy="283098"/>
            </a:xfrm>
            <a:prstGeom prst="line">
              <a:avLst>
                <a:gd name="adj" fmla="val 8305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9" name="Shape 35"/>
            <p:cNvSpPr/>
            <p:nvPr/>
          </p:nvSpPr>
          <p:spPr>
            <a:xfrm>
              <a:off x="9895088" y="3355116"/>
              <a:ext cx="27523" cy="27523"/>
            </a:xfrm>
            <a:prstGeom prst="ellipse">
              <a:avLst>
                <a:gd name="adj" fmla="val 33223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50" name="Shape 36"/>
            <p:cNvSpPr/>
            <p:nvPr/>
          </p:nvSpPr>
          <p:spPr>
            <a:xfrm>
              <a:off x="10028773" y="3355116"/>
              <a:ext cx="27523" cy="27523"/>
            </a:xfrm>
            <a:prstGeom prst="ellipse">
              <a:avLst>
                <a:gd name="adj" fmla="val 33223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51" name="Text 37"/>
            <p:cNvSpPr/>
            <p:nvPr/>
          </p:nvSpPr>
          <p:spPr>
            <a:xfrm>
              <a:off x="6784848" y="5276088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61728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SCAN</a:t>
              </a:r>
              <a:endParaRPr lang="en-US" sz="700" dirty="0"/>
            </a:p>
          </p:txBody>
        </p:sp>
        <p:sp>
          <p:nvSpPr>
            <p:cNvPr id="52" name="Text 38"/>
            <p:cNvSpPr/>
            <p:nvPr/>
          </p:nvSpPr>
          <p:spPr>
            <a:xfrm>
              <a:off x="8997696" y="5276088"/>
              <a:ext cx="2103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61728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2D / 3D + α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Sketchbook Wall | 살아 움직이는 캐릭터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내 캐릭터를 찾아보고, 다른 캐릭터와 어울리는 모습 관찰</a:t>
            </a:r>
            <a:endParaRPr lang="en-US" sz="1500" dirty="0"/>
          </a:p>
        </p:txBody>
      </p:sp>
      <p:sp>
        <p:nvSpPr>
          <p:cNvPr id="4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03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6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" name="chip-3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3-1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등장 이벤트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스캔 완료 시 메인 월에 크게 등장해 춤 · 인사</a:t>
            </a:r>
            <a:endParaRPr lang="en-US" sz="1100" dirty="0"/>
          </a:p>
        </p:txBody>
      </p:sp>
      <p:sp>
        <p:nvSpPr>
          <p:cNvPr id="9" name="chip-3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3-2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연못 / 가든 인터랙션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다른 캐릭터와 자유롭게 이동 · 터치 반응 검토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12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3" name="chip-연출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배경에 붙는 방식 정하기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톤 통일 · 빈칸 채우기 · 자라나는 배경 등에서 선택(배경 아이데이션 B1–B6)</a:t>
            </a:r>
            <a:endParaRPr lang="en-US" sz="1200" dirty="0"/>
          </a:p>
        </p:txBody>
      </p:sp>
      <p:sp>
        <p:nvSpPr>
          <p:cNvPr id="16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7" name="chip-체험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내 그림 찾기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등장할 때 카드 번호를 3초 표시, 이후 번호 · QR로 다시 부르기</a:t>
            </a:r>
            <a:endParaRPr lang="en-US" sz="1200" dirty="0"/>
          </a:p>
        </p:txBody>
      </p:sp>
      <p:sp>
        <p:nvSpPr>
          <p:cNvPr id="20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1" name="chip-체험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터치 규칙은 하나만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누르면 점프 + 소리, 여러 명이 함께 누르면 다 같이 춤</a:t>
            </a:r>
            <a:endParaRPr lang="en-US" sz="1200" dirty="0"/>
          </a:p>
        </p:txBody>
      </p:sp>
      <p:sp>
        <p:nvSpPr>
          <p:cNvPr id="24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5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화면 밀도 관리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동시 최대 수를 넘으면 오래된 그림은 아카이브로 이동</a:t>
            </a:r>
            <a:endParaRPr lang="en-US" sz="1200" dirty="0"/>
          </a:p>
        </p:txBody>
      </p:sp>
      <p:sp>
        <p:nvSpPr>
          <p:cNvPr id="28" name="decision-pill"/>
          <p:cNvSpPr txBox="1"/>
          <p:nvPr/>
        </p:nvSpPr>
        <p:spPr>
          <a:xfrm>
            <a:off x="548640" y="587044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결정 ③  배경 방식 · 3가지 중 선택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587044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7287"/>
                </a:solidFill>
              </a:rPr>
              <a:t>확인할 것  </a:t>
            </a:r>
            <a:pPr indent="0" marL="0">
              <a:buNone/>
            </a:pPr>
            <a:r>
              <a:rPr lang="en-US" sz="1200" dirty="0">
                <a:solidFill>
                  <a:srgbClr val="16243A"/>
                </a:solidFill>
              </a:rPr>
              <a:t>벽 크기 · 해상도 · 터치 센서 방식 · 동시 캐릭터 수(가정 30–40)</a:t>
            </a:r>
            <a:endParaRPr lang="en-US" sz="12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grpSp>
        <p:nvGrpSpPr>
          <p:cNvPr id="31" name="원안 그림"/>
          <p:cNvGrpSpPr/>
          <p:nvPr/>
        </p:nvGrpSpPr>
        <p:grpSpPr>
          <a:xfrm>
            <a:off x="856040" y="2331720"/>
            <a:ext cx="3591440" cy="2212848"/>
            <a:chOff x="6135624" y="2331720"/>
            <a:chExt cx="5550408" cy="3419856"/>
          </a:xfrm>
        </p:grpSpPr>
        <p:sp>
          <p:nvSpPr>
            <p:cNvPr id="32" name="Shape 18"/>
            <p:cNvSpPr/>
            <p:nvPr/>
          </p:nvSpPr>
          <p:spPr>
            <a:xfrm>
              <a:off x="6135624" y="2331720"/>
              <a:ext cx="5550408" cy="3419856"/>
            </a:xfrm>
            <a:prstGeom prst="roundRect">
              <a:avLst>
                <a:gd name="adj" fmla="val 2674"/>
              </a:avLst>
            </a:prstGeom>
            <a:solidFill>
              <a:srgbClr val="DBEEF0"/>
            </a:solidFill>
            <a:ln w="12700">
              <a:solidFill>
                <a:srgbClr val="DBEEF0">
                  <a:alpha val="0"/>
                </a:srgbClr>
              </a:solidFill>
              <a:prstDash val="solid"/>
            </a:ln>
          </p:spPr>
        </p:sp>
        <p:sp>
          <p:nvSpPr>
            <p:cNvPr id="33" name="Shape 19"/>
            <p:cNvSpPr/>
            <p:nvPr/>
          </p:nvSpPr>
          <p:spPr>
            <a:xfrm>
              <a:off x="6483096" y="3977640"/>
              <a:ext cx="4846320" cy="1353312"/>
            </a:xfrm>
            <a:prstGeom prst="ellipse">
              <a:avLst>
                <a:gd name="adj" fmla="val 6757"/>
              </a:avLst>
            </a:prstGeom>
            <a:solidFill>
              <a:srgbClr val="9BCFDA"/>
            </a:solidFill>
            <a:ln w="12700">
              <a:solidFill>
                <a:srgbClr val="9BCFDA">
                  <a:alpha val="0"/>
                </a:srgbClr>
              </a:solidFill>
              <a:prstDash val="solid"/>
            </a:ln>
          </p:spPr>
        </p:sp>
        <p:sp>
          <p:nvSpPr>
            <p:cNvPr id="34" name="Shape 20"/>
            <p:cNvSpPr/>
            <p:nvPr/>
          </p:nvSpPr>
          <p:spPr>
            <a:xfrm>
              <a:off x="7589520" y="4178808"/>
              <a:ext cx="1069848" cy="438912"/>
            </a:xfrm>
            <a:prstGeom prst="ellipse">
              <a:avLst>
                <a:gd name="adj" fmla="val 20833"/>
              </a:avLst>
            </a:prstGeom>
            <a:solidFill>
              <a:srgbClr val="7ABBA0"/>
            </a:solidFill>
            <a:ln w="12700">
              <a:solidFill>
                <a:srgbClr val="7ABBA0">
                  <a:alpha val="0"/>
                </a:srgbClr>
              </a:solidFill>
              <a:prstDash val="solid"/>
            </a:ln>
          </p:spPr>
        </p:sp>
        <p:sp>
          <p:nvSpPr>
            <p:cNvPr id="35" name="Shape 21"/>
            <p:cNvSpPr/>
            <p:nvPr/>
          </p:nvSpPr>
          <p:spPr>
            <a:xfrm>
              <a:off x="9729216" y="4462272"/>
              <a:ext cx="1051560" cy="374904"/>
            </a:xfrm>
            <a:prstGeom prst="ellipse">
              <a:avLst>
                <a:gd name="adj" fmla="val 24390"/>
              </a:avLst>
            </a:prstGeom>
            <a:solidFill>
              <a:srgbClr val="7ABBA0"/>
            </a:solidFill>
            <a:ln w="12700">
              <a:solidFill>
                <a:srgbClr val="7ABBA0">
                  <a:alpha val="0"/>
                </a:srgbClr>
              </a:solidFill>
              <a:prstDash val="solid"/>
            </a:ln>
          </p:spPr>
        </p:sp>
        <p:sp>
          <p:nvSpPr>
            <p:cNvPr id="36" name="Shape 22"/>
            <p:cNvSpPr/>
            <p:nvPr/>
          </p:nvSpPr>
          <p:spPr>
            <a:xfrm>
              <a:off x="7777886" y="2971800"/>
              <a:ext cx="502920" cy="502920"/>
            </a:xfrm>
            <a:prstGeom prst="ellipse">
              <a:avLst>
                <a:gd name="adj" fmla="val 18182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37" name="Shape 23"/>
            <p:cNvSpPr/>
            <p:nvPr/>
          </p:nvSpPr>
          <p:spPr>
            <a:xfrm rot="10800000">
              <a:off x="7697419" y="3414370"/>
              <a:ext cx="683971" cy="764438"/>
            </a:xfrm>
            <a:prstGeom prst="arc">
              <a:avLst>
                <a:gd name="adj" fmla="val 13369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38" name="Shape 24"/>
            <p:cNvSpPr/>
            <p:nvPr/>
          </p:nvSpPr>
          <p:spPr>
            <a:xfrm>
              <a:off x="7727594" y="3635654"/>
              <a:ext cx="553212" cy="100584"/>
            </a:xfrm>
            <a:prstGeom prst="line">
              <a:avLst>
                <a:gd name="adj" fmla="val 90909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39" name="Shape 25"/>
            <p:cNvSpPr/>
            <p:nvPr/>
          </p:nvSpPr>
          <p:spPr>
            <a:xfrm flipH="1">
              <a:off x="7647127" y="4058107"/>
              <a:ext cx="140818" cy="362102"/>
            </a:xfrm>
            <a:prstGeom prst="line">
              <a:avLst>
                <a:gd name="adj" fmla="val -6493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0" name="Shape 26"/>
            <p:cNvSpPr/>
            <p:nvPr/>
          </p:nvSpPr>
          <p:spPr>
            <a:xfrm>
              <a:off x="8170164" y="4058107"/>
              <a:ext cx="140818" cy="362102"/>
            </a:xfrm>
            <a:prstGeom prst="line">
              <a:avLst>
                <a:gd name="adj" fmla="val 6493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1" name="Shape 27"/>
            <p:cNvSpPr/>
            <p:nvPr/>
          </p:nvSpPr>
          <p:spPr>
            <a:xfrm>
              <a:off x="7908646" y="3193085"/>
              <a:ext cx="35204" cy="35204"/>
            </a:xfrm>
            <a:prstGeom prst="ellipse">
              <a:avLst>
                <a:gd name="adj" fmla="val 259743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42" name="Shape 28"/>
            <p:cNvSpPr/>
            <p:nvPr/>
          </p:nvSpPr>
          <p:spPr>
            <a:xfrm>
              <a:off x="8079638" y="3193085"/>
              <a:ext cx="35204" cy="35204"/>
            </a:xfrm>
            <a:prstGeom prst="ellipse">
              <a:avLst>
                <a:gd name="adj" fmla="val 259743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43" name="Shape 29"/>
            <p:cNvSpPr/>
            <p:nvPr/>
          </p:nvSpPr>
          <p:spPr>
            <a:xfrm>
              <a:off x="9522927" y="3182112"/>
              <a:ext cx="361188" cy="361188"/>
            </a:xfrm>
            <a:prstGeom prst="ellipse">
              <a:avLst>
                <a:gd name="adj" fmla="val 25316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44" name="Shape 30"/>
            <p:cNvSpPr/>
            <p:nvPr/>
          </p:nvSpPr>
          <p:spPr>
            <a:xfrm rot="10800000">
              <a:off x="9465137" y="3499957"/>
              <a:ext cx="491216" cy="549006"/>
            </a:xfrm>
            <a:prstGeom prst="arc">
              <a:avLst>
                <a:gd name="adj" fmla="val 18615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45" name="Shape 31"/>
            <p:cNvSpPr/>
            <p:nvPr/>
          </p:nvSpPr>
          <p:spPr>
            <a:xfrm>
              <a:off x="9486809" y="3658880"/>
              <a:ext cx="397307" cy="72238"/>
            </a:xfrm>
            <a:prstGeom prst="line">
              <a:avLst>
                <a:gd name="adj" fmla="val 126582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6" name="Shape 32"/>
            <p:cNvSpPr/>
            <p:nvPr/>
          </p:nvSpPr>
          <p:spPr>
            <a:xfrm flipH="1">
              <a:off x="9429018" y="3962278"/>
              <a:ext cx="101133" cy="260055"/>
            </a:xfrm>
            <a:prstGeom prst="line">
              <a:avLst>
                <a:gd name="adj" fmla="val -9041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7" name="Shape 33"/>
            <p:cNvSpPr/>
            <p:nvPr/>
          </p:nvSpPr>
          <p:spPr>
            <a:xfrm>
              <a:off x="9804654" y="3962278"/>
              <a:ext cx="101133" cy="260055"/>
            </a:xfrm>
            <a:prstGeom prst="line">
              <a:avLst>
                <a:gd name="adj" fmla="val 9041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8" name="Shape 34"/>
            <p:cNvSpPr/>
            <p:nvPr/>
          </p:nvSpPr>
          <p:spPr>
            <a:xfrm>
              <a:off x="9616836" y="3341035"/>
              <a:ext cx="25283" cy="25283"/>
            </a:xfrm>
            <a:prstGeom prst="ellipse">
              <a:avLst>
                <a:gd name="adj" fmla="val 361666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49" name="Shape 35"/>
            <p:cNvSpPr/>
            <p:nvPr/>
          </p:nvSpPr>
          <p:spPr>
            <a:xfrm>
              <a:off x="9739640" y="3341035"/>
              <a:ext cx="25283" cy="25283"/>
            </a:xfrm>
            <a:prstGeom prst="ellipse">
              <a:avLst>
                <a:gd name="adj" fmla="val 361666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50" name="Shape 36"/>
            <p:cNvSpPr/>
            <p:nvPr/>
          </p:nvSpPr>
          <p:spPr>
            <a:xfrm>
              <a:off x="6720840" y="3136392"/>
              <a:ext cx="411480" cy="420624"/>
            </a:xfrm>
            <a:prstGeom prst="ellipse">
              <a:avLst>
                <a:gd name="adj" fmla="val 22222"/>
              </a:avLst>
            </a:prstGeom>
            <a:solidFill>
              <a:srgbClr val="F3C9D8"/>
            </a:solidFill>
            <a:ln w="12700">
              <a:solidFill>
                <a:srgbClr val="F3C9D8">
                  <a:alpha val="0"/>
                </a:srgbClr>
              </a:solidFill>
              <a:prstDash val="solid"/>
            </a:ln>
          </p:spPr>
        </p:sp>
        <p:sp>
          <p:nvSpPr>
            <p:cNvPr id="51" name="Shape 37"/>
            <p:cNvSpPr/>
            <p:nvPr/>
          </p:nvSpPr>
          <p:spPr>
            <a:xfrm>
              <a:off x="10561320" y="2916936"/>
              <a:ext cx="420624" cy="411480"/>
            </a:xfrm>
            <a:prstGeom prst="ellipse">
              <a:avLst>
                <a:gd name="adj" fmla="val 22222"/>
              </a:avLst>
            </a:prstGeom>
            <a:solidFill>
              <a:srgbClr val="F2DF9A"/>
            </a:solidFill>
            <a:ln w="12700">
              <a:solidFill>
                <a:srgbClr val="F2DF9A">
                  <a:alpha val="0"/>
                </a:srgbClr>
              </a:solidFill>
              <a:prstDash val="solid"/>
            </a:ln>
          </p:spPr>
        </p:sp>
        <p:sp>
          <p:nvSpPr>
            <p:cNvPr id="52" name="Text 38"/>
            <p:cNvSpPr/>
            <p:nvPr/>
          </p:nvSpPr>
          <p:spPr>
            <a:xfrm>
              <a:off x="8357616" y="2660904"/>
              <a:ext cx="22402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16243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WELCOME!</a:t>
              </a:r>
              <a:endParaRPr lang="en-US" sz="9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Main Facade | 광장으로 확장되는 이야기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스케치북에서 탄생한 캐릭터가 대형 파사드에 등장하는 성취감과 확장감</a:t>
            </a:r>
            <a:endParaRPr lang="en-US" sz="1500" dirty="0"/>
          </a:p>
        </p:txBody>
      </p:sp>
      <p:sp>
        <p:nvSpPr>
          <p:cNvPr id="4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04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6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" name="chip-4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4-1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퍼레이드 이벤트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아이들이 만든 캐릭터들이 광장을 둘러 행진</a:t>
            </a:r>
            <a:endParaRPr lang="en-US" sz="1100" dirty="0"/>
          </a:p>
        </p:txBody>
      </p:sp>
      <p:sp>
        <p:nvSpPr>
          <p:cNvPr id="9" name="chip-4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4-2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기존 콘텐츠 연계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Art: 배경 앞을 지나며 합류 / Logo: 도형 위 · 사이 이동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12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3" name="chip-연출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정시 퍼레이드 + 상시 합류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평소엔 몇 명씩 합류, 정해진 시각에 모두 행진(예: 30분마다)</a:t>
            </a:r>
            <a:endParaRPr lang="en-US" sz="1200" dirty="0"/>
          </a:p>
        </p:txBody>
      </p:sp>
      <p:sp>
        <p:nvSpPr>
          <p:cNvPr id="16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7" name="chip-연출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Art Mode: 창 속 장면으로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동그란 창에 내 그림이 먼저 보이고, 장면에 맞는 물건이 되어 들어감</a:t>
            </a:r>
            <a:endParaRPr lang="en-US" sz="1200" dirty="0"/>
          </a:p>
        </p:txBody>
      </p:sp>
      <p:sp>
        <p:nvSpPr>
          <p:cNvPr id="20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1" name="chip-연출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Logo Mode: 패턴 조각이 됨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혜성을 타고 날아와 내려앉고, 오래된 그림은 별로 바뀜</a:t>
            </a:r>
            <a:endParaRPr lang="en-US" sz="1200" dirty="0"/>
          </a:p>
        </p:txBody>
      </p:sp>
      <p:sp>
        <p:nvSpPr>
          <p:cNvPr id="24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5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스케치북 → 광장 안내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“○시에 광장에서 만나요”를 카드 · 사이니지로 안내</a:t>
            </a:r>
            <a:endParaRPr lang="en-US" sz="1200" dirty="0"/>
          </a:p>
        </p:txBody>
      </p:sp>
      <p:sp>
        <p:nvSpPr>
          <p:cNvPr id="28" name="decision-pill"/>
          <p:cNvSpPr txBox="1"/>
          <p:nvPr/>
        </p:nvSpPr>
        <p:spPr>
          <a:xfrm>
            <a:off x="548640" y="587044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결정 ④  퍼레이드 운영 · 3가지 중 선택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587044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7287"/>
                </a:solidFill>
              </a:rPr>
              <a:t>확인할 것  </a:t>
            </a:r>
            <a:pPr indent="0" marL="0">
              <a:buNone/>
            </a:pPr>
            <a:r>
              <a:rPr lang="en-US" sz="1200" dirty="0">
                <a:solidFill>
                  <a:srgbClr val="16243A"/>
                </a:solidFill>
              </a:rPr>
              <a:t>파사드 해상도 · 비율 · 기존 영상 원본 형식(실시간 합성 가능 여부)</a:t>
            </a:r>
            <a:endParaRPr lang="en-US" sz="12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grpSp>
        <p:nvGrpSpPr>
          <p:cNvPr id="31" name="원안 그림"/>
          <p:cNvGrpSpPr/>
          <p:nvPr/>
        </p:nvGrpSpPr>
        <p:grpSpPr>
          <a:xfrm>
            <a:off x="867395" y="2331720"/>
            <a:ext cx="3568730" cy="2212848"/>
            <a:chOff x="6135624" y="2304288"/>
            <a:chExt cx="5559552" cy="3447288"/>
          </a:xfrm>
        </p:grpSpPr>
        <p:sp>
          <p:nvSpPr>
            <p:cNvPr id="32" name="Shape 18"/>
            <p:cNvSpPr/>
            <p:nvPr/>
          </p:nvSpPr>
          <p:spPr>
            <a:xfrm>
              <a:off x="6135624" y="2304288"/>
              <a:ext cx="5559552" cy="3447288"/>
            </a:xfrm>
            <a:prstGeom prst="roundRect">
              <a:avLst>
                <a:gd name="adj" fmla="val 2653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33" name="Shape 19"/>
            <p:cNvSpPr/>
            <p:nvPr/>
          </p:nvSpPr>
          <p:spPr>
            <a:xfrm>
              <a:off x="6355080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2A455B"/>
            </a:solidFill>
            <a:ln w="12700">
              <a:solidFill>
                <a:srgbClr val="2A455B">
                  <a:alpha val="0"/>
                </a:srgbClr>
              </a:solidFill>
              <a:prstDash val="solid"/>
            </a:ln>
          </p:spPr>
        </p:sp>
        <p:sp>
          <p:nvSpPr>
            <p:cNvPr id="34" name="Shape 20"/>
            <p:cNvSpPr/>
            <p:nvPr/>
          </p:nvSpPr>
          <p:spPr>
            <a:xfrm>
              <a:off x="7196328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38526B"/>
            </a:solidFill>
            <a:ln w="12700">
              <a:solidFill>
                <a:srgbClr val="38526B">
                  <a:alpha val="0"/>
                </a:srgbClr>
              </a:solidFill>
              <a:prstDash val="solid"/>
            </a:ln>
          </p:spPr>
        </p:sp>
        <p:sp>
          <p:nvSpPr>
            <p:cNvPr id="35" name="Shape 21"/>
            <p:cNvSpPr/>
            <p:nvPr/>
          </p:nvSpPr>
          <p:spPr>
            <a:xfrm>
              <a:off x="8037576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2A455B"/>
            </a:solidFill>
            <a:ln w="12700">
              <a:solidFill>
                <a:srgbClr val="2A455B">
                  <a:alpha val="0"/>
                </a:srgbClr>
              </a:solidFill>
              <a:prstDash val="solid"/>
            </a:ln>
          </p:spPr>
        </p:sp>
        <p:sp>
          <p:nvSpPr>
            <p:cNvPr id="36" name="Shape 22"/>
            <p:cNvSpPr/>
            <p:nvPr/>
          </p:nvSpPr>
          <p:spPr>
            <a:xfrm>
              <a:off x="8878824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38526B"/>
            </a:solidFill>
            <a:ln w="12700">
              <a:solidFill>
                <a:srgbClr val="38526B">
                  <a:alpha val="0"/>
                </a:srgbClr>
              </a:solidFill>
              <a:prstDash val="solid"/>
            </a:ln>
          </p:spPr>
        </p:sp>
        <p:sp>
          <p:nvSpPr>
            <p:cNvPr id="37" name="Shape 23"/>
            <p:cNvSpPr/>
            <p:nvPr/>
          </p:nvSpPr>
          <p:spPr>
            <a:xfrm>
              <a:off x="9720072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2A455B"/>
            </a:solidFill>
            <a:ln w="12700">
              <a:solidFill>
                <a:srgbClr val="2A455B">
                  <a:alpha val="0"/>
                </a:srgbClr>
              </a:solidFill>
              <a:prstDash val="solid"/>
            </a:ln>
          </p:spPr>
        </p:sp>
        <p:sp>
          <p:nvSpPr>
            <p:cNvPr id="38" name="Shape 24"/>
            <p:cNvSpPr/>
            <p:nvPr/>
          </p:nvSpPr>
          <p:spPr>
            <a:xfrm>
              <a:off x="10561320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38526B"/>
            </a:solidFill>
            <a:ln w="12700">
              <a:solidFill>
                <a:srgbClr val="38526B">
                  <a:alpha val="0"/>
                </a:srgbClr>
              </a:solidFill>
              <a:prstDash val="solid"/>
            </a:ln>
          </p:spPr>
        </p:sp>
        <p:sp>
          <p:nvSpPr>
            <p:cNvPr id="39" name="Shape 25"/>
            <p:cNvSpPr/>
            <p:nvPr/>
          </p:nvSpPr>
          <p:spPr>
            <a:xfrm>
              <a:off x="6565392" y="4690872"/>
              <a:ext cx="4709160" cy="512064"/>
            </a:xfrm>
            <a:prstGeom prst="ellipse">
              <a:avLst>
                <a:gd name="adj" fmla="val 17857"/>
              </a:avLst>
            </a:prstGeom>
            <a:solidFill>
              <a:srgbClr val="60778A"/>
            </a:solidFill>
            <a:ln w="12700">
              <a:solidFill>
                <a:srgbClr val="60778A">
                  <a:alpha val="0"/>
                </a:srgbClr>
              </a:solidFill>
              <a:prstDash val="solid"/>
            </a:ln>
          </p:spPr>
        </p:sp>
        <p:sp>
          <p:nvSpPr>
            <p:cNvPr id="40" name="Shape 26"/>
            <p:cNvSpPr/>
            <p:nvPr/>
          </p:nvSpPr>
          <p:spPr>
            <a:xfrm>
              <a:off x="7037588" y="3858768"/>
              <a:ext cx="338328" cy="338328"/>
            </a:xfrm>
            <a:prstGeom prst="ellipse">
              <a:avLst>
                <a:gd name="adj" fmla="val 27027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41" name="Shape 27"/>
            <p:cNvSpPr/>
            <p:nvPr/>
          </p:nvSpPr>
          <p:spPr>
            <a:xfrm rot="10800000">
              <a:off x="6983456" y="4156497"/>
              <a:ext cx="460126" cy="514259"/>
            </a:xfrm>
            <a:prstGeom prst="arc">
              <a:avLst>
                <a:gd name="adj" fmla="val 19873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42" name="Shape 28"/>
            <p:cNvSpPr/>
            <p:nvPr/>
          </p:nvSpPr>
          <p:spPr>
            <a:xfrm>
              <a:off x="7003755" y="4305361"/>
              <a:ext cx="372161" cy="67666"/>
            </a:xfrm>
            <a:prstGeom prst="line">
              <a:avLst>
                <a:gd name="adj" fmla="val 135134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3" name="Shape 29"/>
            <p:cNvSpPr/>
            <p:nvPr/>
          </p:nvSpPr>
          <p:spPr>
            <a:xfrm flipH="1">
              <a:off x="6949623" y="4589556"/>
              <a:ext cx="94732" cy="243596"/>
            </a:xfrm>
            <a:prstGeom prst="line">
              <a:avLst>
                <a:gd name="adj" fmla="val -9652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4" name="Shape 30"/>
            <p:cNvSpPr/>
            <p:nvPr/>
          </p:nvSpPr>
          <p:spPr>
            <a:xfrm>
              <a:off x="7301484" y="4589556"/>
              <a:ext cx="94732" cy="243596"/>
            </a:xfrm>
            <a:prstGeom prst="line">
              <a:avLst>
                <a:gd name="adj" fmla="val 9652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45" name="Shape 31"/>
            <p:cNvSpPr/>
            <p:nvPr/>
          </p:nvSpPr>
          <p:spPr>
            <a:xfrm>
              <a:off x="7125553" y="4007632"/>
              <a:ext cx="23683" cy="23683"/>
            </a:xfrm>
            <a:prstGeom prst="ellipse">
              <a:avLst>
                <a:gd name="adj" fmla="val 386100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46" name="Shape 32"/>
            <p:cNvSpPr/>
            <p:nvPr/>
          </p:nvSpPr>
          <p:spPr>
            <a:xfrm>
              <a:off x="7240585" y="4007632"/>
              <a:ext cx="23683" cy="23683"/>
            </a:xfrm>
            <a:prstGeom prst="ellipse">
              <a:avLst>
                <a:gd name="adj" fmla="val 386100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47" name="Shape 33"/>
            <p:cNvSpPr/>
            <p:nvPr/>
          </p:nvSpPr>
          <p:spPr>
            <a:xfrm>
              <a:off x="8524403" y="3685032"/>
              <a:ext cx="384048" cy="384048"/>
            </a:xfrm>
            <a:prstGeom prst="ellipse">
              <a:avLst>
                <a:gd name="adj" fmla="val 23810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48" name="Shape 34"/>
            <p:cNvSpPr/>
            <p:nvPr/>
          </p:nvSpPr>
          <p:spPr>
            <a:xfrm rot="10800000">
              <a:off x="8462955" y="4022994"/>
              <a:ext cx="522305" cy="583753"/>
            </a:xfrm>
            <a:prstGeom prst="arc">
              <a:avLst>
                <a:gd name="adj" fmla="val 17507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49" name="Shape 35"/>
            <p:cNvSpPr/>
            <p:nvPr/>
          </p:nvSpPr>
          <p:spPr>
            <a:xfrm>
              <a:off x="8485998" y="4191975"/>
              <a:ext cx="422453" cy="76810"/>
            </a:xfrm>
            <a:prstGeom prst="line">
              <a:avLst>
                <a:gd name="adj" fmla="val 119047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50" name="Shape 36"/>
            <p:cNvSpPr/>
            <p:nvPr/>
          </p:nvSpPr>
          <p:spPr>
            <a:xfrm flipH="1">
              <a:off x="8424551" y="4514576"/>
              <a:ext cx="107533" cy="276515"/>
            </a:xfrm>
            <a:prstGeom prst="line">
              <a:avLst>
                <a:gd name="adj" fmla="val -85034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51" name="Shape 37"/>
            <p:cNvSpPr/>
            <p:nvPr/>
          </p:nvSpPr>
          <p:spPr>
            <a:xfrm>
              <a:off x="8823960" y="4514576"/>
              <a:ext cx="107533" cy="276515"/>
            </a:xfrm>
            <a:prstGeom prst="line">
              <a:avLst>
                <a:gd name="adj" fmla="val 85034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52" name="Shape 38"/>
            <p:cNvSpPr/>
            <p:nvPr/>
          </p:nvSpPr>
          <p:spPr>
            <a:xfrm>
              <a:off x="8624255" y="3854013"/>
              <a:ext cx="26883" cy="26883"/>
            </a:xfrm>
            <a:prstGeom prst="ellipse">
              <a:avLst>
                <a:gd name="adj" fmla="val 34014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53" name="Shape 39"/>
            <p:cNvSpPr/>
            <p:nvPr/>
          </p:nvSpPr>
          <p:spPr>
            <a:xfrm>
              <a:off x="8754831" y="3854013"/>
              <a:ext cx="26883" cy="26883"/>
            </a:xfrm>
            <a:prstGeom prst="ellipse">
              <a:avLst>
                <a:gd name="adj" fmla="val 34014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54" name="Shape 40"/>
            <p:cNvSpPr/>
            <p:nvPr/>
          </p:nvSpPr>
          <p:spPr>
            <a:xfrm>
              <a:off x="10134112" y="3840480"/>
              <a:ext cx="333756" cy="333756"/>
            </a:xfrm>
            <a:prstGeom prst="ellipse">
              <a:avLst>
                <a:gd name="adj" fmla="val 27397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55" name="Shape 41"/>
            <p:cNvSpPr/>
            <p:nvPr/>
          </p:nvSpPr>
          <p:spPr>
            <a:xfrm rot="10800000">
              <a:off x="10080711" y="4134185"/>
              <a:ext cx="453908" cy="507309"/>
            </a:xfrm>
            <a:prstGeom prst="arc">
              <a:avLst>
                <a:gd name="adj" fmla="val 20145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56" name="Shape 42"/>
            <p:cNvSpPr/>
            <p:nvPr/>
          </p:nvSpPr>
          <p:spPr>
            <a:xfrm>
              <a:off x="10100737" y="4281038"/>
              <a:ext cx="367132" cy="66751"/>
            </a:xfrm>
            <a:prstGeom prst="line">
              <a:avLst>
                <a:gd name="adj" fmla="val 136987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57" name="Shape 43"/>
            <p:cNvSpPr/>
            <p:nvPr/>
          </p:nvSpPr>
          <p:spPr>
            <a:xfrm flipH="1">
              <a:off x="10047335" y="4561393"/>
              <a:ext cx="93452" cy="240304"/>
            </a:xfrm>
            <a:prstGeom prst="line">
              <a:avLst>
                <a:gd name="adj" fmla="val -97847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58" name="Shape 44"/>
            <p:cNvSpPr/>
            <p:nvPr/>
          </p:nvSpPr>
          <p:spPr>
            <a:xfrm>
              <a:off x="10394442" y="4561393"/>
              <a:ext cx="93452" cy="240304"/>
            </a:xfrm>
            <a:prstGeom prst="line">
              <a:avLst>
                <a:gd name="adj" fmla="val 97847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59" name="Shape 45"/>
            <p:cNvSpPr/>
            <p:nvPr/>
          </p:nvSpPr>
          <p:spPr>
            <a:xfrm>
              <a:off x="10220889" y="3987333"/>
              <a:ext cx="23363" cy="23363"/>
            </a:xfrm>
            <a:prstGeom prst="ellipse">
              <a:avLst>
                <a:gd name="adj" fmla="val 391388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60" name="Shape 46"/>
            <p:cNvSpPr/>
            <p:nvPr/>
          </p:nvSpPr>
          <p:spPr>
            <a:xfrm>
              <a:off x="10334366" y="3987333"/>
              <a:ext cx="23363" cy="23363"/>
            </a:xfrm>
            <a:prstGeom prst="ellipse">
              <a:avLst>
                <a:gd name="adj" fmla="val 391388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61" name="Text 47"/>
            <p:cNvSpPr/>
            <p:nvPr/>
          </p:nvSpPr>
          <p:spPr>
            <a:xfrm>
              <a:off x="6885432" y="2779776"/>
              <a:ext cx="4078224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ART MODE  /  LOGO MODE</a:t>
              </a:r>
              <a:endParaRPr lang="en-US" sz="800" dirty="0"/>
            </a:p>
          </p:txBody>
        </p:sp>
        <p:sp>
          <p:nvSpPr>
            <p:cNvPr id="62" name="Text 48"/>
            <p:cNvSpPr/>
            <p:nvPr/>
          </p:nvSpPr>
          <p:spPr>
            <a:xfrm>
              <a:off x="7333488" y="5394960"/>
              <a:ext cx="31089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61728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CHARACTER PARADE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Archive | 체험 뒤에도 남는 내 캐릭터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파사드 이후 비어 있던 단계를 새로 제안</a:t>
            </a:r>
            <a:endParaRPr lang="en-US" sz="1500" dirty="0"/>
          </a:p>
        </p:txBody>
      </p:sp>
      <p:sp>
        <p:nvSpPr>
          <p:cNvPr id="4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05</a:t>
            </a:r>
            <a:endParaRPr lang="en-US" sz="3600" dirty="0"/>
          </a:p>
        </p:txBody>
      </p:sp>
      <p:sp>
        <p:nvSpPr>
          <p:cNvPr id="5" name="original"/>
          <p:cNvSpPr/>
          <p:nvPr/>
        </p:nvSpPr>
        <p:spPr>
          <a:xfrm>
            <a:off x="548640" y="1965960"/>
            <a:ext cx="420624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원안에는 파사드 이후 단계가 없습니다. 그림이 체험 뒤에 어디에 남는지를 새 단계로 제안합니다.</a:t>
            </a:r>
            <a:endParaRPr lang="en-US" sz="1500" dirty="0"/>
          </a:p>
        </p:txBody>
      </p:sp>
      <p:sp>
        <p:nvSpPr>
          <p:cNvPr id="8" name="chip-NEW"/>
          <p:cNvSpPr txBox="1"/>
          <p:nvPr/>
        </p:nvSpPr>
        <p:spPr>
          <a:xfrm>
            <a:off x="822960" y="4297680"/>
            <a:ext cx="59436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NEW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10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1" name="chip-체험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QR 개인 보관함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카드 QR로 내 캐릭터가 움직이는 영상 · 이미지 받기</a:t>
            </a:r>
            <a:endParaRPr lang="en-US" sz="1200" dirty="0"/>
          </a:p>
        </p:txBody>
      </p:sp>
      <p:sp>
        <p:nvSpPr>
          <p:cNvPr id="14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5" name="chip-연출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하루 한 장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그날 그림이 모인 벽을 시간대별로 한 장씩 보관, 날짜 포스터로</a:t>
            </a:r>
            <a:endParaRPr lang="en-US" sz="1200" dirty="0"/>
          </a:p>
        </p:txBody>
      </p:sp>
      <p:sp>
        <p:nvSpPr>
          <p:cNvPr id="18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9" name="chip-체험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굿즈 옵션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뱃지 · 티셔츠 등 유료 현장 출력</a:t>
            </a:r>
            <a:endParaRPr lang="en-US" sz="1200" dirty="0"/>
          </a:p>
        </p:txBody>
      </p:sp>
      <p:sp>
        <p:nvSpPr>
          <p:cNvPr id="22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3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보관 기간 · 개인정보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이름 없이 번호로 관리, 보관 기간(가정 30일) 정하기</a:t>
            </a:r>
            <a:endParaRPr lang="en-US" sz="1200" dirty="0"/>
          </a:p>
        </p:txBody>
      </p:sp>
      <p:sp>
        <p:nvSpPr>
          <p:cNvPr id="26" name="decision-pill"/>
          <p:cNvSpPr txBox="1"/>
          <p:nvPr/>
        </p:nvSpPr>
        <p:spPr>
          <a:xfrm>
            <a:off x="548640" y="587044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결정 ⑤  보관 범위 · 3가지 중 선택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587044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7287"/>
                </a:solidFill>
              </a:rPr>
              <a:t>확인할 것  </a:t>
            </a:r>
            <a:pPr indent="0" marL="0">
              <a:buNone/>
            </a:pPr>
            <a:r>
              <a:rPr lang="en-US" sz="1200" dirty="0">
                <a:solidFill>
                  <a:srgbClr val="16243A"/>
                </a:solidFill>
              </a:rPr>
              <a:t>QR 보관함 플랫폼 · 출력 장비 · 개인정보 처리 기준</a:t>
            </a:r>
            <a:endParaRPr lang="en-US" sz="12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운영 기준 | 정해야 할 숫자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아래 값은 모두 가정이며 현장 테스트로 정해야 합니다</a:t>
            </a:r>
            <a:endParaRPr lang="en-US" sz="1500" dirty="0"/>
          </a:p>
        </p:txBody>
      </p:sp>
      <p:graphicFrame>
        <p:nvGraphicFramePr>
          <p:cNvPr id="4" name="op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12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제안 기준(가정)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왜 필요한가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드로잉 시간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3–5분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테이블 회전율과 대기 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스캔 → 벽 등장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10초 이내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기다리는 동안 흥미가 떨어지지 않게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벽 동시 캐릭터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30–40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내 그림을 찾을 수 있는 밀도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퍼레이드 주기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30분마다 3–5분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광장으로 이동할 이유와 시간 약속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보관함 보관 기간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30일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개인정보 · 저장 비용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ops-example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17287"/>
                </a:solidFill>
              </a:rPr>
              <a:t>예: 테이블 8석 × 4분이면 시간당 약 120장. 스캐너 1대가 장당 30초면 시간당 120장으로 맞물림(모두 가정 계산).</a:t>
            </a:r>
            <a:endParaRPr lang="en-US" sz="1400" dirty="0"/>
          </a:p>
        </p:txBody>
      </p:sp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결정이 필요한 것 | 5가지 중 하나씩 선택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초록 테두리는 이 문서의 제안안 · 회의에서 □에 체크해 결정</a:t>
            </a:r>
            <a:endParaRPr lang="en-US" sz="1500" dirty="0"/>
          </a:p>
        </p:txBody>
      </p:sp>
      <p:sp>
        <p:nvSpPr>
          <p:cNvPr id="4" name="decision-no"/>
          <p:cNvSpPr txBox="1"/>
          <p:nvPr/>
        </p:nvSpPr>
        <p:spPr>
          <a:xfrm>
            <a:off x="548640" y="2029968"/>
            <a:ext cx="457200" cy="457200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98424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기본 도안</a:t>
            </a:r>
            <a:endParaRPr lang="en-US" sz="1700" dirty="0"/>
          </a:p>
        </p:txBody>
      </p:sp>
      <p:sp>
        <p:nvSpPr>
          <p:cNvPr id="6" name="option-0-0"/>
          <p:cNvSpPr/>
          <p:nvPr/>
        </p:nvSpPr>
        <p:spPr>
          <a:xfrm>
            <a:off x="2971800" y="187452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" name="checkbox"/>
          <p:cNvSpPr/>
          <p:nvPr/>
        </p:nvSpPr>
        <p:spPr>
          <a:xfrm>
            <a:off x="3108960" y="212140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7288" y="1947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A안 전신 가이드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22768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얼굴 · 몸통 · 팔 · 다리</a:t>
            </a:r>
            <a:endParaRPr lang="en-US" sz="1100" dirty="0"/>
          </a:p>
        </p:txBody>
      </p:sp>
      <p:sp>
        <p:nvSpPr>
          <p:cNvPr id="10" name="option-0-1"/>
          <p:cNvSpPr/>
          <p:nvPr/>
        </p:nvSpPr>
        <p:spPr>
          <a:xfrm>
            <a:off x="5897880" y="187452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1" name="checkbox"/>
          <p:cNvSpPr/>
          <p:nvPr/>
        </p:nvSpPr>
        <p:spPr>
          <a:xfrm>
            <a:off x="6035040" y="212140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73368" y="1947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B안 얼굴만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373368" y="22768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심플 가이드</a:t>
            </a:r>
            <a:endParaRPr lang="en-US" sz="1100" dirty="0"/>
          </a:p>
        </p:txBody>
      </p:sp>
      <p:sp>
        <p:nvSpPr>
          <p:cNvPr id="14" name="option-0-2"/>
          <p:cNvSpPr/>
          <p:nvPr/>
        </p:nvSpPr>
        <p:spPr>
          <a:xfrm>
            <a:off x="8823960" y="187452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EAF5F1"/>
          </a:solidFill>
          <a:ln w="25400">
            <a:solidFill>
              <a:srgbClr val="2B8C83"/>
            </a:solidFill>
            <a:prstDash val="solid"/>
          </a:ln>
        </p:spPr>
      </p:sp>
      <p:sp>
        <p:nvSpPr>
          <p:cNvPr id="15" name="checkbox"/>
          <p:cNvSpPr/>
          <p:nvPr/>
        </p:nvSpPr>
        <p:spPr>
          <a:xfrm>
            <a:off x="8961120" y="212140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2B8C8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99448" y="19476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C안 자유 그리기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299448" y="22768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“도안 없이” 처음 방향</a:t>
            </a:r>
            <a:endParaRPr lang="en-US" sz="1100" dirty="0"/>
          </a:p>
        </p:txBody>
      </p:sp>
      <p:sp>
        <p:nvSpPr>
          <p:cNvPr id="18" name="chip-제안"/>
          <p:cNvSpPr txBox="1"/>
          <p:nvPr/>
        </p:nvSpPr>
        <p:spPr>
          <a:xfrm>
            <a:off x="10954512" y="196596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제안</a:t>
            </a:r>
            <a:endParaRPr lang="en-US" sz="1100" dirty="0"/>
          </a:p>
        </p:txBody>
      </p:sp>
      <p:sp>
        <p:nvSpPr>
          <p:cNvPr id="19" name="decision-no"/>
          <p:cNvSpPr txBox="1"/>
          <p:nvPr/>
        </p:nvSpPr>
        <p:spPr>
          <a:xfrm>
            <a:off x="548640" y="2898648"/>
            <a:ext cx="457200" cy="457200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28529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캐릭터 방식</a:t>
            </a:r>
            <a:endParaRPr lang="en-US" sz="1700" dirty="0"/>
          </a:p>
        </p:txBody>
      </p:sp>
      <p:sp>
        <p:nvSpPr>
          <p:cNvPr id="21" name="option-1-0"/>
          <p:cNvSpPr/>
          <p:nvPr/>
        </p:nvSpPr>
        <p:spPr>
          <a:xfrm>
            <a:off x="2971800" y="274320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EAF5F1"/>
          </a:solidFill>
          <a:ln w="25400">
            <a:solidFill>
              <a:srgbClr val="2B8C83"/>
            </a:solidFill>
            <a:prstDash val="solid"/>
          </a:ln>
        </p:spPr>
      </p:sp>
      <p:sp>
        <p:nvSpPr>
          <p:cNvPr id="22" name="checkbox"/>
          <p:cNvSpPr/>
          <p:nvPr/>
        </p:nvSpPr>
        <p:spPr>
          <a:xfrm>
            <a:off x="3108960" y="299008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2B8C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47288" y="28163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2D 휘기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447288" y="31455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그림 모양 그대로 움직임</a:t>
            </a:r>
            <a:endParaRPr lang="en-US" sz="1100" dirty="0"/>
          </a:p>
        </p:txBody>
      </p:sp>
      <p:sp>
        <p:nvSpPr>
          <p:cNvPr id="25" name="chip-제안"/>
          <p:cNvSpPr txBox="1"/>
          <p:nvPr/>
        </p:nvSpPr>
        <p:spPr>
          <a:xfrm>
            <a:off x="5102352" y="283464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제안</a:t>
            </a:r>
            <a:endParaRPr lang="en-US" sz="1100" dirty="0"/>
          </a:p>
        </p:txBody>
      </p:sp>
      <p:sp>
        <p:nvSpPr>
          <p:cNvPr id="26" name="option-1-1"/>
          <p:cNvSpPr/>
          <p:nvPr/>
        </p:nvSpPr>
        <p:spPr>
          <a:xfrm>
            <a:off x="5897880" y="274320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7" name="checkbox"/>
          <p:cNvSpPr/>
          <p:nvPr/>
        </p:nvSpPr>
        <p:spPr>
          <a:xfrm>
            <a:off x="6035040" y="299008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73368" y="281635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3D 변환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373368" y="31455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품질 · 시간 검증 필요</a:t>
            </a:r>
            <a:endParaRPr lang="en-US" sz="1100" dirty="0"/>
          </a:p>
        </p:txBody>
      </p:sp>
      <p:sp>
        <p:nvSpPr>
          <p:cNvPr id="30" name="option-1-2"/>
          <p:cNvSpPr/>
          <p:nvPr/>
        </p:nvSpPr>
        <p:spPr>
          <a:xfrm>
            <a:off x="8823960" y="274320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1" name="checkbox"/>
          <p:cNvSpPr/>
          <p:nvPr/>
        </p:nvSpPr>
        <p:spPr>
          <a:xfrm>
            <a:off x="8961120" y="299008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99448" y="281635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2D 시작 → 3D 추가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299448" y="31455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단계적 도입</a:t>
            </a:r>
            <a:endParaRPr lang="en-US" sz="1100" dirty="0"/>
          </a:p>
        </p:txBody>
      </p:sp>
      <p:sp>
        <p:nvSpPr>
          <p:cNvPr id="34" name="decision-no"/>
          <p:cNvSpPr txBox="1"/>
          <p:nvPr/>
        </p:nvSpPr>
        <p:spPr>
          <a:xfrm>
            <a:off x="548640" y="3767328"/>
            <a:ext cx="457200" cy="457200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37216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배경 방식</a:t>
            </a:r>
            <a:endParaRPr lang="en-US" sz="1700" dirty="0"/>
          </a:p>
        </p:txBody>
      </p:sp>
      <p:sp>
        <p:nvSpPr>
          <p:cNvPr id="36" name="option-2-0"/>
          <p:cNvSpPr/>
          <p:nvPr/>
        </p:nvSpPr>
        <p:spPr>
          <a:xfrm>
            <a:off x="2971800" y="361188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EAF5F1"/>
          </a:solidFill>
          <a:ln w="25400">
            <a:solidFill>
              <a:srgbClr val="2B8C83"/>
            </a:solidFill>
            <a:prstDash val="solid"/>
          </a:ln>
        </p:spPr>
      </p:sp>
      <p:sp>
        <p:nvSpPr>
          <p:cNvPr id="37" name="checkbox"/>
          <p:cNvSpPr/>
          <p:nvPr/>
        </p:nvSpPr>
        <p:spPr>
          <a:xfrm>
            <a:off x="3108960" y="385876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2B8C8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447288" y="36850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톤 통일 + 빈칸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447288" y="40142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B4 + B1 (배경 아이데이션)</a:t>
            </a:r>
            <a:endParaRPr lang="en-US" sz="1100" dirty="0"/>
          </a:p>
        </p:txBody>
      </p:sp>
      <p:sp>
        <p:nvSpPr>
          <p:cNvPr id="40" name="chip-제안"/>
          <p:cNvSpPr txBox="1"/>
          <p:nvPr/>
        </p:nvSpPr>
        <p:spPr>
          <a:xfrm>
            <a:off x="5102352" y="370332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제안</a:t>
            </a:r>
            <a:endParaRPr lang="en-US" sz="1100" dirty="0"/>
          </a:p>
        </p:txBody>
      </p:sp>
      <p:sp>
        <p:nvSpPr>
          <p:cNvPr id="41" name="option-2-1"/>
          <p:cNvSpPr/>
          <p:nvPr/>
        </p:nvSpPr>
        <p:spPr>
          <a:xfrm>
            <a:off x="5897880" y="361188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2" name="checkbox"/>
          <p:cNvSpPr/>
          <p:nvPr/>
        </p:nvSpPr>
        <p:spPr>
          <a:xfrm>
            <a:off x="6035040" y="385876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73368" y="36850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Scribble + 자라는 배경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373368" y="40142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A0 + B5</a:t>
            </a:r>
            <a:endParaRPr lang="en-US" sz="1100" dirty="0"/>
          </a:p>
        </p:txBody>
      </p:sp>
      <p:sp>
        <p:nvSpPr>
          <p:cNvPr id="45" name="option-2-2"/>
          <p:cNvSpPr/>
          <p:nvPr/>
        </p:nvSpPr>
        <p:spPr>
          <a:xfrm>
            <a:off x="8823960" y="361188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6" name="checkbox"/>
          <p:cNvSpPr/>
          <p:nvPr/>
        </p:nvSpPr>
        <p:spPr>
          <a:xfrm>
            <a:off x="8961120" y="385876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299448" y="36850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덩굴 + 모자이크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9299448" y="40142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B2 + B6</a:t>
            </a:r>
            <a:endParaRPr lang="en-US" sz="1100" dirty="0"/>
          </a:p>
        </p:txBody>
      </p:sp>
      <p:sp>
        <p:nvSpPr>
          <p:cNvPr id="49" name="decision-no"/>
          <p:cNvSpPr txBox="1"/>
          <p:nvPr/>
        </p:nvSpPr>
        <p:spPr>
          <a:xfrm>
            <a:off x="548640" y="4636008"/>
            <a:ext cx="457200" cy="457200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④</a:t>
            </a:r>
            <a:endParaRPr lang="en-US" sz="1800" dirty="0"/>
          </a:p>
        </p:txBody>
      </p:sp>
      <p:sp>
        <p:nvSpPr>
          <p:cNvPr id="50" name="Text 48"/>
          <p:cNvSpPr txBox="1"/>
          <p:nvPr/>
        </p:nvSpPr>
        <p:spPr>
          <a:xfrm>
            <a:off x="1143000" y="45902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퍼레이드 운영</a:t>
            </a:r>
            <a:endParaRPr lang="en-US" sz="1700" dirty="0"/>
          </a:p>
        </p:txBody>
      </p:sp>
      <p:sp>
        <p:nvSpPr>
          <p:cNvPr id="51" name="option-3-0"/>
          <p:cNvSpPr/>
          <p:nvPr/>
        </p:nvSpPr>
        <p:spPr>
          <a:xfrm>
            <a:off x="2971800" y="448056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52" name="checkbox"/>
          <p:cNvSpPr/>
          <p:nvPr/>
        </p:nvSpPr>
        <p:spPr>
          <a:xfrm>
            <a:off x="3108960" y="472744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447288" y="4553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상시 합류만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3447288" y="4882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늘 몇 명씩 등장</a:t>
            </a:r>
            <a:endParaRPr lang="en-US" sz="1100" dirty="0"/>
          </a:p>
        </p:txBody>
      </p:sp>
      <p:sp>
        <p:nvSpPr>
          <p:cNvPr id="55" name="option-3-1"/>
          <p:cNvSpPr/>
          <p:nvPr/>
        </p:nvSpPr>
        <p:spPr>
          <a:xfrm>
            <a:off x="5897880" y="448056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56" name="checkbox"/>
          <p:cNvSpPr/>
          <p:nvPr/>
        </p:nvSpPr>
        <p:spPr>
          <a:xfrm>
            <a:off x="6035040" y="472744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373368" y="4553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정시 퍼레이드만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73368" y="4882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예: 30분마다 3–5분</a:t>
            </a:r>
            <a:endParaRPr lang="en-US" sz="1100" dirty="0"/>
          </a:p>
        </p:txBody>
      </p:sp>
      <p:sp>
        <p:nvSpPr>
          <p:cNvPr id="59" name="option-3-2"/>
          <p:cNvSpPr/>
          <p:nvPr/>
        </p:nvSpPr>
        <p:spPr>
          <a:xfrm>
            <a:off x="8823960" y="448056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EAF5F1"/>
          </a:solidFill>
          <a:ln w="25400">
            <a:solidFill>
              <a:srgbClr val="2B8C83"/>
            </a:solidFill>
            <a:prstDash val="solid"/>
          </a:ln>
        </p:spPr>
      </p:sp>
      <p:sp>
        <p:nvSpPr>
          <p:cNvPr id="60" name="checkbox"/>
          <p:cNvSpPr/>
          <p:nvPr/>
        </p:nvSpPr>
        <p:spPr>
          <a:xfrm>
            <a:off x="8961120" y="472744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2B8C83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299448" y="455371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정시 + 상시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9299448" y="4882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평소 합류 + 정시 행진</a:t>
            </a:r>
            <a:endParaRPr lang="en-US" sz="1100" dirty="0"/>
          </a:p>
        </p:txBody>
      </p:sp>
      <p:sp>
        <p:nvSpPr>
          <p:cNvPr id="63" name="chip-제안"/>
          <p:cNvSpPr txBox="1"/>
          <p:nvPr/>
        </p:nvSpPr>
        <p:spPr>
          <a:xfrm>
            <a:off x="10954512" y="457200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제안</a:t>
            </a:r>
            <a:endParaRPr lang="en-US" sz="1100" dirty="0"/>
          </a:p>
        </p:txBody>
      </p:sp>
      <p:sp>
        <p:nvSpPr>
          <p:cNvPr id="64" name="decision-no"/>
          <p:cNvSpPr txBox="1"/>
          <p:nvPr/>
        </p:nvSpPr>
        <p:spPr>
          <a:xfrm>
            <a:off x="548640" y="5504688"/>
            <a:ext cx="457200" cy="457200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⑤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143000" y="54589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보관 범위</a:t>
            </a:r>
            <a:endParaRPr lang="en-US" sz="1700" dirty="0"/>
          </a:p>
        </p:txBody>
      </p:sp>
      <p:sp>
        <p:nvSpPr>
          <p:cNvPr id="66" name="option-4-0"/>
          <p:cNvSpPr/>
          <p:nvPr/>
        </p:nvSpPr>
        <p:spPr>
          <a:xfrm>
            <a:off x="2971800" y="534924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67" name="checkbox"/>
          <p:cNvSpPr/>
          <p:nvPr/>
        </p:nvSpPr>
        <p:spPr>
          <a:xfrm>
            <a:off x="3108960" y="559612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447288" y="54223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QR 보관함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3447288" y="57515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영상 · 이미지 받기</a:t>
            </a:r>
            <a:endParaRPr lang="en-US" sz="1100" dirty="0"/>
          </a:p>
        </p:txBody>
      </p:sp>
      <p:sp>
        <p:nvSpPr>
          <p:cNvPr id="70" name="option-4-1"/>
          <p:cNvSpPr/>
          <p:nvPr/>
        </p:nvSpPr>
        <p:spPr>
          <a:xfrm>
            <a:off x="5897880" y="534924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EAF5F1"/>
          </a:solidFill>
          <a:ln w="25400">
            <a:solidFill>
              <a:srgbClr val="2B8C83"/>
            </a:solidFill>
            <a:prstDash val="solid"/>
          </a:ln>
        </p:spPr>
      </p:sp>
      <p:sp>
        <p:nvSpPr>
          <p:cNvPr id="71" name="checkbox"/>
          <p:cNvSpPr/>
          <p:nvPr/>
        </p:nvSpPr>
        <p:spPr>
          <a:xfrm>
            <a:off x="6035040" y="559612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2B8C83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373368" y="542239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QR + 하루 한 장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6373368" y="57515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날짜별 기록 추가</a:t>
            </a:r>
            <a:endParaRPr lang="en-US" sz="1100" dirty="0"/>
          </a:p>
        </p:txBody>
      </p:sp>
      <p:sp>
        <p:nvSpPr>
          <p:cNvPr id="74" name="chip-제안"/>
          <p:cNvSpPr txBox="1"/>
          <p:nvPr/>
        </p:nvSpPr>
        <p:spPr>
          <a:xfrm>
            <a:off x="8028432" y="544068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제안</a:t>
            </a:r>
            <a:endParaRPr lang="en-US" sz="1100" dirty="0"/>
          </a:p>
        </p:txBody>
      </p:sp>
      <p:sp>
        <p:nvSpPr>
          <p:cNvPr id="75" name="option-4-2"/>
          <p:cNvSpPr/>
          <p:nvPr/>
        </p:nvSpPr>
        <p:spPr>
          <a:xfrm>
            <a:off x="8823960" y="534924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6" name="checkbox"/>
          <p:cNvSpPr/>
          <p:nvPr/>
        </p:nvSpPr>
        <p:spPr>
          <a:xfrm>
            <a:off x="8961120" y="559612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299448" y="54223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QR + 하루 한 장 + 굿즈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9299448" y="57515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현장 출력 포함</a:t>
            </a:r>
            <a:endParaRPr lang="en-US" sz="110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ve Sketchbook Flow">
  <a:themeElements>
    <a:clrScheme name="Live Sketchbook Flow">
      <a:dk1>
        <a:srgbClr val="16243A"/>
      </a:dk1>
      <a:lt1>
        <a:srgbClr val="FFFFFF"/>
      </a:lt1>
      <a:dk2>
        <a:srgbClr val="617287"/>
      </a:dk2>
      <a:lt2>
        <a:srgbClr val="F7F8F6"/>
      </a:lt2>
      <a:accent1>
        <a:srgbClr val="5DCDC1"/>
      </a:accent1>
      <a:accent2>
        <a:srgbClr val="FDE6A5"/>
      </a:accent2>
      <a:accent3>
        <a:srgbClr val="F7DDE5"/>
      </a:accent3>
      <a:accent4>
        <a:srgbClr val="D5EEDB"/>
      </a:accent4>
      <a:accent5>
        <a:srgbClr val="DCEEF7"/>
      </a:accent5>
      <a:accent6>
        <a:srgbClr val="E8614D"/>
      </a:accent6>
      <a:hlink>
        <a:srgbClr val="2B8C83"/>
      </a:hlink>
      <a:folHlink>
        <a:srgbClr val="617287"/>
      </a:folHlink>
    </a:clrScheme>
    <a:fontScheme name="Live Sketchbook Flow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Sketchbook Experience Flow v2</dc:title>
  <dc:subject>PptxGenJS Presentation</dc:subject>
  <dc:creator>PptxGenJS</dc:creator>
  <cp:lastModifiedBy>PptxGenJS</cp:lastModifiedBy>
  <cp:revision>1</cp:revision>
  <dcterms:created xsi:type="dcterms:W3CDTF">2026-10-19T05:02:47Z</dcterms:created>
  <dcterms:modified xsi:type="dcterms:W3CDTF">2026-10-19T05:02:47Z</dcterms:modified>
</cp:coreProperties>
</file>