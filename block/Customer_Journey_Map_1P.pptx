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3" r:id="rId1"/>
  </p:sldMasterIdLst>
  <p:notesMasterIdLst>
    <p:notesMasterId r:id="rId6"/>
  </p:notesMasterIdLst>
  <p:sldIdLst>
    <p:sldId id="4399" r:id="rId15"/>
  </p:sldIdLst>
  <p:sldSz cx="12192000" cy="6858000"/>
  <p:notesSz cx="6858000" cy="9144000"/>
  <p:embeddedFontLst>
    <p:embeddedFont>
      <p:font typeface="LINE Seed Sans KR Bold" panose="020B0603020203020204" pitchFamily="34" charset="-127"/>
      <p:bold r:id="rId7"/>
    </p:embeddedFont>
    <p:embeddedFont>
      <p:font typeface="LINE Seed Sans KR Regular" panose="020B0603020203020204" pitchFamily="34" charset="-127"/>
      <p:regular r:id="rId8"/>
    </p:embeddedFont>
    <p:embeddedFont>
      <p:font typeface="맑은 고딕" panose="020B0503020000020004" pitchFamily="50" charset="-127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1616" userDrawn="1">
          <p15:clr>
            <a:srgbClr val="A4A3A4"/>
          </p15:clr>
        </p15:guide>
        <p15:guide id="12" pos="721" userDrawn="1">
          <p15:clr>
            <a:srgbClr val="A4A3A4"/>
          </p15:clr>
        </p15:guide>
        <p15:guide id="13" pos="6947" userDrawn="1">
          <p15:clr>
            <a:srgbClr val="A4A3A4"/>
          </p15:clr>
        </p15:guide>
        <p15:guide id="16" orient="horz" pos="1139" userDrawn="1">
          <p15:clr>
            <a:srgbClr val="A4A3A4"/>
          </p15:clr>
        </p15:guide>
        <p15:guide id="18" pos="2525" userDrawn="1">
          <p15:clr>
            <a:srgbClr val="A4A3A4"/>
          </p15:clr>
        </p15:guide>
        <p15:guide id="19" orient="horz" pos="20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300"/>
    <a:srgbClr val="0065B2"/>
    <a:srgbClr val="EF560C"/>
    <a:srgbClr val="FBAE40"/>
    <a:srgbClr val="FBFBFB"/>
    <a:srgbClr val="6B7280"/>
    <a:srgbClr val="2F7BEA"/>
    <a:srgbClr val="00AA00"/>
    <a:srgbClr val="FF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88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900" y="102"/>
      </p:cViewPr>
      <p:guideLst>
        <p:guide orient="horz" pos="4065"/>
        <p:guide orient="horz" pos="346"/>
        <p:guide orient="horz" pos="1616"/>
        <p:guide pos="721"/>
        <p:guide pos="6947"/>
        <p:guide orient="horz" pos="1139"/>
        <p:guide pos="2525"/>
        <p:guide orient="horz" pos="20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848"/>
    </p:cViewPr>
  </p:sorter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45B9C-CEC5-46C5-8236-4C42941CDC25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2EBA-5D8A-4E8B-9829-3F57D06613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0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95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32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세로 제목 및 텍스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581889-1FD5-D8BB-64FC-69FE199E9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1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E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7610A44-286A-998E-A774-C0D6A5AFA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rgbClr val="FFA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9D3AA9-9B5D-D633-8A12-44FCD4041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4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rgbClr val="005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E441782-31E0-5203-0CD2-AF7B49419F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28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7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9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0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35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rgbClr val="D7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38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7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5" r:id="rId2"/>
    <p:sldLayoutId id="2147483679" r:id="rId3"/>
    <p:sldLayoutId id="2147483660" r:id="rId4"/>
    <p:sldLayoutId id="2147483663" r:id="rId5"/>
    <p:sldLayoutId id="2147483664" r:id="rId6"/>
    <p:sldLayoutId id="2147483666" r:id="rId7"/>
    <p:sldLayoutId id="2147483701" r:id="rId8"/>
    <p:sldLayoutId id="2147483682" r:id="rId9"/>
    <p:sldLayoutId id="2147483698" r:id="rId10"/>
    <p:sldLayoutId id="214748370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5" name="TextBox 194">
            <a:extLst>
              <a:ext uri="{FF2B5EF4-FFF2-40B4-BE49-F238E27FC236}">
                <a16:creationId xmlns:a16="http://schemas.microsoft.com/office/drawing/2014/main" id="{9F7143B7-4B0E-94D9-5D63-906AAFB0BFE2}"/>
              </a:ext>
            </a:extLst>
          </p:cNvPr>
          <p:cNvSpPr txBox="1"/>
          <p:nvPr/>
        </p:nvSpPr>
        <p:spPr>
          <a:xfrm>
            <a:off x="1134220" y="508796"/>
            <a:ext cx="1154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experience zone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0E1D8AE-FEE1-0621-3A3E-2634DF07B78E}"/>
              </a:ext>
            </a:extLst>
          </p:cNvPr>
          <p:cNvSpPr txBox="1"/>
          <p:nvPr/>
        </p:nvSpPr>
        <p:spPr>
          <a:xfrm>
            <a:off x="1045371" y="1134429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000000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Customer Journey Map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DCA4294-5BE4-7705-0422-06501C6DC913}"/>
              </a:ext>
            </a:extLst>
          </p:cNvPr>
          <p:cNvSpPr txBox="1"/>
          <p:nvPr/>
        </p:nvSpPr>
        <p:spPr>
          <a:xfrm>
            <a:off x="1047752" y="1704914"/>
            <a:ext cx="960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5–10세 아이 + 부모(가족)</a:t>
            </a:r>
            <a:r>
              <a:rPr lang="ko-KR" altLang="en-US" sz="1200" dirty="0">
                <a:latin typeface="+mj-ea"/>
                <a:ea typeface="+mj-ea"/>
              </a:rPr>
              <a:t>의 8단계 여정과 </a:t>
            </a:r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재방문 체계 연결</a:t>
            </a:r>
            <a:r>
              <a:rPr lang="ko-KR" altLang="en-US" sz="1200" dirty="0">
                <a:latin typeface="+mj-ea"/>
                <a:ea typeface="+mj-ea"/>
              </a:rPr>
              <a:t>(가정 기반 · 시범 운영과 관찰로 검증 필요)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822960" y="2103120"/>
            <a:ext cx="10524744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96112" y="215798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감정 곡선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96112" y="2377439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● 아이(예상)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96112" y="256032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● 부모(예상)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96112" y="274320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좋음 ↑  불편 ↓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1691640" y="2688336"/>
            <a:ext cx="9610344" cy="0"/>
          </a:xfrm>
          <a:prstGeom prst="line">
            <a:avLst/>
          </a:prstGeom>
          <a:ln w="9525">
            <a:solidFill>
              <a:srgbClr val="D6D6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2295144" y="2578608"/>
            <a:ext cx="1207008" cy="246888"/>
          </a:xfrm>
          <a:prstGeom prst="line">
            <a:avLst/>
          </a:prstGeom>
          <a:ln w="28575">
            <a:solidFill>
              <a:srgbClr val="FF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502152" y="2660904"/>
            <a:ext cx="1207008" cy="164592"/>
          </a:xfrm>
          <a:prstGeom prst="line">
            <a:avLst/>
          </a:prstGeom>
          <a:ln w="28575">
            <a:solidFill>
              <a:srgbClr val="FF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4709160" y="2606040"/>
            <a:ext cx="1207008" cy="54864"/>
          </a:xfrm>
          <a:prstGeom prst="line">
            <a:avLst/>
          </a:prstGeom>
          <a:ln w="28575">
            <a:solidFill>
              <a:srgbClr val="FF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5916168" y="2441448"/>
            <a:ext cx="1207008" cy="164592"/>
          </a:xfrm>
          <a:prstGeom prst="line">
            <a:avLst/>
          </a:prstGeom>
          <a:ln w="28575">
            <a:solidFill>
              <a:srgbClr val="FF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7123176" y="2397556"/>
            <a:ext cx="1207008" cy="43892"/>
          </a:xfrm>
          <a:prstGeom prst="line">
            <a:avLst/>
          </a:prstGeom>
          <a:ln w="28575">
            <a:solidFill>
              <a:srgbClr val="FF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330184" y="2397556"/>
            <a:ext cx="1207008" cy="181052"/>
          </a:xfrm>
          <a:prstGeom prst="line">
            <a:avLst/>
          </a:prstGeom>
          <a:ln w="28575">
            <a:solidFill>
              <a:srgbClr val="FF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537192" y="2578608"/>
            <a:ext cx="1207008" cy="82296"/>
          </a:xfrm>
          <a:prstGeom prst="line">
            <a:avLst/>
          </a:prstGeom>
          <a:ln w="28575">
            <a:solidFill>
              <a:srgbClr val="FF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Oval 208"/>
          <p:cNvSpPr/>
          <p:nvPr/>
        </p:nvSpPr>
        <p:spPr>
          <a:xfrm>
            <a:off x="2253996" y="2537460"/>
            <a:ext cx="82296" cy="82296"/>
          </a:xfrm>
          <a:prstGeom prst="ellipse">
            <a:avLst/>
          </a:prstGeom>
          <a:solidFill>
            <a:srgbClr val="FF8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3461004" y="2784348"/>
            <a:ext cx="82296" cy="82296"/>
          </a:xfrm>
          <a:prstGeom prst="ellipse">
            <a:avLst/>
          </a:prstGeom>
          <a:solidFill>
            <a:srgbClr val="FF8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668012" y="2619756"/>
            <a:ext cx="82296" cy="82296"/>
          </a:xfrm>
          <a:prstGeom prst="ellipse">
            <a:avLst/>
          </a:prstGeom>
          <a:solidFill>
            <a:srgbClr val="FF8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875020" y="2564892"/>
            <a:ext cx="82296" cy="82296"/>
          </a:xfrm>
          <a:prstGeom prst="ellipse">
            <a:avLst/>
          </a:prstGeom>
          <a:solidFill>
            <a:srgbClr val="FF8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7082028" y="2400300"/>
            <a:ext cx="82296" cy="82296"/>
          </a:xfrm>
          <a:prstGeom prst="ellipse">
            <a:avLst/>
          </a:prstGeom>
          <a:solidFill>
            <a:srgbClr val="FF8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289036" y="2356408"/>
            <a:ext cx="82296" cy="82296"/>
          </a:xfrm>
          <a:prstGeom prst="ellipse">
            <a:avLst/>
          </a:prstGeom>
          <a:solidFill>
            <a:srgbClr val="FF8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496044" y="2537460"/>
            <a:ext cx="82296" cy="82296"/>
          </a:xfrm>
          <a:prstGeom prst="ellipse">
            <a:avLst/>
          </a:prstGeom>
          <a:solidFill>
            <a:srgbClr val="FF8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0703052" y="2619756"/>
            <a:ext cx="82296" cy="82296"/>
          </a:xfrm>
          <a:prstGeom prst="ellipse">
            <a:avLst/>
          </a:prstGeom>
          <a:solidFill>
            <a:srgbClr val="FF8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7" name="Connector 216"/>
          <p:cNvCxnSpPr/>
          <p:nvPr/>
        </p:nvCxnSpPr>
        <p:spPr>
          <a:xfrm>
            <a:off x="2295144" y="2606040"/>
            <a:ext cx="1207008" cy="109728"/>
          </a:xfrm>
          <a:prstGeom prst="line">
            <a:avLst/>
          </a:prstGeom>
          <a:ln w="28575">
            <a:solidFill>
              <a:srgbClr val="006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3502152" y="2496312"/>
            <a:ext cx="1207008" cy="219456"/>
          </a:xfrm>
          <a:prstGeom prst="line">
            <a:avLst/>
          </a:prstGeom>
          <a:ln w="28575">
            <a:solidFill>
              <a:srgbClr val="006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4709160" y="2265883"/>
            <a:ext cx="1207008" cy="230429"/>
          </a:xfrm>
          <a:prstGeom prst="line">
            <a:avLst/>
          </a:prstGeom>
          <a:ln w="28575">
            <a:solidFill>
              <a:srgbClr val="006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5916168" y="2232964"/>
            <a:ext cx="1207008" cy="32919"/>
          </a:xfrm>
          <a:prstGeom prst="line">
            <a:avLst/>
          </a:prstGeom>
          <a:ln w="28575">
            <a:solidFill>
              <a:srgbClr val="006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7123176" y="2232964"/>
            <a:ext cx="1207008" cy="153620"/>
          </a:xfrm>
          <a:prstGeom prst="line">
            <a:avLst/>
          </a:prstGeom>
          <a:ln w="28575">
            <a:solidFill>
              <a:srgbClr val="006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8330184" y="2386584"/>
            <a:ext cx="1207008" cy="109728"/>
          </a:xfrm>
          <a:prstGeom prst="line">
            <a:avLst/>
          </a:prstGeom>
          <a:ln w="28575">
            <a:solidFill>
              <a:srgbClr val="006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37192" y="2331720"/>
            <a:ext cx="1207008" cy="164592"/>
          </a:xfrm>
          <a:prstGeom prst="line">
            <a:avLst/>
          </a:prstGeom>
          <a:ln w="28575">
            <a:solidFill>
              <a:srgbClr val="006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Oval 223"/>
          <p:cNvSpPr/>
          <p:nvPr/>
        </p:nvSpPr>
        <p:spPr>
          <a:xfrm>
            <a:off x="2253996" y="2564892"/>
            <a:ext cx="82296" cy="82296"/>
          </a:xfrm>
          <a:prstGeom prst="ellipse">
            <a:avLst/>
          </a:prstGeom>
          <a:solidFill>
            <a:srgbClr val="0065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3461004" y="2674620"/>
            <a:ext cx="82296" cy="82296"/>
          </a:xfrm>
          <a:prstGeom prst="ellipse">
            <a:avLst/>
          </a:prstGeom>
          <a:solidFill>
            <a:srgbClr val="0065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668012" y="2455164"/>
            <a:ext cx="82296" cy="82296"/>
          </a:xfrm>
          <a:prstGeom prst="ellipse">
            <a:avLst/>
          </a:prstGeom>
          <a:solidFill>
            <a:srgbClr val="0065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5020" y="2224735"/>
            <a:ext cx="82296" cy="82296"/>
          </a:xfrm>
          <a:prstGeom prst="ellipse">
            <a:avLst/>
          </a:prstGeom>
          <a:solidFill>
            <a:srgbClr val="0065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7082028" y="2191816"/>
            <a:ext cx="82296" cy="82296"/>
          </a:xfrm>
          <a:prstGeom prst="ellipse">
            <a:avLst/>
          </a:prstGeom>
          <a:solidFill>
            <a:srgbClr val="0065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8289036" y="2345436"/>
            <a:ext cx="82296" cy="82296"/>
          </a:xfrm>
          <a:prstGeom prst="ellipse">
            <a:avLst/>
          </a:prstGeom>
          <a:solidFill>
            <a:srgbClr val="0065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496044" y="2455164"/>
            <a:ext cx="82296" cy="82296"/>
          </a:xfrm>
          <a:prstGeom prst="ellipse">
            <a:avLst/>
          </a:prstGeom>
          <a:solidFill>
            <a:srgbClr val="0065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703052" y="2290572"/>
            <a:ext cx="82296" cy="82296"/>
          </a:xfrm>
          <a:prstGeom prst="ellipse">
            <a:avLst/>
          </a:prstGeom>
          <a:solidFill>
            <a:srgbClr val="0065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2" name="Table 231"/>
          <p:cNvGraphicFramePr>
            <a:graphicFrameLocks noGrp="1"/>
          </p:cNvGraphicFramePr>
          <p:nvPr/>
        </p:nvGraphicFramePr>
        <p:xfrm>
          <a:off x="822960" y="3108960"/>
          <a:ext cx="10524744" cy="30540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68680"/>
                <a:gridCol w="1207008"/>
                <a:gridCol w="1207008"/>
                <a:gridCol w="1207008"/>
                <a:gridCol w="1207008"/>
                <a:gridCol w="1207008"/>
                <a:gridCol w="1207008"/>
                <a:gridCol w="1207008"/>
                <a:gridCol w="120700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FFFFFF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구분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1 발견 · 예약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2 도착 · 입장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3 선택 · 시작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★ 4 창작 · 몰입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41E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★ 5 작품화 · 콘텐츠화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41E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6 귀가 · 공유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7 일상 재접속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0065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★ 8 재방문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41E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65B2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아이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영상 · 친구 이야기로 기대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들뜸, 낯선 공간에 잠깐 주춤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재료를 만져 보고 고르며 설렘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몰입, 뜻대로 안 되면 도움 요청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내 작품이 화면에 나와 가장 큰 성취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아쉬움, “또 하고 싶다”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QR로 내 작품을 보며 자랑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“지난번 이어서 하자”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65B2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부모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후기 · 가격 · 시간 확인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대기 · 규칙 안내에 민감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어디까지 도울지 망설임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사진 찍기, 지켜보기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작품이 남는 것에 만족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시간 · 비용 가치를 평가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대화 소재가 생김, 공유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“굳이 또?” vs “다음엔 이거”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65B2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접점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SNS · 후기 · 예약 페이지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체크인 · 안내 보드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재료 스테이션 · 오늘의 프로젝트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테이블 · 안내자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스캔 · 작품 카드 · 전시 선반 · 월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출구 · QR · 시즌 안내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QR 도감 · 알림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예약 · 패스 · 시즌 행사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65B2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재방문 체계 연결(제안)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② · ① 이번 달 · 전시 예고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③ 체크인 시 가족 카드(도장 · 점수 시작)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② 이번 달 새 프로젝트 · 재료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정답 없는 열린 창작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A · B · ⑥ 출연 · 합류 · 전시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③ 도감 기록, 다음 방문 예고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③ QR 도감 · 시즌 알림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④ 패스 · ⑤ 가족 멤버십 · ① 교체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8F1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65B2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예상 불편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가격 · 시간 대비 가치 불분명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대기 줄, 카드 설명이 복잡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재료가 많아 고르기 어려움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도움 정도를 몰라 부모가 개입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변환 · 촬영 대기, 분실 걱정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작품 처리 · 출구 혼잡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알림 과다, 개인정보 걱정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같은 경험이면 올 이유 없음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DEC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65B2"/>
                          </a:solidFill>
                          <a:latin typeface="LINE Seed Sans KR Bold"/>
                          <a:ea typeface="LINE Seed Sans KR Bold"/>
                          <a:cs typeface="LINE Seed Sans KR Bold"/>
                        </a:rPr>
                        <a:t>기회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후기 · 작품 사례 짧은 영상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입구에서 바로 시작할 수 있는 동선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추천 조합 · 도전 카드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부모용 한 줄 역할 안내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기다리는 동안 작품이 ‘자라는’ 연출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시즌 예고 · 다음 방문 혜택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알림은 시즌당 1–2회, 동의 기반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111111"/>
                          </a:solidFill>
                          <a:latin typeface="LINE Seed Sans KR Regular"/>
                          <a:ea typeface="LINE Seed Sans KR Regular"/>
                          <a:cs typeface="LINE Seed Sans KR Regular"/>
                        </a:rPr>
                        <a:t>새 재료 · 내 작품 성장 · 가족 행사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6D6D6"/>
                      </a:solidFill>
                    </a:lnL>
                    <a:lnR w="9525">
                      <a:solidFill>
                        <a:srgbClr val="D6D6D6"/>
                      </a:solidFill>
                    </a:lnR>
                    <a:lnT w="9525">
                      <a:solidFill>
                        <a:srgbClr val="D6D6D6"/>
                      </a:solidFill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233" name="TextBox 232"/>
          <p:cNvSpPr txBox="1"/>
          <p:nvPr/>
        </p:nvSpPr>
        <p:spPr>
          <a:xfrm>
            <a:off x="822960" y="6217920"/>
            <a:ext cx="10524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★ 핵심 순간: 4 창작 · 몰입(집중이 시작되는 순간) · 5 작품화 · 콘텐츠화(‘내 것’이 되는 순간) · 8 재방문(부모가 결정하는 순간).  감정 곡선과 여정 내용은 가정이며, 관찰 · 설문으로 검증이 필요합니다.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te">
      <a:majorFont>
        <a:latin typeface="LINE Seed Sans KR Regular"/>
        <a:ea typeface="LINE Seed Sans KR Regular"/>
        <a:cs typeface=""/>
      </a:majorFont>
      <a:minorFont>
        <a:latin typeface="LINE Seed Sans KR Regular"/>
        <a:ea typeface="LINE Seed Sans KR Thin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F9B17B8-1924-4988-A0C4-97074C3EFB85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18e273cb-12ab-4a62-8d7a-98d5d1316c4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521ED2F-E1D9-433D-AA47-6AC16B2DDA11}">
  <we:reference id="wa200005566" version="3.0.0.3" store="ko-K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77396</TotalTime>
  <Words>1090</Words>
  <Application>Microsoft Office PowerPoint</Application>
  <PresentationFormat>와이드스크린</PresentationFormat>
  <Paragraphs>136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LINE Seed Sans KR Regular</vt:lpstr>
      <vt:lpstr>LINE Seed Sans KR Bold</vt:lpstr>
      <vt:lpstr>맑은 고딕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한지연</dc:creator>
  <cp:lastModifiedBy>Su-jeong Lee (DSKR-이수정)</cp:lastModifiedBy>
  <cp:revision>992</cp:revision>
  <dcterms:created xsi:type="dcterms:W3CDTF">2022-05-06T02:30:22Z</dcterms:created>
  <dcterms:modified xsi:type="dcterms:W3CDTF">2026-10-23T08:26:22Z</dcterms:modified>
</cp:coreProperties>
</file>