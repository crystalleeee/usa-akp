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21-1.jpg" ContentType="image/jpg"/>
  <Override PartName="/ppt/media/image-21-2.jpg" ContentType="image/jpg"/>
  <Override PartName="/ppt/media/image-21-3.jpg" ContentType="image/jpg"/>
  <Override PartName="/ppt/media/image-21-4.jpg" ContentType="image/jpg"/>
  <Override PartName="/ppt/media/image-21-5.jpg" ContentType="image/jpg"/>
  <Override PartName="/ppt/media/image-21-6.jpg" ContentType="image/jpg"/>
  <Override PartName="/ppt/media/image-22-1.jpg" ContentType="image/jpg"/>
  <Override PartName="/ppt/media/image-22-2.jpg" ContentType="image/jpg"/>
  <Override PartName="/ppt/media/image-22-3.jpg" ContentType="image/jpg"/>
  <Override PartName="/ppt/media/image-22-4.jpg" ContentType="image/jpg"/>
  <Override PartName="/ppt/media/image-22-5.jpg" ContentType="image/jpg"/>
  <Override PartName="/ppt/media/image-22-6.jpg" ContentType="image/jpg"/>
  <Override PartName="/ppt/media/image-23-1.jpg" ContentType="image/jpg"/>
  <Override PartName="/ppt/media/image-23-2.jpg" ContentType="image/jpg"/>
  <Override PartName="/ppt/media/image-23-3.jpg" ContentType="image/jpg"/>
  <Override PartName="/ppt/media/image-23-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31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f9f7278-5761-c0af-a3ba-2ca751942ba4}">
          <p14:sldIdLst/>
        </p14:section>
        <p14:section name="개요" id="{701bf1f0-6cf5-f072-3e5f-90705dd8bd66}">
          <p14:sldIdLst>
            <p14:sldId id="257"/>
          </p14:sldIdLst>
        </p14:section>
        <p14:section name="1. 가족 필요 경험" id="{db27cc61-bbe2-7927-596a-60ff3bbfb91a}">
          <p14:sldIdLst>
            <p14:sldId id="258"/>
            <p14:sldId id="259"/>
          </p14:sldIdLst>
        </p14:section>
        <p14:section name="2. 반복 · 창작 리서치" id="{3cfc69af-28c2-54d3-c683-580258972822}">
          <p14:sldIdLst>
            <p14:sldId id="260"/>
            <p14:sldId id="261"/>
          </p14:sldIdLst>
        </p14:section>
        <p14:section name="3. 재방문 체계 · 운영" id="{9d267928-80af-222f-2da5-aa9979cb3c1d}">
          <p14:sldIdLst>
            <p14:sldId id="262"/>
            <p14:sldId id="263"/>
            <p14:sldId id="264"/>
            <p14:sldId id="265"/>
          </p14:sldIdLst>
        </p14:section>
        <p14:section name="4. 고객 여정 지도" id="{3a7ef25f-179c-9757-7344-50d5834de089}">
          <p14:sldIdLst>
            <p14:sldId id="266"/>
            <p14:sldId id="267"/>
            <p14:sldId id="268"/>
          </p14:sldIdLst>
        </p14:section>
        <p14:section name="5. 집중 · 아카이빙" id="{5ec48572-33dd-1ef7-e659-683a00a669d3}">
          <p14:sldIdLst>
            <p14:sldId id="269"/>
          </p14:sldIdLst>
        </p14:section>
        <p14:section name="6. 아이디어 · 테스트" id="{900a6cc6-18f6-00bb-1a13-a5282cb23c9b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7. 사례 모음" id="{6161677b-85cc-ddea-52fa-04eeefcf9ecc}">
          <p14:sldIdLst>
            <p14:sldId id="276"/>
            <p14:sldId id="277"/>
            <p14:sldId id="278"/>
          </p14:sldIdLst>
        </p14:section>
        <p14:section name="8. 참고" id="{1aa05781-104b-e329-95a7-8cee79d97c0d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아이(예상)</c:v>
                </c:pt>
              </c:strCache>
            </c:strRef>
          </c:tx>
          <c:spPr>
            <a:solidFill>
              <a:srgbClr val="0065B2"/>
            </a:solidFill>
            <a:ln w="38100" cap="flat">
              <a:solidFill>
                <a:srgbClr val="0065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65B2"/>
              </a:solidFill>
              <a:ln w="9525" cap="flat">
                <a:solidFill>
                  <a:srgbClr val="0065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 발견 · 예약</c:v>
                  </c:pt>
                  <c:pt idx="1">
                    <c:v>2 도착 · 입장</c:v>
                  </c:pt>
                  <c:pt idx="2">
                    <c:v>3 선택 · 시작</c:v>
                  </c:pt>
                  <c:pt idx="3">
                    <c:v>4 창작 · 몰입</c:v>
                  </c:pt>
                  <c:pt idx="4">
                    <c:v>5 작품화 · 전시</c:v>
                  </c:pt>
                  <c:pt idx="5">
                    <c:v>6 귀가 · 공유</c:v>
                  </c:pt>
                  <c:pt idx="6">
                    <c:v>7 일상 재접속</c:v>
                  </c:pt>
                  <c:pt idx="7">
                    <c:v>8 재방문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</c:v>
                </c:pt>
                <c:pt idx="1">
                  <c:v>-0.5</c:v>
                </c:pt>
                <c:pt idx="2">
                  <c:v>3.5</c:v>
                </c:pt>
                <c:pt idx="3">
                  <c:v>7.7</c:v>
                </c:pt>
                <c:pt idx="4">
                  <c:v>8.3</c:v>
                </c:pt>
                <c:pt idx="5">
                  <c:v>5.5</c:v>
                </c:pt>
                <c:pt idx="6">
                  <c:v>3.5</c:v>
                </c:pt>
                <c:pt idx="7">
                  <c:v>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부모(예상)</c:v>
                </c:pt>
              </c:strCache>
            </c:strRef>
          </c:tx>
          <c:spPr>
            <a:solidFill>
              <a:srgbClr val="FF8000"/>
            </a:solidFill>
            <a:ln w="38100" cap="flat">
              <a:solidFill>
                <a:srgbClr val="FF8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8000"/>
              </a:solidFill>
              <a:ln w="9525" cap="flat">
                <a:solidFill>
                  <a:srgbClr val="FF8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 발견 · 예약</c:v>
                  </c:pt>
                  <c:pt idx="1">
                    <c:v>2 도착 · 입장</c:v>
                  </c:pt>
                  <c:pt idx="2">
                    <c:v>3 선택 · 시작</c:v>
                  </c:pt>
                  <c:pt idx="3">
                    <c:v>4 창작 · 몰입</c:v>
                  </c:pt>
                  <c:pt idx="4">
                    <c:v>5 작품화 · 전시</c:v>
                  </c:pt>
                  <c:pt idx="5">
                    <c:v>6 귀가 · 공유</c:v>
                  </c:pt>
                  <c:pt idx="6">
                    <c:v>7 일상 재접속</c:v>
                  </c:pt>
                  <c:pt idx="7">
                    <c:v>8 재방문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-2.5</c:v>
                </c:pt>
                <c:pt idx="2">
                  <c:v>0.5</c:v>
                </c:pt>
                <c:pt idx="3">
                  <c:v>1.5</c:v>
                </c:pt>
                <c:pt idx="4">
                  <c:v>4.5</c:v>
                </c:pt>
                <c:pt idx="5">
                  <c:v>5.3</c:v>
                </c:pt>
                <c:pt idx="6">
                  <c:v>2</c:v>
                </c:pt>
                <c:pt idx="7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5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좋음 ↔ 불편 (상대)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문서의 수치 · 구간 · 감정 곡선은 대부분 가정이며, 재방문율 같은 시설별 수치는 공개 자료로 확인하지 못했습니다. 각 슬라이드의 ‘확인 못 함’ 표시를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사례 사진은 각 출처의 기사 · 공식 페이지에서 가져온 참고용 이미지입니다. 외부 배포 전에는 사용 허락 · 저작권 확인이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07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DF00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6D6D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5A"/>
                </a:solidFill>
              </a:rPr>
              <a:t>ARTE KIDS PARK USA  /  CREATIVE ATELIER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5A5A5A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</a:rPr>
              <a:t>Creative Atelier 기획안 · 가족이 함께 다시 오는 창작 공방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hyperlink" Target="https://www.lehighvalleypublicmedia.org/news/entertainment/crayola-experience-expands-creativity-with-model-magic-movie-studios/" TargetMode="External"/><Relationship Id="rId3" Type="http://schemas.openxmlformats.org/officeDocument/2006/relationships/image" Target="../media/image-21-2.jpg"/><Relationship Id="rId4" Type="http://schemas.openxmlformats.org/officeDocument/2006/relationships/hyperlink" Target="https://scanmagazine.co.uk/lego-house-housing-creativity/" TargetMode="External"/><Relationship Id="rId5" Type="http://schemas.openxmlformats.org/officeDocument/2006/relationships/image" Target="../media/image-21-3.jpg"/><Relationship Id="rId6" Type="http://schemas.openxmlformats.org/officeDocument/2006/relationships/hyperlink" Target="https://www.engadget.com/2016-11-02-play-doh-touch-hands-on.html" TargetMode="External"/><Relationship Id="rId7" Type="http://schemas.openxmlformats.org/officeDocument/2006/relationships/image" Target="../media/image-21-4.jpg"/><Relationship Id="rId8" Type="http://schemas.openxmlformats.org/officeDocument/2006/relationships/hyperlink" Target="https://www.teamlab.art/w/sketchtown/bandaijima/" TargetMode="External"/><Relationship Id="rId9" Type="http://schemas.openxmlformats.org/officeDocument/2006/relationships/image" Target="../media/image-21-5.jpg"/><Relationship Id="rId10" Type="http://schemas.openxmlformats.org/officeDocument/2006/relationships/hyperlink" Target="https://www.teamlab.art/press/shiseido-1405/" TargetMode="External"/><Relationship Id="rId11" Type="http://schemas.openxmlformats.org/officeDocument/2006/relationships/image" Target="../media/image-21-6.jpg"/><Relationship Id="rId12" Type="http://schemas.openxmlformats.org/officeDocument/2006/relationships/hyperlink" Target="https://aardman.com/latest-news/2017/june/wallace-and-gromit-and-friends-the-magic-of-aardman-exhibition-opens-at-acmi/" TargetMode="Externa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hyperlink" Target="https://www.magichouse.org/made-home/" TargetMode="External"/><Relationship Id="rId3" Type="http://schemas.openxmlformats.org/officeDocument/2006/relationships/image" Target="../media/image-22-2.jpg"/><Relationship Id="rId4" Type="http://schemas.openxmlformats.org/officeDocument/2006/relationships/hyperlink" Target="https://www.nbcnews.com/id/wbna43064982" TargetMode="External"/><Relationship Id="rId5" Type="http://schemas.openxmlformats.org/officeDocument/2006/relationships/image" Target="../media/image-22-3.jpg"/><Relationship Id="rId6" Type="http://schemas.openxmlformats.org/officeDocument/2006/relationships/hyperlink" Target="https://www.citizenkid.com/sortie/cool-kids-space-au-capc-a1070095" TargetMode="External"/><Relationship Id="rId7" Type="http://schemas.openxmlformats.org/officeDocument/2006/relationships/image" Target="../media/image-22-4.jpg"/><Relationship Id="rId8" Type="http://schemas.openxmlformats.org/officeDocument/2006/relationships/hyperlink" Target="https://visitnorfolk.com/attraction/color-me-mine" TargetMode="External"/><Relationship Id="rId9" Type="http://schemas.openxmlformats.org/officeDocument/2006/relationships/image" Target="../media/image-22-5.jpg"/><Relationship Id="rId10" Type="http://schemas.openxmlformats.org/officeDocument/2006/relationships/hyperlink" Target="https://meadowsmuseumdallas.org/cal/open-studio-13/" TargetMode="External"/><Relationship Id="rId11" Type="http://schemas.openxmlformats.org/officeDocument/2006/relationships/image" Target="../media/image-22-6.jpg"/><Relationship Id="rId12" Type="http://schemas.openxmlformats.org/officeDocument/2006/relationships/hyperlink" Target="https://www.mcny.org/mcny-kids-art-studio" TargetMode="Externa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hyperlink" Target="https://kidzania.com.sg/bkidzanian" TargetMode="External"/><Relationship Id="rId3" Type="http://schemas.openxmlformats.org/officeDocument/2006/relationships/hyperlink" Target="https://www.commonsense.org/education/app/artsonia-kids-art-museum" TargetMode="External"/><Relationship Id="rId4" Type="http://schemas.openxmlformats.org/officeDocument/2006/relationships/image" Target="../media/image-23-2.jpg"/><Relationship Id="rId5" Type="http://schemas.openxmlformats.org/officeDocument/2006/relationships/hyperlink" Target="https://www.pinnaclepres.org/the-role-of-the-atelierista" TargetMode="External"/><Relationship Id="rId6" Type="http://schemas.openxmlformats.org/officeDocument/2006/relationships/image" Target="../media/image-23-3.jpg"/><Relationship Id="rId7" Type="http://schemas.openxmlformats.org/officeDocument/2006/relationships/hyperlink" Target="https://olioli.ae/memberships/" TargetMode="External"/><Relationship Id="rId8" Type="http://schemas.openxmlformats.org/officeDocument/2006/relationships/image" Target="../media/image-23-4.jpg"/><Relationship Id="rId9" Type="http://schemas.openxmlformats.org/officeDocument/2006/relationships/hyperlink" Target="https://www.seoulchildrensmuseum.org/reservation/memberJoinInfo.do" TargetMode="Externa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hyperlink" Target="https://www.peoriariverfrontmuseum.org/node/559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s://drexel.edu/news/archive/2013/August/ANS-Explore-App" TargetMode="External"/><Relationship Id="rId6" Type="http://schemas.openxmlformats.org/officeDocument/2006/relationships/hyperlink" Target="https://high.org/explorer-car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Creative Atelier 기획안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00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DF00"/>
                </a:solidFill>
              </a:rPr>
              <a:t>가족이 함께 다시 오는 창작 공방 · 5–10세 아이 + 부모</a:t>
            </a:r>
            <a:endParaRPr lang="en-US" sz="22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6D6D6"/>
                </a:solidFill>
              </a:rPr>
              <a:t>Arte Kids Park USA · 자유 창작 → 작품 → 아카이빙 → 재방문 · 2026.10.23 · 제안안(검증 전)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핵심 경험과 이번 기획안의 범위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자유롭게 만들고, 작품이 되어 쌓이고, 다시 오게 만드는 구조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0065B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자유 창작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42032" y="210312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8" name="Shape 5"/>
          <p:cNvSpPr/>
          <p:nvPr/>
        </p:nvSpPr>
        <p:spPr>
          <a:xfrm>
            <a:off x="2788920" y="182880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62B5E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8892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집중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82312" y="210312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0" y="182880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0091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작품이 됨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022592" y="210312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14" name="Shape 11"/>
          <p:cNvSpPr/>
          <p:nvPr/>
        </p:nvSpPr>
        <p:spPr>
          <a:xfrm>
            <a:off x="7269480" y="182880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F8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6948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아카이빙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262872" y="210312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17" name="Shape 14"/>
          <p:cNvSpPr/>
          <p:nvPr/>
        </p:nvSpPr>
        <p:spPr>
          <a:xfrm>
            <a:off x="9509760" y="182880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E41E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50976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재방문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2880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880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대상 정의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2880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5–10세 아이 + 부모(가족). 가족에게 필요한 경험을 먼저 정의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리서치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834640" y="35204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재방문이 많은 유형의 시설 10건 + 반복 놀이 · 창작 탐구(OliOli Dubai · 서울상상나라)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1605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재방문 체계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834640" y="41605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반복 · 변화 · 기록 3개의 바퀴 + 운영 캘린더 · 멤버십 · 조직 · 지표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8006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고객 여정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2834640" y="4800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8단계 Customer Journey Map, 핵심 순간 3가지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5440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사례 모음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834640" y="54406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리서치한 17개 사례를 대표 사진 1장 + 특징 + 출처로 정리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가족에게 필요한 경험 | 먼저 정의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5–10세 아이 + 부모 · 정의 자체는 제안이며 현장 조사로 확인 필요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96596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065B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아이 5–10세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내 손으로 끝까지 · 도움을 받아도 ‘내 것’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고르기 · 재료와 주제를 내가 정함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한 단계 더 · 지난번보다 어려운 도전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인정받기 · 작품에 이름이 붙어 전시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반복해서 잘하기 · 같은 규칙에서 능숙해짐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96596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8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8056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부모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6974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같이 할 역할 · ‘공동 제작자’로 참여할 선택권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대화 소재 · 아이에게 던질 질문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성장 기록 · 달라지는 모습이 보임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쉬어도 되는 자리 · 안전 · 위생 · 짧은 기다림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값어치 판단 · 시간 · 비용의 균형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7830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0" y="196596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091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가족 공통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6974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함께 만든 하나 · 같이 만든 작품이 남음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이어지는 이야기 · 지난 작품에서 이어 시작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다음 방문 약속 · “다음엔 이걸 해 보자”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비교하지 않는 분위기 · 정답이 없음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6F6F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근거 범위 | 확인된 것은 (1) 어린이 박물관 자주 오는 방문자의 60%가 부모 · 보호자(AAM 2024 설문), (2) 가족 대화가 박물관 경험 · 학습과 연결된다는 연구(과학 박물관 중심, Frontiers in Psychology 2021). 5–10세 가족만 다룬 자료는 찾지 못해, 위 ‘필요한 경험’은 제 가설입니다.</a:t>
            </a:r>
            <a:endParaRPr lang="en-US" sz="115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5–10세 안의 연령 구간 | 가정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한 테이블에 연령이 섞여도 되는 구조(작은 아이는 쉬운 단계)가 필요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274320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창작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도전 요소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5–6세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재료 + 간단한 안내(가이드 카드 1장)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옆에서 도와주는 공동 제작자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2–3가지 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8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7–8세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달 프로젝트 · 규칙이 있는 도전(균형 · 구조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· 응원 · 사진 담당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· 색 · 이야기를 더하는 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9–10세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 계획하는 프로젝트, 여러 재료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조언자(필요할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설명 · 시리즈 만들기 · 어린 아이 돕기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463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6F6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구간 나누기는 공방 설계를 위한 가정입니다. 형제 · 사촌이 함께 오는 경우가 많아 연령이 섞인 테이블을 전제로 합니다.</a:t>
            </a:r>
            <a:endParaRPr lang="en-US" sz="115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추가 리서치 | 반복 놀이 · 창작 탐구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OliOli Dubai · 서울상상나라 · 반복 놀이 근거 (사진은 사례 모음 슬라이드)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9385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06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OliOli Dubai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“정답도 오답도 없는” 열린 놀이, 45개 이상 체험물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3개월 멤버십 “Play, explore and repeat” · 아이 1 + 어른 1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회원 3시간 이용 · 임시 전시 무료 · 워크숍 10% 할인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확인 못 함: 대상 연령(출처마다 다름) · 재방문율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5B2"/>
                </a:solidFill>
              </a:rPr>
              <a:t>→ ‘임시 전시 + 회원 연장 이용’ 구조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19385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서울상상나라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23774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0–9세 대상 10개 영역(개관 시 2013), 창의놀이실 · 예술놀이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직계 가족 연회원 2인 3만 원 · 무제한 이용 · 회원 행사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연 2–3회 전시 교체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확인 못 함: 현재 가격 · 연령(안내 페이지가 오래됨)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3B"/>
                </a:solidFill>
              </a:rPr>
              <a:t>→ 같은 곳에 계속 오되 일부는 바뀜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7830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19385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F8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반복 놀이 근거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3774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스코틀랜드 정부 부모 안내: 행동 반복 · 연습이 뇌 발달 · 학습에 도움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NPR(2024): 연구자들이 반복 놀이를 중요하게 본다고 보도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</a:rPr>
              <a:t>한계: 주로 영유아 대상, 통제된 연구 아님. 5–10세는 확인 못 함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8000"/>
                </a:solidFill>
              </a:rPr>
              <a:t>→ 5–10세는 ‘숙련 + 변주’로 읽음(제 해석)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F6F6F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창작 탐구(Tinkering Studio · MCNY · Reggio 아틀리에)의 공통점: 정해진 결과 없이 재료를 열고, 안내자가 가능성을 보여 주며, 과정과 작품을 기록 · 전시. → 공방에 ‘안내자’ 역할을 두는 근거.</a:t>
            </a:r>
            <a:endParaRPr lang="en-US" sz="115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다시 오게 만드는 장치 6가지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재방문 시설 10건에서 묶은 정리 · 효과는 제 추정(시설별 재방문율은 확인 못 함)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065B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찾으러 오기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결과가 시간 뒤에 완성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5B2"/>
                </a:solidFill>
              </a:rPr>
              <a:t>사례: Color Me Mine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91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공방: 오늘 만든 것이 다음 방문에 완성 · 성장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1965960"/>
            <a:ext cx="457200" cy="457200"/>
          </a:xfrm>
          <a:prstGeom prst="ellipse">
            <a:avLst/>
          </a:prstGeom>
          <a:solidFill>
            <a:srgbClr val="FF80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80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이번 달 새 프로젝트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재료 · 주제를 정기 교체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5B2"/>
                </a:solidFill>
              </a:rPr>
              <a:t>사례: Meadows · MCNY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291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공방: 월별 · 시즌 재료 스테이션 교체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46720" y="17830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2396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쌓이는 내 기록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도장 · 도감 · 시리즈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753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5B2"/>
                </a:solidFill>
              </a:rPr>
              <a:t>사례: KidZania · Artsonia · LEGO House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3291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공방: 내 도감 · QR 작품 카드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E41E2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패스 + 시즌 행사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2회 방문하면 본전, 시즌 행사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5B2"/>
                </a:solidFill>
              </a:rPr>
              <a:t>사례: Crayola Experience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5532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공방: 연간 · 시즌 패스, 파사드 이벤트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29768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4206240"/>
            <a:ext cx="457200" cy="457200"/>
          </a:xfrm>
          <a:prstGeom prst="ellipse">
            <a:avLst/>
          </a:prstGeom>
          <a:solidFill>
            <a:srgbClr val="62B5E5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4805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07492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가족 · 친구 초대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52628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친구 데려오기, 보호자 혜택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52628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5B2"/>
                </a:solidFill>
              </a:rPr>
              <a:t>사례: Crayola Experience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526280" y="5532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공방: 같이 만든 작품, 짝 작품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04672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29600" y="4206240"/>
            <a:ext cx="457200" cy="457200"/>
          </a:xfrm>
          <a:prstGeom prst="ellipse">
            <a:avLst/>
          </a:prstGeom>
          <a:solidFill>
            <a:srgbClr val="ED92B9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2296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882396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내 작품이 살아 있음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27532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두고 간 작품이 전시에 남음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27532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5B2"/>
                </a:solidFill>
              </a:rPr>
              <a:t>사례: MCNY · Sketch Aquarium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8275320" y="5532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공방: 전시 선반 + 월에 계속 사는 내 작품</a:t>
            </a:r>
            <a:endParaRPr lang="en-US" sz="12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재방문 체계 | 반복 · 변화 · 기록 3개의 바퀴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세 바퀴가 함께 돌아야 “다시 올 이유”가 만들어짐 · 제안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74520" y="1965960"/>
            <a:ext cx="914400" cy="914400"/>
          </a:xfrm>
          <a:prstGeom prst="ellipse">
            <a:avLst/>
          </a:prstGeom>
          <a:solidFill>
            <a:srgbClr val="0065B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7452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5B2"/>
                </a:solidFill>
              </a:rPr>
              <a:t>반복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숙련의 사다리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같은 재료 스테이션에서 단계가 올라감. 배지 · 도감으로 눈에 보이게.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예: 클레이 Lv1 기본 → Lv2 균형 → Lv3 이야기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근거: 서울상상나라 · OliOli 반복 방문 구조, KidZania 진행도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7830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1965960"/>
            <a:ext cx="914400" cy="914400"/>
          </a:xfrm>
          <a:prstGeom prst="ellipse">
            <a:avLst/>
          </a:prstGeom>
          <a:solidFill>
            <a:srgbClr val="FF8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235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000"/>
                </a:solidFill>
              </a:rPr>
              <a:t>변화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교체 주기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이번 주 · 이번 달 · 이번 시즌이 서로 다른 주기로 바뀜.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예: 주간 챌린지 · 월간 프로젝트 · 시즌 대형 전시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근거: Meadows · MCNY(월), 서울상상나라(연 2–3회), OliOli 임시 전시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46720" y="17830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72600" y="1965960"/>
            <a:ext cx="914400" cy="914400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7260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13B"/>
                </a:solidFill>
              </a:rPr>
              <a:t>기록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쌓이는 가족 도감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가족의 작품이 도감 · 시즌 컬렉션으로 쌓임.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예: QR 카드 한 장, 작품에 만든 날 · 재료 · 함께한 사람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근거: Artsonia · LEGO House · Reggio 문서화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운영 캘린더 | 어떤 주기로 무엇을 바꿀까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위 시설들의 구조(월 교체 · 연 2–3회 교체 · 시즌 행사)를 조합한 제안 · 인력에 맞춰 조정 필요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  <a:gridCol w="265176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바꾸는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재료 스테이션 2–3개, 오늘의 월(하루 한 장 저장)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오늘만의 작품 ·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보충 · 월 큐레이션(자동)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챌린지(예: 이번 주는 균형 만들기)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주 도전 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챌린지 카드 · 안내자 교육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달 프로젝트 + 신규 재료 1가지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재료 · 새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기획 · 안내 영상 · 재료 발주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시즌(분기)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컬렉션 · 파사드 이벤트 · 공간 일부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작품이 큰 곳에 등장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큐레이션 · 이벤트 운영 · 홍보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패스 갱신, 회원 초청 행사(‘가족의 날’)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멤버십 가치 · 가족 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멤버십 운영 · 초청 행사 기획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멤버십 구조 | 참고 사례와 제안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가격은 각 공식 안내의 공개 값이며 시점 · 지점에 따라 다를 수 있음 · 공방 가격은 미정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560320"/>
                <a:gridCol w="228600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Crayola Experience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OliOli Dubai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서울상상나라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공방 제안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1년 무제한 패스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멤버십(아이 1 + 어른 1) · 3회 방문권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직계 가족 연회원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1회권 · 시즌 패스(3개월) · 연간 가족 패스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가격(참고)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49.99달러(이스턴, 1인)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AED 889–1,189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2인 3만 원부터, 추가 1만 원씩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정하지 않음(비용 구조 검토 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행사 · 친구 데려오기 · 회원 전용 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연장 이용(3시간) · 임시 전시 무료 · 워크숍 10% 할인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무제한 이용 · 회원 초청 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연장 시간 · 시즌 재료 · 도감 확장 · 가족의 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운영 조직과 재방문 지표 | 제안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지표 기준값은 정하지 않음 · 시범 운영의 첫 결과를 보고 결정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5B2"/>
                </a:solidFill>
              </a:rPr>
              <a:t>운영 조직 4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1945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안내자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2194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재료의 가능성을 보여 주고 질문. 정답을 알려 주지 않음(Reggio 아틀리에리스타)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154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재료 · 공정 담당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3154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재료 보충 · 위생 · 안전, 변환 장비 관리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114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시즌 큐레이터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4114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월 · 시즌 프로젝트 기획, 월 · 파사드 연출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5074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회원 · 기록 담당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5074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QR 도감 · 알림, 초청 행사, 개인정보 관리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3B"/>
                </a:solidFill>
              </a:rPr>
              <a:t>재방문 지표 5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94560"/>
          <a:ext cx="5577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보나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2회차 방문 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방문 가족 중 다시 온 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카드 · 예약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방문 간격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얼마나 자주 오는가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패스 사용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도감 채움 · 시리즈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· 숙련이 되고 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도감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귀가 후 재접속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일상에서도 연결이 이어지는가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열람 · 공유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재방문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부모가 다시 오는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퇴장 질문 · 설문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Customer Journey Map | 1–4단계 (오기 전 ~ 만드는 중)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가정 기반 · 시범 운영과 관찰로 검증 필요 · 붉은 줄은 불편, 초록 줄은 기회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2468880"/>
                <a:gridCol w="246888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발견 ·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도착 · 입장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선택 · 시작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창작 · 몰입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 행동 · 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· 친구 이야기로 기대. “만들고 싶다”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들뜸. 낯선 공간 앞에서 잠깐 주춤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재료를 만져 보고 고르며 설렘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몰입. 뜻대로 안 되면 답답, 도움 요청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행동 · 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후기 · 가격 · 시간 확인. 값어치를 따짐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· 규칙 안내에 민감. 짐 · 신발 걱정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어디까지 도와야 할지 망설임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찍기, 지켜보기. 지루하면 휴대폰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· 웹 · 지인 후기, 예약 페이지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· 체크인 · 안내 보드 · 작품 카드 수령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스테이션 · 오늘의 프로젝트 · 도감 화면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· 안내자 · 월 미리보기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경험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작품이 큰 화면에 나오는 예고 영상 · 시즌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체크인과 함께 가족 카드 발급 · 시간표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2–3개 제한 · 연령별 도전 카드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끝이 정해지지 않은 열린 창작 · 안내자의 질문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불편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· 시간 대비 가치가 불분명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줄 · 작품 카드 설명이 복잡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재료가 너무 많아 고르기 어려움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도움 정도를 몰라 부모가 개입 · 방해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가족 후기 · 작품 사례를 짧은 영상으로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입구에서 바로 만들기 시작할 수 있는 동선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추천 조합 · 도전 카드로 선택 부담 감소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부모용 한 줄 역할 안내(“이렇게 도와 주세요”)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· 볼 지표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예약 / 예약 전환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· 안내자 / 입장 대기 시간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안내자 · 재료 담당 / 선택 시간 · 포기율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안내자 / 몰입 시간 · 부모 개입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Customer Journey Map | 5–8단계 (작품 ~ 다시 오기)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가정 기반 · 시범 운영과 관찰로 검증 필요 · 붉은 줄은 불편, 초록 줄은 기회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2468880"/>
                <a:gridCol w="246888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작품화 · 전시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귀가 · 공유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 일상 재접속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재방문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 행동 · 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큰 성취. “내 거 어디 있어?”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아쉬움. “또 하고 싶다”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QR로 내 작품을 다시 보며 자랑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“지난번 이어서 하자”. 도감 채우기 의욕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행동 · 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작품이 남는 것에 만족. 가져갈지 고민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· 시간 가치를 정리하며 평가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소재가 생김. 공유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“굳이 또?”와 “다음엔 이거” 사이에서 결정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카드 · 전시 선반 · 월 · 스캔 · 촬영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출구 · QR · 굿즈 · 시즌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도감 · 알림 · 가족 공유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· 패스 · 시즌 행사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경험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카드 · 월 합류 · ‘가져가기 / 두고 가기’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한 장 월 · 다음 방문 예고(“자라 있어요”)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도감 업데이트 · 시즌 알림 · 부모용 질문 카드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작품 찾기 · 이어 만들기 · 새 재료 · 패스 혜택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불편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변환 · 촬영 대기, 작품 분실 걱정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처리와 출구 혼잡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알림이 많거나 개인정보 걱정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경험이면 다시 올 이유가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기다리는 동안 작품이 ‘자라는’ 연출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예고 · 다음 방문 혜택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알림은 시즌당 1–2회 · 동의 기반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재료 · 내 작품의 성장 · 가족의 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5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· 볼 지표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· 공정, 월 큐레이터 / 내 작품 찾기 성공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출구 · 회원 담당 / QR 발급 · 굿즈 구매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기록 담당 / QR 재접속 · 공유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큐레이터 · 회원 담당 / 2회차 비율 · 방문 간격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감정 곡선과 핵심 순간 3가지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곡선은 실측이 아닌 예상(가정) · 상대값 · 검증은 시범 운영에서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724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41E2E"/>
                </a:solidFill>
              </a:rPr>
              <a:t>핵심 순간(Moment of Truth)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772400" y="219456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0" y="2286000"/>
            <a:ext cx="73152" cy="640080"/>
          </a:xfrm>
          <a:prstGeom prst="rect">
            <a:avLst/>
          </a:prstGeom>
          <a:solidFill>
            <a:srgbClr val="0065B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001000" y="226771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4 창작 · 몰입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집중이 시작되는 순간 · 가장 먼저 확인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772400" y="310896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0" y="3200400"/>
            <a:ext cx="73152" cy="640080"/>
          </a:xfrm>
          <a:prstGeom prst="rect">
            <a:avLst/>
          </a:prstGeom>
          <a:solidFill>
            <a:srgbClr val="0091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001000" y="318211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5 작품화 · 전시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3502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‘내 것’이 되는 순간 · 아카이빙 경험의 중심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0" y="402336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0" y="4114800"/>
            <a:ext cx="73152" cy="640080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01000" y="409651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8 재방문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001000" y="4416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부모가 결정하는 순간 · 새 이유가 없으면 이탈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0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지도 검증 방법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0" y="5349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</a:rPr>
              <a:t>단계별 관찰 기록(몰입 시간 · 대기 · 부모 개입)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</a:rPr>
              <a:t>퇴장 시 부모 3문항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</a:rPr>
              <a:t>2주 후 알림 + 설문으로 재접속 확인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집중 설계와 아카이빙 설계 | 제안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‘과정 중심이 집중을 키운다’는 설명은 블로그 수준이며 연구는 찾지 못함 → 현장 시험 필요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집중하게 만드는 설계 4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끝을 정하지 않기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열린 재료. 멈추고 싶을 때 멈춤. 변환은 만든 뒤 선택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214884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재료는 적게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스테이션마다 2–3가지만 제공해 선택 피로를 줄임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기다림 없애기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변환은 자리를 뜬 뒤 자동 처리, 알림으로 호출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37560" y="342900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747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시선 · 소리 분리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</a:rPr>
              <a:t>만드는 구역은 화면 · 큰 소리와 분리. 보호자는 가까이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3B"/>
                </a:solidFill>
              </a:rPr>
              <a:t>작품이 되는 4단계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09360" y="214884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2148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13B"/>
                </a:solidFill>
              </a:rPr>
              <a:t>1 만든다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2148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자유 창작 · 만드는 장면도 사진으로 남김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278892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46520" y="2788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13B"/>
                </a:solidFill>
              </a:rPr>
              <a:t>2 작품이 된다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2788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작품 카드(번호 · QR · 날짜 · 재료)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09360" y="342900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46520" y="3429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13B"/>
                </a:solidFill>
              </a:rPr>
              <a:t>3 전시된다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3429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실물은 선반, 디지털은 월 · 가져가기/두고 가기 선택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9360" y="406908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46520" y="4069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13B"/>
                </a:solidFill>
              </a:rPr>
              <a:t>4 다시 만난다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40690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QR로 기록 확인, 다음 방문에 이어 만들기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8000"/>
                </a:solidFill>
              </a:rPr>
              <a:t>3겹의 보관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521208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6F6F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3152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1겹 · 오늘의 월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73152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공동 화면에 지금 보임. 하루 한 장 저장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297680" y="521208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6F6F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48056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2겹 · 내 도감(개인)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448056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QR 카드로 작품이 모임. 방문마다 한 칸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046720" y="521208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6F6F4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22960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3겹 · 시즌 컬렉션(공동)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22960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시즌 대형 전시 · 파사드 이벤트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Creative Atelier 아이디어 6종 | 재방문 연결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●●● 3단계 · 제 판단이며 검증 전 · 구현 쉬움은 ●가 많을수록 쉬움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640080"/>
                <a:gridCol w="868680"/>
                <a:gridCol w="731520"/>
                <a:gridCol w="822960"/>
                <a:gridCol w="4526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창작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작품이 쌓임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쉬움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 장치 제안 · 5–10세 메모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Creature Studio · 클레이 생명체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●○○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생명체 도감 한 칸씩, 다음 방문에 ‘자란’ 모습. 7세 이상은 이야기 · 시리즈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Growing Garden · 종이 정원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 사이에 자라는 정원(찾으러 오기). 기술 위험 낮음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Tiny Town Factory · 상자 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주소가 생기고 이웃이 늘어남, 시즌 도시 완성. 숙련 단계 붙이기 쉬움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D. Wonder Vehicle Lab · 탈것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●○○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레이스 · 등급. 기본 몸체 표준화는 낮은 단계만, 높은 단계는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E. Magic Bakery · 디저트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계절 메뉴 교체, 레시피북. 숙련 단계(Lv1–3)에 적합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F. Pattern Carnival · 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●○○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퍼레이드에 내 패턴. ‘내 것 찾기’가 약해 카드 · 번호 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97880"/>
            <a:ext cx="11064240" cy="411480"/>
          </a:xfrm>
          <a:prstGeom prst="roundRect">
            <a:avLst>
              <a:gd name="adj" fmla="val 22222"/>
            </a:avLst>
          </a:prstGeom>
          <a:solidFill>
            <a:srgbClr val="F6F6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59893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●의 개수는 첨부 파일의 평가를 따른 값이 아니라 이 문서의 제 판단입니다. 6종 모두 부모의 공동 제작 선택권(함께 만들기 / 지켜보기)을 두는 방향.</a:t>
            </a:r>
            <a:endParaRPr lang="en-US" sz="115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재방문 루프 | 1회차에서 2회차로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제안 · 시간 간격은 가정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0065B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1회차 · 만들기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517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자유 창작 후 작품 카드. 내 작품이 월 · 선반에 등장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06040" y="2084832"/>
            <a:ext cx="137160" cy="18288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9" name="Shape 6"/>
          <p:cNvSpPr/>
          <p:nvPr/>
        </p:nvSpPr>
        <p:spPr>
          <a:xfrm>
            <a:off x="2788920" y="18288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8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8892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떠나기 전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6517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“다음에 오면 자라 있어요” 예고, 다음 시즌 안내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2084832"/>
            <a:ext cx="137160" cy="18288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0" y="18288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62B5E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집에서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26517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QR로 내 작품 영상 · 기록 확인, 가족에게 공유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86600" y="2084832"/>
            <a:ext cx="137160" cy="18288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17" name="Shape 14"/>
          <p:cNvSpPr/>
          <p:nvPr/>
        </p:nvSpPr>
        <p:spPr>
          <a:xfrm>
            <a:off x="7269480" y="18288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0091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6948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2회차 · 찾기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26517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들어서자마자 내 작품 찾기. 자라거나 이웃이 늘어남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326880" y="2084832"/>
            <a:ext cx="137160" cy="18288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21" name="Shape 18"/>
          <p:cNvSpPr/>
          <p:nvPr/>
        </p:nvSpPr>
        <p:spPr>
          <a:xfrm>
            <a:off x="9509760" y="18288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E41E2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50976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이어 만들기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555480" y="26517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도감 · 시리즈 다음 칸, 새 재료 · 새 시즌 프로젝트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6F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4389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보호자에게도 다시 올 이유 | 어린이 박물관의 자주 오는 방문자 중 60%는 부모 · 보호자입니다(AAM). 아이의 작품 기록이 쌓여 ‘성장 기록’이 되고, 시즌 프로그램 알림이 오면 보호자가 재방문을 결정하는 구조입니다. 계정 · 알림에는 개인정보와 아동 데이터 처리 기준이 필요하며 이 문서에서는 다루지 않았습니다.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어떤 구성부터 테스트할까 | 고민할 선택지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초록 테두리는 제안 · 결정은 회의에서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E6F4EA"/>
          </a:solidFill>
          <a:ln w="31750">
            <a:solidFill>
              <a:srgbClr val="0091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</a:rPr>
              <a:t>구성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46120" y="192024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종이 시험 운영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디지털 없이 작품 카드 + 전시 선반 + 매주 월 사진으로 운영해 집중 · 작품 찾기 · 재방문 의향 확인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3B"/>
                </a:solidFill>
              </a:rPr>
              <a:t>강점: 기술 없이 핵심 경험 검증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297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1E2E"/>
                </a:solidFill>
              </a:rPr>
              <a:t>약점: ‘살아 움직이는’ 변환의 매력은 확인 못 함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</a:rPr>
              <a:t>구성 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Paper Garden 먼저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종이 콜라주 → 상부 스캔 → 디지털 가든. 방문 사이에 자라는 정원까지 시험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3B"/>
                </a:solidFill>
              </a:rPr>
              <a:t>강점: 재방문 장치(자람)를 바로 붙임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297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1E2E"/>
                </a:solidFill>
              </a:rPr>
              <a:t>약점: 대표 체험 임팩트가 클레이보다 약할 수 있음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17830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</a:rPr>
              <a:t>구성 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Clay Creature 먼저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</a:rPr>
              <a:t>클레이 → 촬영 → 2D 모션 → 월 출현. 대표 체험의 품질 · 시간 확인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3B"/>
                </a:solidFill>
              </a:rPr>
              <a:t>강점: Crayola형 보상이 명확, 홍보에 유리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297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1E2E"/>
                </a:solidFill>
              </a:rPr>
              <a:t>약점: 제작 · 촬영 · 모션 품질 위험, 재료 · 인력 필요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6F6F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51663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제 의견 | 순서는 1 → 2 → 3, 단 병행도 가능. 이번 핵심이 집중 · 작품화 · 재방문이라 기술이 필요 없는 구성 1로 이 루프가 성립하는지 먼저 확인하고, 그 위에 구성 2 · 3을 올려 디지털 변환의 가치를 비교하는 순서를 제안합니다. 클레이 촬영 품질은 시간이 걸릴 수 있어 구성 3의 시험은 병행도 가능합니다. 일정과 인력에 달려 있어 고민이 필요한 부분입니다.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시험에서 볼 것 | 측정 항목 제안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03504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 싶은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방법(제안)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B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만들기 시작부터 멈출 때까지 시간, 중간에 자리를 뜬 횟수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재료가 집중을 만드는지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작품이 되는 느낌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카드를 받은 뒤 선반 · 월에서 내 것을 찾는 아이 비율, 보호자 반응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아카이빙이 보상이 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 의향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퇴장 때 보호자에게 “또 오고 싶은 이유” 질문, 다음 시즌 안내 수신 동의 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 장치가 먹히는지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가족 참여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역할(함께 만들기 · 지켜보기 · 사진) 관찰, 퇴장 시 부모 3문항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가족 단위로 성립하는지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부담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소모량, 직원 투입 시간, 대기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운영 가능성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정해야 할 것 | 7가지 중 하나씩 선택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초록 테두리는 이 문서의 제안안 · 회의에서 □에 체크해 결정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첫 테스트 구성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926080" y="173736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35808" y="190195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17739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종이 시험 운영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2020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디지털 없이 핵심 루프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78308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173736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61888" y="190195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773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Paper Garden 먼저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020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낮은 기술 · 자라는 정원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78240" y="173736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87968" y="190195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89720" y="1773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Clay Creature 먼저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2020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대표 체험 품질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먼저 시험할 재방문 장치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926080" y="237744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35808" y="254203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37560" y="24140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찾으러 오기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337560" y="2660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방문 사이에 자람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242316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52160" y="237744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61888" y="254203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63640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도감 · 수집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2660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방문마다 한 칸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778240" y="237744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87968" y="254203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89720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이번 달 새 프로젝트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9189720" y="2660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재료 · 주제 교체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00584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실물 작품 처리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2926080" y="301752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035808" y="318211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337560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모두 가져가기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3337560" y="33009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Crayola 방식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852160" y="301752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61888" y="318211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263640" y="30540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전시 + 가져가기 선택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6263640" y="33009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MCNY 방식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001000" y="306324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778240" y="301752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887968" y="318211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189720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모두 전시 후 정리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9189720" y="33009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선반 중심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100584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개인 기록 방식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2926080" y="365760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035808" y="382219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337560" y="36941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QR 작품 카드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3337560" y="39410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카드 한 장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5074920" y="370332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852160" y="365760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961888" y="382219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263640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손목밴드</a:t>
            </a:r>
            <a:endParaRPr lang="en-US" sz="1150" dirty="0"/>
          </a:p>
        </p:txBody>
      </p:sp>
      <p:sp>
        <p:nvSpPr>
          <p:cNvPr id="60" name="Text 57"/>
          <p:cNvSpPr txBox="1"/>
          <p:nvPr/>
        </p:nvSpPr>
        <p:spPr>
          <a:xfrm>
            <a:off x="6263640" y="39410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LEGO House 방식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778240" y="365760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87968" y="382219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189720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계정 없이 현장 사진</a:t>
            </a:r>
            <a:endParaRPr lang="en-US" sz="1150" dirty="0"/>
          </a:p>
        </p:txBody>
      </p:sp>
      <p:sp>
        <p:nvSpPr>
          <p:cNvPr id="64" name="Text 61"/>
          <p:cNvSpPr txBox="1"/>
          <p:nvPr/>
        </p:nvSpPr>
        <p:spPr>
          <a:xfrm>
            <a:off x="9189720" y="39410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개인정보 부담 최소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66" name="Text 63"/>
          <p:cNvSpPr txBox="1"/>
          <p:nvPr/>
        </p:nvSpPr>
        <p:spPr>
          <a:xfrm>
            <a:off x="100584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가족 참여 방식</a:t>
            </a:r>
            <a:endParaRPr lang="en-US" sz="1250" dirty="0"/>
          </a:p>
        </p:txBody>
      </p:sp>
      <p:sp>
        <p:nvSpPr>
          <p:cNvPr id="67" name="Shape 64"/>
          <p:cNvSpPr/>
          <p:nvPr/>
        </p:nvSpPr>
        <p:spPr>
          <a:xfrm>
            <a:off x="2926080" y="429768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035808" y="446227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3337560" y="4334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부모는 관찰만</a:t>
            </a:r>
            <a:endParaRPr lang="en-US" sz="1150" dirty="0"/>
          </a:p>
        </p:txBody>
      </p:sp>
      <p:sp>
        <p:nvSpPr>
          <p:cNvPr id="70" name="Text 67"/>
          <p:cNvSpPr txBox="1"/>
          <p:nvPr/>
        </p:nvSpPr>
        <p:spPr>
          <a:xfrm>
            <a:off x="3337560" y="4581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아이 중심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5852160" y="429768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961888" y="446227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263640" y="4334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부모 공동 제작자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6263640" y="4581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함께 만들기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8778240" y="429768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87968" y="446227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9189720" y="43342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선택제</a:t>
            </a:r>
            <a:endParaRPr lang="en-US" sz="1150" dirty="0"/>
          </a:p>
        </p:txBody>
      </p:sp>
      <p:sp>
        <p:nvSpPr>
          <p:cNvPr id="78" name="Text 75"/>
          <p:cNvSpPr txBox="1"/>
          <p:nvPr/>
        </p:nvSpPr>
        <p:spPr>
          <a:xfrm>
            <a:off x="9189720" y="4581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아이 · 부모가 정함</a:t>
            </a:r>
            <a:endParaRPr lang="en-US" sz="950" dirty="0"/>
          </a:p>
        </p:txBody>
      </p:sp>
      <p:sp>
        <p:nvSpPr>
          <p:cNvPr id="79" name="Text 76"/>
          <p:cNvSpPr txBox="1"/>
          <p:nvPr/>
        </p:nvSpPr>
        <p:spPr>
          <a:xfrm>
            <a:off x="10927080" y="434340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80" name="Text 77"/>
          <p:cNvSpPr txBox="1"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81" name="Text 78"/>
          <p:cNvSpPr txBox="1"/>
          <p:nvPr/>
        </p:nvSpPr>
        <p:spPr>
          <a:xfrm>
            <a:off x="1005840" y="4937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멤버십 구조(시험용)</a:t>
            </a:r>
            <a:endParaRPr lang="en-US" sz="1250" dirty="0"/>
          </a:p>
        </p:txBody>
      </p:sp>
      <p:sp>
        <p:nvSpPr>
          <p:cNvPr id="82" name="Shape 79"/>
          <p:cNvSpPr/>
          <p:nvPr/>
        </p:nvSpPr>
        <p:spPr>
          <a:xfrm>
            <a:off x="2926080" y="493776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035808" y="510235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337560" y="4974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1회권만</a:t>
            </a:r>
            <a:endParaRPr lang="en-US" sz="1150" dirty="0"/>
          </a:p>
        </p:txBody>
      </p:sp>
      <p:sp>
        <p:nvSpPr>
          <p:cNvPr id="85" name="Text 82"/>
          <p:cNvSpPr txBox="1"/>
          <p:nvPr/>
        </p:nvSpPr>
        <p:spPr>
          <a:xfrm>
            <a:off x="3337560" y="5221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가입 없이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5852160" y="493776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961888" y="510235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263640" y="49743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시즌 패스(3개월)</a:t>
            </a:r>
            <a:endParaRPr lang="en-US" sz="1150" dirty="0"/>
          </a:p>
        </p:txBody>
      </p:sp>
      <p:sp>
        <p:nvSpPr>
          <p:cNvPr id="89" name="Text 86"/>
          <p:cNvSpPr txBox="1"/>
          <p:nvPr/>
        </p:nvSpPr>
        <p:spPr>
          <a:xfrm>
            <a:off x="6263640" y="5221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OliOli형 반복 시험</a:t>
            </a:r>
            <a:endParaRPr lang="en-US" sz="950" dirty="0"/>
          </a:p>
        </p:txBody>
      </p:sp>
      <p:sp>
        <p:nvSpPr>
          <p:cNvPr id="90" name="Text 87"/>
          <p:cNvSpPr txBox="1"/>
          <p:nvPr/>
        </p:nvSpPr>
        <p:spPr>
          <a:xfrm>
            <a:off x="8001000" y="498348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8778240" y="493776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887968" y="510235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9189720" y="4974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시즌 + 연간 가족 패스</a:t>
            </a:r>
            <a:endParaRPr lang="en-US" sz="1150" dirty="0"/>
          </a:p>
        </p:txBody>
      </p:sp>
      <p:sp>
        <p:nvSpPr>
          <p:cNvPr id="94" name="Text 91"/>
          <p:cNvSpPr txBox="1"/>
          <p:nvPr/>
        </p:nvSpPr>
        <p:spPr>
          <a:xfrm>
            <a:off x="9189720" y="5221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서울상상나라 · Crayola 참고</a:t>
            </a:r>
            <a:endParaRPr lang="en-US" sz="950" dirty="0"/>
          </a:p>
        </p:txBody>
      </p:sp>
      <p:sp>
        <p:nvSpPr>
          <p:cNvPr id="95" name="Text 92"/>
          <p:cNvSpPr txBox="1"/>
          <p:nvPr/>
        </p:nvSpPr>
        <p:spPr>
          <a:xfrm>
            <a:off x="548640" y="5669280"/>
            <a:ext cx="365760" cy="36576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96" name="Text 93"/>
          <p:cNvSpPr txBox="1"/>
          <p:nvPr/>
        </p:nvSpPr>
        <p:spPr>
          <a:xfrm>
            <a:off x="1005840" y="5577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시험 대상</a:t>
            </a:r>
            <a:endParaRPr lang="en-US" sz="1250" dirty="0"/>
          </a:p>
        </p:txBody>
      </p:sp>
      <p:sp>
        <p:nvSpPr>
          <p:cNvPr id="97" name="Shape 94"/>
          <p:cNvSpPr/>
          <p:nvPr/>
        </p:nvSpPr>
        <p:spPr>
          <a:xfrm>
            <a:off x="2926080" y="557784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35808" y="574243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337560" y="56144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직원 가족 · 지인 소수</a:t>
            </a:r>
            <a:endParaRPr lang="en-US" sz="1150" dirty="0"/>
          </a:p>
        </p:txBody>
      </p:sp>
      <p:sp>
        <p:nvSpPr>
          <p:cNvPr id="100" name="Text 97"/>
          <p:cNvSpPr txBox="1"/>
          <p:nvPr/>
        </p:nvSpPr>
        <p:spPr>
          <a:xfrm>
            <a:off x="3337560" y="5861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비공개 소규모</a:t>
            </a:r>
            <a:endParaRPr lang="en-US" sz="950" dirty="0"/>
          </a:p>
        </p:txBody>
      </p:sp>
      <p:sp>
        <p:nvSpPr>
          <p:cNvPr id="101" name="Text 98"/>
          <p:cNvSpPr txBox="1"/>
          <p:nvPr/>
        </p:nvSpPr>
        <p:spPr>
          <a:xfrm>
            <a:off x="5074920" y="562356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제안</a:t>
            </a:r>
            <a:endParaRPr lang="en-US" sz="1100" dirty="0"/>
          </a:p>
        </p:txBody>
      </p:sp>
      <p:sp>
        <p:nvSpPr>
          <p:cNvPr id="102" name="Shape 99"/>
          <p:cNvSpPr/>
          <p:nvPr/>
        </p:nvSpPr>
        <p:spPr>
          <a:xfrm>
            <a:off x="5852160" y="557784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5961888" y="574243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6263640" y="5614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일반 방문객 일부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6263640" y="5861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실제 반응 확인</a:t>
            </a:r>
            <a:endParaRPr lang="en-US" sz="950" dirty="0"/>
          </a:p>
        </p:txBody>
      </p:sp>
      <p:sp>
        <p:nvSpPr>
          <p:cNvPr id="106" name="Shape 103"/>
          <p:cNvSpPr/>
          <p:nvPr/>
        </p:nvSpPr>
        <p:spPr>
          <a:xfrm>
            <a:off x="8778240" y="557784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87968" y="574243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9189720" y="5614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어린이집 · 단체</a:t>
            </a:r>
            <a:endParaRPr lang="en-US" sz="1150" dirty="0"/>
          </a:p>
        </p:txBody>
      </p:sp>
      <p:sp>
        <p:nvSpPr>
          <p:cNvPr id="109" name="Text 106"/>
          <p:cNvSpPr txBox="1"/>
          <p:nvPr/>
        </p:nvSpPr>
        <p:spPr>
          <a:xfrm>
            <a:off x="9189720" y="5861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연령 · 집중 시간 확인</a:t>
            </a:r>
            <a:endParaRPr lang="en-US" sz="950" dirty="0"/>
          </a:p>
        </p:txBody>
      </p:sp>
      <p:sp>
        <p:nvSpPr>
          <p:cNvPr id="1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확인 못 한 것 · 한계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숨기지 않고 표시합니다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시설별 재방문율 수치는 공개 자료로 확인하지 못했습니다. 장치들은 운영 구조 설명이며 효과는 추정입니다.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Crayola 연간 패스의 도입 이유 · KidZania의 재방문 전략은 마케팅 · 안내 자료뿐입니다.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AAM 설문은 ‘어떤 사람이 자주 오는가’를 알려 주며 재방문 비율 자체는 아닙니다. 멤버십 연구는 한 박물관의 자기 보고입니다.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‘과정 중심이 집중을 키운다’ · ‘반복 놀이가 뇌 발달에 중요하다’는 블로그 · 실무 · 보도 수준이며 5–10세 대상 통제 연구는 찾지 못했습니다.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5–10세 가족만 다룬 자료는 찾지 못해 가족 필요 경험과 연령 구간은 제 가설입니다.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OliOli는 공식 안내 기준(대상 연령 · 갤러리 수가 출처마다 다름). 서울상상나라는 2013 기사와 오래된 부분이 있는 회원 안내를 함께 썼으며 현재 가격 · 연령은 공식 사이트 확인이 필요합니다.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고객 여정 지도와 감정 곡선은 가정이며 관찰 · 설문 검증이 필요합니다.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CAPC 공식 페이지와 MoMA 페이지는 자동 접속이 막혀 직접 확인하지 못했고, @capc_kids 인스타그램은 로그인 창만 열려 게시물을 읽지 못했습니다(공개 기사로 대체).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재료 안전 · 위생 · 개인정보(QR 계정 · 아동 사진 · 알림)는 별도 검토가 필요합니다.</a:t>
            </a:r>
            <a:endParaRPr lang="en-US" sz="12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사례 모음 1/3 | 만든 오브제가 콘텐츠가 되는 사례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대표 사진 1장 + 특징 + 출처 링크 · 사진은 각 출처 페이지에서 가져온 참고용(저작권은 각 출처)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6" name="Image 0" descr="Crayola · Model Magic Movie Studios 대표 사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69364"/>
            <a:ext cx="1783080" cy="1417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68880" y="1792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Crayola · Model Magic Movie Studios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2468880" y="20391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미국 이스턴 · 올랜도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2402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클레이로 생물을 빚고 → 스캔 부스 → 이야기에 출연 → 영상 다운로드 + 실물 가져가기. 연 49.99달러(이스턴) 무제한 패스, 시즌 행사 · 친구 데려오기 병행</a:t>
            </a:r>
            <a:endParaRPr lang="en-US" sz="900" dirty="0"/>
          </a:p>
        </p:txBody>
      </p:sp>
      <p:sp>
        <p:nvSpPr>
          <p:cNvPr id="10" name="Text 6">
            <a:hlinkClick r:id="rId2" tooltip=""/>
          </p:cNvPr>
          <p:cNvSpPr txBox="1"/>
          <p:nvPr/>
        </p:nvSpPr>
        <p:spPr>
          <a:xfrm>
            <a:off x="2468880" y="29718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Lehigh Valley Public Media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12648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12" name="Image 1" descr="LEGO House · Fish Designer 대표 사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769364"/>
            <a:ext cx="1783080" cy="1417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1792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LEGO House · Fish Designer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20391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덴마크 빌룬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22402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블록으로 만든 물고기를 스캔하면 디지털 물고기가 되어 수중 존에서 헤엄. 디지털 손목밴드에 창작물 기록. (사진은 시설 내부)</a:t>
            </a:r>
            <a:endParaRPr lang="en-US" sz="900" dirty="0"/>
          </a:p>
        </p:txBody>
      </p:sp>
      <p:sp>
        <p:nvSpPr>
          <p:cNvPr id="16" name="Text 11">
            <a:hlinkClick r:id="rId4" tooltip=""/>
          </p:cNvPr>
          <p:cNvSpPr txBox="1"/>
          <p:nvPr/>
        </p:nvSpPr>
        <p:spPr>
          <a:xfrm>
            <a:off x="8046720" y="29718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SCAN Magazine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48640" y="32918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18" name="Image 2" descr="Play-Doh Touch · Emerging Species 대표 사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323844"/>
            <a:ext cx="1783080" cy="1417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468880" y="3346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Play-Doh Touch · Emerging Species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2468880" y="35935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Hasbro 앱(2016) · DDB Paris(2017)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246888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집의 클레이 생물을 사진으로 찍으면 앱이 눈 · 다리를 알아보고 목소리와 걸음걸이를 부여. 캠페인에서 30여 종을 ‘신종 생물 박물관’으로 구성</a:t>
            </a:r>
            <a:endParaRPr lang="en-US" sz="900" dirty="0"/>
          </a:p>
        </p:txBody>
      </p:sp>
      <p:sp>
        <p:nvSpPr>
          <p:cNvPr id="22" name="Text 16">
            <a:hlinkClick r:id="rId6" tooltip=""/>
          </p:cNvPr>
          <p:cNvSpPr txBox="1"/>
          <p:nvPr/>
        </p:nvSpPr>
        <p:spPr>
          <a:xfrm>
            <a:off x="2468880" y="4526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Engadget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6126480" y="32918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24" name="Image 3" descr="teamLab · Sketch Town 대표 사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3323844"/>
            <a:ext cx="1783080" cy="1417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46720" y="3346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teamLab · Sketch Town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8046720" y="35935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여러 전시장 · 2015~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804672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탈것 · 건물 도안에 색칠 → 스캔하면 3D가 되어 공유 도시에 합류. 요소마다 기능이 있고 만지면 움직임이 바뀜</a:t>
            </a:r>
            <a:endParaRPr lang="en-US" sz="900" dirty="0"/>
          </a:p>
        </p:txBody>
      </p:sp>
      <p:sp>
        <p:nvSpPr>
          <p:cNvPr id="28" name="Text 21">
            <a:hlinkClick r:id="rId8" tooltip=""/>
          </p:cNvPr>
          <p:cNvSpPr txBox="1"/>
          <p:nvPr/>
        </p:nvSpPr>
        <p:spPr>
          <a:xfrm>
            <a:off x="8046720" y="4526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teamLab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548640" y="484632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30" name="Image 4" descr="teamLab · Sketch Aquarium 대표 사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" y="4878324"/>
            <a:ext cx="1783080" cy="1417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468880" y="4901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teamLab · Sketch Aquarium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2468880" y="51480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어린이 박물관 등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2468880" y="534924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바다 생물 도안을 크레용으로 색칠 → 스캔 → 벽 크기의 바다에서 헤엄. 만지면 방향을 바꾸거나 먹이를 먹음 · 우리 Live Sketchbook의 원형</a:t>
            </a:r>
            <a:endParaRPr lang="en-US" sz="900" dirty="0"/>
          </a:p>
        </p:txBody>
      </p:sp>
      <p:sp>
        <p:nvSpPr>
          <p:cNvPr id="34" name="Text 26">
            <a:hlinkClick r:id="rId10" tooltip=""/>
          </p:cNvPr>
          <p:cNvSpPr txBox="1"/>
          <p:nvPr/>
        </p:nvSpPr>
        <p:spPr>
          <a:xfrm>
            <a:off x="2468880" y="60807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teamLab 보도 자료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6126480" y="484632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36" name="Image 5" descr="Aardman · The Studio (ACMI) 대표 사진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056" y="4878324"/>
            <a:ext cx="1783080" cy="1417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046720" y="4901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Aardman · The Studio (ACMI)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8046720" y="51480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호주 멜버른 · 2017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8046720" y="534924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클레이 캐릭터를 빚고 아이가 직접 짧은 스톱모션 영화를 만듦(자동 변환이 아닌 직접 움직이기). 사진은 전시장 내부</a:t>
            </a:r>
            <a:endParaRPr lang="en-US" sz="900" dirty="0"/>
          </a:p>
        </p:txBody>
      </p:sp>
      <p:sp>
        <p:nvSpPr>
          <p:cNvPr id="40" name="Text 31">
            <a:hlinkClick r:id="rId12" tooltip=""/>
          </p:cNvPr>
          <p:cNvSpPr txBox="1"/>
          <p:nvPr/>
        </p:nvSpPr>
        <p:spPr>
          <a:xfrm>
            <a:off x="8046720" y="60807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Aardman</a:t>
            </a:r>
            <a:endParaRPr lang="en-US" sz="8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사례 모음 2/3 | 공방 구성 · 남겨서 전시 · 재방문 구조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대표 사진 1장 + 특징 + 출처 링크 · 사진은 각 출처 페이지에서 가져온 참고용(저작권은 각 출처)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6" name="Image 0" descr="The Magic House · MADE for Kids 대표 사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69364"/>
            <a:ext cx="1783080" cy="1417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68880" y="1792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The Magic House · MADE for Kids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2468880" y="20391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미국 세인트루이스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2402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약 7,000 sq ft 메이커 공방, 4–14세. 스크린 인쇄 · 레이저 커팅 · 스톱모션 · 3D 프린팅 · 도자기. 디지털 변환 연출은 확인 못 함. (사진은 Magic House 시설 일반 사진)</a:t>
            </a:r>
            <a:endParaRPr lang="en-US" sz="900" dirty="0"/>
          </a:p>
        </p:txBody>
      </p:sp>
      <p:sp>
        <p:nvSpPr>
          <p:cNvPr id="10" name="Text 6">
            <a:hlinkClick r:id="rId2" tooltip=""/>
          </p:cNvPr>
          <p:cNvSpPr txBox="1"/>
          <p:nvPr/>
        </p:nvSpPr>
        <p:spPr>
          <a:xfrm>
            <a:off x="2468880" y="29718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Magic House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12648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12" name="Image 1" descr="Exploratorium · Tinkering Studio 대표 사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769364"/>
            <a:ext cx="1783080" cy="1417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1792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Exploratorium · Tinkering Studio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20391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미국 샌프란시스코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22402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방문객이 만든 것을 남겨 두면 전시의 일부가 되어 다음 방문객에게 영감(방문기 기준). 현재 운영 정책은 확인 못 함</a:t>
            </a:r>
            <a:endParaRPr lang="en-US" sz="900" dirty="0"/>
          </a:p>
        </p:txBody>
      </p:sp>
      <p:sp>
        <p:nvSpPr>
          <p:cNvPr id="16" name="Text 11">
            <a:hlinkClick r:id="rId4" tooltip=""/>
          </p:cNvPr>
          <p:cNvSpPr txBox="1"/>
          <p:nvPr/>
        </p:nvSpPr>
        <p:spPr>
          <a:xfrm>
            <a:off x="8046720" y="29718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NBC News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48640" y="32918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18" name="Image 2" descr="CAPC · Cool Kids Space 대표 사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323844"/>
            <a:ext cx="1783080" cy="1417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468880" y="3346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CAPC · Cool Kids Space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2468880" y="35935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프랑스 보르도 · 2025.9~2027.4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246888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작가 Mathis Collins 설계, 18개월마다 작가 교체. 정해진 동선 없음, 토들러 정원 · 거대한 책 · 폼 쌓기 · 독서 · 색칠 · 단편 영상. 연령 출처마다 2–11세/3–11세/2–8세. (사진은 골판지 블록 홀 기사 사진)</a:t>
            </a:r>
            <a:endParaRPr lang="en-US" sz="900" dirty="0"/>
          </a:p>
        </p:txBody>
      </p:sp>
      <p:sp>
        <p:nvSpPr>
          <p:cNvPr id="22" name="Text 16">
            <a:hlinkClick r:id="rId6" tooltip=""/>
          </p:cNvPr>
          <p:cNvSpPr txBox="1"/>
          <p:nvPr/>
        </p:nvSpPr>
        <p:spPr>
          <a:xfrm>
            <a:off x="2468880" y="4526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Citizenkid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6126480" y="32918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24" name="Image 3" descr="Color Me Mine 대표 사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3323844"/>
            <a:ext cx="1783080" cy="1417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46720" y="3346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Color Me Mine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8046720" y="35935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미국 · 여러 지점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804672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굽지 않은 도자기에 현장에서 색칠 → 가마에서 구워 약 1주 뒤 다시 와서 가져감. 결과가 시간 뒤에 나오는 것이 재방문 이유가 됨(제 추정)</a:t>
            </a:r>
            <a:endParaRPr lang="en-US" sz="900" dirty="0"/>
          </a:p>
        </p:txBody>
      </p:sp>
      <p:sp>
        <p:nvSpPr>
          <p:cNvPr id="28" name="Text 21">
            <a:hlinkClick r:id="rId8" tooltip=""/>
          </p:cNvPr>
          <p:cNvSpPr txBox="1"/>
          <p:nvPr/>
        </p:nvSpPr>
        <p:spPr>
          <a:xfrm>
            <a:off x="8046720" y="4526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Visit Norfolk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548640" y="484632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30" name="Image 4" descr="Meadows Museum · Open Studio 대표 사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" y="4878324"/>
            <a:ext cx="1783080" cy="1417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468880" y="4901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Meadows Museum · Open Studio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2468880" y="51480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미국 댈러스 · 매월 무료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2468880" y="534924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전시 작품에서 영감을 얻은 프로젝트, 재료 모두 제공. “매달 새 프로젝트를 제공하니 자주 다시 오기를 권한다”고 안내. 사전 등록 없이 드롭인</a:t>
            </a:r>
            <a:endParaRPr lang="en-US" sz="900" dirty="0"/>
          </a:p>
        </p:txBody>
      </p:sp>
      <p:sp>
        <p:nvSpPr>
          <p:cNvPr id="34" name="Text 26">
            <a:hlinkClick r:id="rId10" tooltip=""/>
          </p:cNvPr>
          <p:cNvSpPr txBox="1"/>
          <p:nvPr/>
        </p:nvSpPr>
        <p:spPr>
          <a:xfrm>
            <a:off x="2468880" y="60807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Meadows Museum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6126480" y="484632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36" name="Image 5" descr="MCNY Kids Art Studio 대표 사진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056" y="4878324"/>
            <a:ext cx="1783080" cy="1417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046720" y="4901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MCNY Kids Art Studio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8046720" y="51480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미국 뉴욕시 · 3세 이상 + 보호자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8046720" y="534924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콜라주 · 드로잉 · 섬유 · 이야기 만들기 등을 자유롭게, 활동이 매달 바뀜. 작품은 집에 가져가거나 두고 가서 다른 방문자에게 전시</a:t>
            </a:r>
            <a:endParaRPr lang="en-US" sz="900" dirty="0"/>
          </a:p>
        </p:txBody>
      </p:sp>
      <p:sp>
        <p:nvSpPr>
          <p:cNvPr id="40" name="Text 31">
            <a:hlinkClick r:id="rId12" tooltip=""/>
          </p:cNvPr>
          <p:cNvSpPr txBox="1"/>
          <p:nvPr/>
        </p:nvSpPr>
        <p:spPr>
          <a:xfrm>
            <a:off x="8046720" y="60807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MCNY</a:t>
            </a:r>
            <a:endParaRPr lang="en-US" sz="8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사례 모음 3/3 | 진행도 · 기록 · 멤버십 사례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대표 사진 1장 + 특징 + 출처 링크 · 사진은 각 출처 페이지에서 가져온 참고용(저작권은 각 출처)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6" name="Image 0" descr="KidZania 대표 사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69364"/>
            <a:ext cx="1783080" cy="1417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68880" y="1792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KidZania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2468880" y="20391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싱가포르 안내 기준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2402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여권(PaZZport)에 활동마다 도장 → 쌓이면 시민 등급이 올라 임금 · 할인 · 특별 활동 혜택. 재방문 전략 · 효과는 마케팅 자료뿐이라 확인 못 함</a:t>
            </a:r>
            <a:endParaRPr lang="en-US" sz="900" dirty="0"/>
          </a:p>
        </p:txBody>
      </p:sp>
      <p:sp>
        <p:nvSpPr>
          <p:cNvPr id="10" name="Text 6">
            <a:hlinkClick r:id="rId2" tooltip=""/>
          </p:cNvPr>
          <p:cNvSpPr txBox="1"/>
          <p:nvPr/>
        </p:nvSpPr>
        <p:spPr>
          <a:xfrm>
            <a:off x="2468880" y="29718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KidZania Singapore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12648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63056" y="1769364"/>
            <a:ext cx="1783080" cy="1417320"/>
          </a:xfrm>
          <a:prstGeom prst="rect">
            <a:avLst/>
          </a:prstGeom>
          <a:solidFill>
            <a:srgbClr val="F6F6F4"/>
          </a:solidFill>
          <a:ln w="12700">
            <a:solidFill>
              <a:srgbClr val="D6D6D6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6163056" y="1769364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사진 없음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1792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Artsonia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0" y="20391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온라인 어린이 미술관 · 2000년~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22402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학교 · 가정이 작품 사진을 올려 공개 전시, 부모 · 친척이 댓글 · 구독. 작품을 인쇄한 기념품 판매. 작품 수 집계는 출처마다 다름. (사진 확보 못 함)</a:t>
            </a:r>
            <a:endParaRPr lang="en-US" sz="900" dirty="0"/>
          </a:p>
        </p:txBody>
      </p:sp>
      <p:sp>
        <p:nvSpPr>
          <p:cNvPr id="17" name="Text 13">
            <a:hlinkClick r:id="rId3" tooltip=""/>
          </p:cNvPr>
          <p:cNvSpPr txBox="1"/>
          <p:nvPr/>
        </p:nvSpPr>
        <p:spPr>
          <a:xfrm>
            <a:off x="8046720" y="297180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Common Sense Education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48640" y="32918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19" name="Image 1" descr="Reggio Emilia 아틀리에 대표 사진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23844"/>
            <a:ext cx="1783080" cy="1417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468880" y="3346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Reggio Emilia 아틀리에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2468880" y="35935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이탈리아 · 유아교육 접근법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246888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아이의 ‘여러 표현 언어’를 열고 아틀리에리스타가 재료 가능성을 안내. 사진 · 아이의 말 · 작품을 벽에 붙여 과정을 기록. (이미지는 관련 도서 표지, 현장 사진 아님)</a:t>
            </a:r>
            <a:endParaRPr lang="en-US" sz="900" dirty="0"/>
          </a:p>
        </p:txBody>
      </p:sp>
      <p:sp>
        <p:nvSpPr>
          <p:cNvPr id="23" name="Text 18">
            <a:hlinkClick r:id="rId5" tooltip=""/>
          </p:cNvPr>
          <p:cNvSpPr txBox="1"/>
          <p:nvPr/>
        </p:nvSpPr>
        <p:spPr>
          <a:xfrm>
            <a:off x="2468880" y="4526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Pinnacle Presbyterian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126480" y="32918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25" name="Image 2" descr="OliOli Dubai 대표 사진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3323844"/>
            <a:ext cx="1783080" cy="1417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046720" y="3346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OliOli Dubai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046720" y="35935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아랍에미리트 두바이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8046720" y="37947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“정답도 오답도 없는” 열린 놀이, 45개 이상 체험물. 3개월 멤버십(아이 1 + 어른 1, 3시간 이용, 임시 전시 무료). AED 889–1,189(참고)</a:t>
            </a:r>
            <a:endParaRPr lang="en-US" sz="900" dirty="0"/>
          </a:p>
        </p:txBody>
      </p:sp>
      <p:sp>
        <p:nvSpPr>
          <p:cNvPr id="29" name="Text 23">
            <a:hlinkClick r:id="rId7" tooltip=""/>
          </p:cNvPr>
          <p:cNvSpPr txBox="1"/>
          <p:nvPr/>
        </p:nvSpPr>
        <p:spPr>
          <a:xfrm>
            <a:off x="8046720" y="45262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OliOli 공식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48640" y="484632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pic>
        <p:nvPicPr>
          <p:cNvPr id="31" name="Image 3" descr="서울상상나라 대표 사진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4878324"/>
            <a:ext cx="1783080" cy="1417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468880" y="4901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서울상상나라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2468880" y="51480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5B2"/>
                </a:solidFill>
              </a:rPr>
              <a:t>서울 광진구 어린이대공원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2468880" y="534924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0–9세 대상 10개 영역(개관 시 2013), 창의놀이실 · 예술놀이. 가족 연회원 2인 3만 원 · 무제한, 연 2–3회 전시 교체. (사진은 2013년 개관 기사)</a:t>
            </a:r>
            <a:endParaRPr lang="en-US" sz="900" dirty="0"/>
          </a:p>
        </p:txBody>
      </p:sp>
      <p:sp>
        <p:nvSpPr>
          <p:cNvPr id="35" name="Text 28">
            <a:hlinkClick r:id="rId9" tooltip=""/>
          </p:cNvPr>
          <p:cNvSpPr txBox="1"/>
          <p:nvPr/>
        </p:nvSpPr>
        <p:spPr>
          <a:xfrm>
            <a:off x="2468880" y="60807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0065B2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서울시 회원 안내</a:t>
            </a:r>
            <a:endParaRPr lang="en-US" sz="8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참고 링크와 사진 출처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80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모든 링크는 작성 시점에 접속 확인한 것만 수록 · 사진은 해당 출처 페이지 이미지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5B2"/>
                </a:solidFill>
              </a:rPr>
              <a:t>v2 추가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7830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OliOli 멤버십 https://olioli.ae/memberships/ · 서울상상나라 회원 안내 https://www.seoulchildrensmuseum.org/reservation/memberJoinInfo.do · 회원 행사 …/memberEventList.do · 서울톡톡 https://mediahub.seoul.go.kr/archives/183020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5B2"/>
                </a:solidFill>
              </a:rPr>
              <a:t>가족 · 방문 근거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2697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AAM 2024 설문 https://www.aam-us.org/2025/02/28/breaking-down-visitation-by-museum-type-a-2024-annual-survey-of-museum-goers-data-story/ · Frontiers in Psychology https://www.frontiersin.org/journals/psychology/articles/10.3389/fpsyg.2021.689649/full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5B2"/>
                </a:solidFill>
              </a:rPr>
              <a:t>Crayola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36118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https://www.lehighvalleypublicmedia.org/news/entertainment/crayola-experience-expands-creativity-with-model-magic-movie-studios/ · 연간 패스 https://www.crayolaexperience.com/easton/annual-passes/become-a-passholder/what-is-an-annual-pass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26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5B2"/>
                </a:solidFill>
              </a:rPr>
              <a:t>사례 사진 출처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51760" y="45262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Crayola: Lehigh Valley Public Media · LEGO: The Brothers Brick/SCAN · Play-Doh: Engadget · Sketch Town/Aquarium: teamLab · Aardman: aardman.com · MADE: magichouse.org · Tinkering: NBC News · CAPC: Le Bonbon · Color Me Mine: Macaroni Kid · Meadows: meadowsmuseumdallas.org · MCNY · KidZania · Reggio: Routledge 도서 표지 · OliOli · 서울상상나라: 서울톡톡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440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5B2"/>
                </a:solidFill>
              </a:rPr>
              <a:t>이전 자료(claude.ai)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5440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</a:rPr>
              <a:t>Creative Atelier 재방문 리서치 v2 https://claude.ai/artifact/WPRNmEHajBLcnb4E2Q6RaH · 공방 아이데이션 https://claude.ai/artifact/5vJ51u7RyhAro274mTbqxv</a:t>
            </a:r>
            <a:endParaRPr lang="en-US" sz="95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사례 모음 보충 | 진행도 · 기록 · 멤버십 3종 추가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재방문을 만드는 구조 3가지 · 사진은 각 출처 페이지에서 가져온 참고용(저작권은 각 출처) · 링크는 작성 시점 확인</a:t>
            </a: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548640" y="1783080"/>
            <a:ext cx="35661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eoria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3383280" cy="178308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731520" y="3749039"/>
            <a:ext cx="1280160" cy="237744"/>
          </a:xfrm>
          <a:prstGeom prst="roundRect">
            <a:avLst/>
          </a:prstGeom>
          <a:solidFill>
            <a:srgbClr val="006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진행도 · 멤버십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050791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111111"/>
                </a:solidFill>
                <a:latin typeface="Malgun Gothic"/>
              </a:rPr>
              <a:t>Peoria Riverfront Museum · Achievement Passport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4805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0065B2"/>
                </a:solidFill>
                <a:latin typeface="Malgun Gothic"/>
              </a:rPr>
              <a:t>미국 일리노이 · 무료 · 디지털 패스포트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709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활동마다 점수(10–250점): 패스포트 QR을 스캔해 적립. 공작 25점, 투어 100점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회원은 해당 활동 점수 2배, 패스포트는 해마다 갱신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월간 · 연간 상품(성인/청소년 부문), 매월 2번째 일요일 100점 모으면 한정 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532120"/>
            <a:ext cx="3291840" cy="475488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550408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111111"/>
                </a:solidFill>
                <a:latin typeface="Malgun Gothic"/>
              </a:rPr>
              <a:t>공방 적용(제안): ‘도감 · 시리즈’에 점수 + 회원 2배 가속을 붙이는 방식. 점수 값은 그 박물관 기준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0807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 b="0" u="sng">
                <a:solidFill>
                  <a:srgbClr val="0065B2"/>
                </a:solidFill>
                <a:latin typeface="Malgun Gothic"/>
                <a:hlinkClick r:id="rId3"/>
              </a:rPr>
              <a:t>출처: Peoria Riverfront Museum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79" y="1783080"/>
            <a:ext cx="35661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ns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19" y="1874519"/>
            <a:ext cx="3383280" cy="178308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480559" y="3749039"/>
            <a:ext cx="1280160" cy="237744"/>
          </a:xfrm>
          <a:prstGeom prst="round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기록 · 수집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4050791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111111"/>
                </a:solidFill>
                <a:latin typeface="Malgun Gothic"/>
              </a:rPr>
              <a:t>ANS Explore! · Academy of Natural Sciences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59" y="44805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0065B2"/>
                </a:solidFill>
                <a:latin typeface="Malgun Gothic"/>
              </a:rPr>
              <a:t>미국 필라델피아 · 무료 앱(2013)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59" y="4709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관람 중 QR 코드를 스캔해 배지를 모으는 가족용 스캐벤저 헌트 앱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테마는 ‘탈출한 나비 잡기’, 배지를 모으면 색칠 페이지 해금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지도로 4개 층 안내, Android · iOS 제공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34840" y="5532120"/>
            <a:ext cx="3291840" cy="475488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79" y="5550408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111111"/>
                </a:solidFill>
                <a:latin typeface="Malgun Gothic"/>
              </a:rPr>
              <a:t>공방 적용(제안): 작품 카드를 찍을 때마다 도감 한 칸이 채워지는 구조의 참고. 현재 운영 여부 · 연령은 확인 못 함(2013년 기사)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59" y="60807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 b="0" u="sng">
                <a:solidFill>
                  <a:srgbClr val="0065B2"/>
                </a:solidFill>
                <a:latin typeface="Malgun Gothic"/>
                <a:hlinkClick r:id="rId5"/>
              </a:rPr>
              <a:t>출처: Drexel News (2013.8)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19" y="1783080"/>
            <a:ext cx="35661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59" y="1874519"/>
            <a:ext cx="3383280" cy="1783080"/>
          </a:xfrm>
          <a:prstGeom prst="rect">
            <a:avLst/>
          </a:prstGeom>
          <a:solidFill>
            <a:srgbClr val="F6F6F4"/>
          </a:solidFill>
          <a:ln>
            <a:solidFill>
              <a:srgbClr val="D6D6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A5A5A"/>
                </a:solidFill>
                <a:latin typeface="Malgun Gothic"/>
              </a:rPr>
              <a:t>카드 사진 확보 못 함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Malgun Gothic"/>
              </a:rPr>
              <a:t>출처 페이지 참고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599" y="3749039"/>
            <a:ext cx="1280160" cy="237744"/>
          </a:xfrm>
          <a:prstGeom prst="roundRect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월간 교체 · 기록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599" y="4050791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111111"/>
                </a:solidFill>
                <a:latin typeface="Malgun Gothic"/>
              </a:rPr>
              <a:t>High Museum of Art · Explorer Cards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599" y="44805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0065B2"/>
                </a:solidFill>
                <a:latin typeface="Malgun Gothic"/>
              </a:rPr>
              <a:t>미국 애틀랜타 · 무료 · 모든 연령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599" y="4709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매월 초 새 카드: 전시 중 작품 하나를 골라 활동 제시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카드 뒷면 QR을 스캔해 등록 · 로그인 → 휴대폰 화면으로 숍에서 월간 상품 수령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11111"/>
                </a:solidFill>
                <a:latin typeface="Malgun Gothic"/>
              </a:rPr>
              <a:t>• 로비 · 안내 데스크 · 숍에서 수령, 상품은 재고 한정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5532120"/>
            <a:ext cx="3291840" cy="475488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19" y="5550408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111111"/>
                </a:solidFill>
                <a:latin typeface="Malgun Gothic"/>
              </a:rPr>
              <a:t>공방 적용(제안): ‘이번 달 프로젝트’ + 스캔 보상을 한 장 카드로 묶은 예. 상품 종류 · 이용 데이터는 확인 못 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9" y="60807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 b="0" u="sng">
                <a:solidFill>
                  <a:srgbClr val="0065B2"/>
                </a:solidFill>
                <a:latin typeface="Malgun Gothic"/>
                <a:hlinkClick r:id="rId6"/>
              </a:rPr>
              <a:t>출처: High Museum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e Atelier">
  <a:themeElements>
    <a:clrScheme name="Creative Atelier">
      <a:dk1>
        <a:srgbClr val="111111"/>
      </a:dk1>
      <a:lt1>
        <a:srgbClr val="FFFFFF"/>
      </a:lt1>
      <a:dk2>
        <a:srgbClr val="353535"/>
      </a:dk2>
      <a:lt2>
        <a:srgbClr val="F6F6F4"/>
      </a:lt2>
      <a:accent1>
        <a:srgbClr val="0065B2"/>
      </a:accent1>
      <a:accent2>
        <a:srgbClr val="FFDF00"/>
      </a:accent2>
      <a:accent3>
        <a:srgbClr val="00913B"/>
      </a:accent3>
      <a:accent4>
        <a:srgbClr val="FF8000"/>
      </a:accent4>
      <a:accent5>
        <a:srgbClr val="ED92B9"/>
      </a:accent5>
      <a:accent6>
        <a:srgbClr val="62B5E5"/>
      </a:accent6>
      <a:hlink>
        <a:srgbClr val="0065B2"/>
      </a:hlink>
      <a:folHlink>
        <a:srgbClr val="353535"/>
      </a:folHlink>
    </a:clrScheme>
    <a:fontScheme name="Creative Ateli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Atelier 기획안</dc:title>
  <dc:subject>PptxGenJS Presentation</dc:subject>
  <dc:creator>PptxGenJS</dc:creator>
  <cp:lastModifiedBy>PptxGenJS</cp:lastModifiedBy>
  <cp:revision>1</cp:revision>
  <dcterms:created xsi:type="dcterms:W3CDTF">2026-10-23T01:45:54Z</dcterms:created>
  <dcterms:modified xsi:type="dcterms:W3CDTF">2026-10-23T01:45:54Z</dcterms:modified>
</cp:coreProperties>
</file>