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3" r:id="rId1"/>
  </p:sldMasterIdLst>
  <p:notesMasterIdLst>
    <p:notesMasterId r:id="rId6"/>
  </p:notesMasterIdLst>
  <p:sldIdLst>
    <p:sldId id="4399" r:id="rId15"/>
  </p:sldIdLst>
  <p:sldSz cx="12192000" cy="6858000"/>
  <p:notesSz cx="6858000" cy="9144000"/>
  <p:embeddedFontLst>
    <p:embeddedFont>
      <p:font typeface="LINE Seed Sans KR Bold" panose="020B0603020203020204" pitchFamily="34" charset="-127"/>
      <p:bold r:id="rId7"/>
    </p:embeddedFont>
    <p:embeddedFont>
      <p:font typeface="LINE Seed Sans KR Regular" panose="020B0603020203020204" pitchFamily="34" charset="-127"/>
      <p:regular r:id="rId8"/>
    </p:embeddedFont>
    <p:embeddedFont>
      <p:font typeface="맑은 고딕" panose="020B0503020000020004" pitchFamily="50" charset="-127"/>
      <p:regular r:id="rId9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orient="horz" pos="1616" userDrawn="1">
          <p15:clr>
            <a:srgbClr val="A4A3A4"/>
          </p15:clr>
        </p15:guide>
        <p15:guide id="12" pos="721" userDrawn="1">
          <p15:clr>
            <a:srgbClr val="A4A3A4"/>
          </p15:clr>
        </p15:guide>
        <p15:guide id="13" pos="6947" userDrawn="1">
          <p15:clr>
            <a:srgbClr val="A4A3A4"/>
          </p15:clr>
        </p15:guide>
        <p15:guide id="16" orient="horz" pos="1139" userDrawn="1">
          <p15:clr>
            <a:srgbClr val="A4A3A4"/>
          </p15:clr>
        </p15:guide>
        <p15:guide id="18" pos="2525" userDrawn="1">
          <p15:clr>
            <a:srgbClr val="A4A3A4"/>
          </p15:clr>
        </p15:guide>
        <p15:guide id="19" orient="horz" pos="20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300"/>
    <a:srgbClr val="0065B2"/>
    <a:srgbClr val="EF560C"/>
    <a:srgbClr val="FBAE40"/>
    <a:srgbClr val="FBFBFB"/>
    <a:srgbClr val="6B7280"/>
    <a:srgbClr val="2F7BEA"/>
    <a:srgbClr val="00AA00"/>
    <a:srgbClr val="FF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88" autoAdjust="0"/>
    <p:restoredTop sz="96242" autoAdjust="0"/>
  </p:normalViewPr>
  <p:slideViewPr>
    <p:cSldViewPr snapToGrid="0">
      <p:cViewPr varScale="1">
        <p:scale>
          <a:sx n="107" d="100"/>
          <a:sy n="107" d="100"/>
        </p:scale>
        <p:origin x="900" y="102"/>
      </p:cViewPr>
      <p:guideLst>
        <p:guide orient="horz" pos="4065"/>
        <p:guide orient="horz" pos="346"/>
        <p:guide orient="horz" pos="1616"/>
        <p:guide pos="721"/>
        <p:guide pos="6947"/>
        <p:guide orient="horz" pos="1139"/>
        <p:guide pos="2525"/>
        <p:guide orient="horz" pos="200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7848"/>
    </p:cViewPr>
  </p:sorter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45B9C-CEC5-46C5-8236-4C42941CDC25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42EBA-5D8A-4E8B-9829-3F57D06613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10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95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32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세로 제목 및 텍스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581889-1FD5-D8BB-64FC-69FE199E98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1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EF4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7610A44-286A-998E-A774-C0D6A5AFA7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74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rgbClr val="FFA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B9D3AA9-9B5D-D633-8A12-44FCD40414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4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rgbClr val="005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E441782-31E0-5203-0CD2-AF7B49419F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28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980C905-6D29-9466-BC37-28176ECBB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76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980C905-6D29-9466-BC37-28176ECBB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9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50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35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solidFill>
          <a:srgbClr val="D7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38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7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5" r:id="rId2"/>
    <p:sldLayoutId id="2147483679" r:id="rId3"/>
    <p:sldLayoutId id="2147483660" r:id="rId4"/>
    <p:sldLayoutId id="2147483663" r:id="rId5"/>
    <p:sldLayoutId id="2147483664" r:id="rId6"/>
    <p:sldLayoutId id="2147483666" r:id="rId7"/>
    <p:sldLayoutId id="2147483701" r:id="rId8"/>
    <p:sldLayoutId id="2147483682" r:id="rId9"/>
    <p:sldLayoutId id="2147483698" r:id="rId10"/>
    <p:sldLayoutId id="2147483700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ehighvalleypublicmedia.org/news/entertainment/crayola-experience-expands-creativity-with-model-magic-movie-studios/" TargetMode="External"/><Relationship Id="rId3" Type="http://schemas.openxmlformats.org/officeDocument/2006/relationships/hyperlink" Target="https://www.engadget.com/2016-11-02-play-doh-touch-hands-on.html" TargetMode="External"/><Relationship Id="rId4" Type="http://schemas.openxmlformats.org/officeDocument/2006/relationships/hyperlink" Target="https://scanmagazine.co.uk/lego-house-housing-creativity/" TargetMode="External"/><Relationship Id="rId5" Type="http://schemas.openxmlformats.org/officeDocument/2006/relationships/hyperlink" Target="https://www.teamlab.art/w/sketchtown/bandaijima/" TargetMode="External"/><Relationship Id="rId6" Type="http://schemas.openxmlformats.org/officeDocument/2006/relationships/hyperlink" Target="https://www.mcny.org/mcny-kids-art-studio" TargetMode="External"/><Relationship Id="rId7" Type="http://schemas.openxmlformats.org/officeDocument/2006/relationships/hyperlink" Target="https://www.nbcnews.com/id/wbna43064982" TargetMode="External"/><Relationship Id="rId8" Type="http://schemas.openxmlformats.org/officeDocument/2006/relationships/hyperlink" Target="https://meadowsmuseumdallas.org/cal/open-studio-13/" TargetMode="External"/><Relationship Id="rId9" Type="http://schemas.openxmlformats.org/officeDocument/2006/relationships/hyperlink" Target="https://high.org/explorer-cards/" TargetMode="External"/><Relationship Id="rId10" Type="http://schemas.openxmlformats.org/officeDocument/2006/relationships/hyperlink" Target="https://www.seoulchildrensmuseum.org/reservation/memberJoinInfo.do" TargetMode="External"/><Relationship Id="rId11" Type="http://schemas.openxmlformats.org/officeDocument/2006/relationships/hyperlink" Target="https://olioli.ae/memberships/" TargetMode="External"/><Relationship Id="rId12" Type="http://schemas.openxmlformats.org/officeDocument/2006/relationships/hyperlink" Target="https://www.citizenkid.com/sortie/cool-kids-space-au-capc-a1070095" TargetMode="External"/><Relationship Id="rId13" Type="http://schemas.openxmlformats.org/officeDocument/2006/relationships/hyperlink" Target="https://kidzania.com.sg/bkidzanian" TargetMode="External"/><Relationship Id="rId14" Type="http://schemas.openxmlformats.org/officeDocument/2006/relationships/hyperlink" Target="https://www.peoriariverfrontmuseum.org/node/559" TargetMode="External"/><Relationship Id="rId15" Type="http://schemas.openxmlformats.org/officeDocument/2006/relationships/hyperlink" Target="https://www.crayolaexperience.com/easton/annual-passes/become-a-passholder/what-is-an-annual-pass" TargetMode="Externa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5" name="TextBox 194">
            <a:extLst>
              <a:ext uri="{FF2B5EF4-FFF2-40B4-BE49-F238E27FC236}">
                <a16:creationId xmlns:a16="http://schemas.microsoft.com/office/drawing/2014/main" id="{9F7143B7-4B0E-94D9-5D63-906AAFB0BFE2}"/>
              </a:ext>
            </a:extLst>
          </p:cNvPr>
          <p:cNvSpPr txBox="1"/>
          <p:nvPr/>
        </p:nvSpPr>
        <p:spPr>
          <a:xfrm>
            <a:off x="1134220" y="508796"/>
            <a:ext cx="11544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experience zone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0E1D8AE-FEE1-0621-3A3E-2634DF07B78E}"/>
              </a:ext>
            </a:extLst>
          </p:cNvPr>
          <p:cNvSpPr txBox="1"/>
          <p:nvPr/>
        </p:nvSpPr>
        <p:spPr>
          <a:xfrm>
            <a:off x="1045371" y="1134429"/>
            <a:ext cx="223009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3200" dirty="0">
                <a:solidFill>
                  <a:srgbClr val="000000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Revisit System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DCA4294-5BE4-7705-0422-06501C6DC913}"/>
              </a:ext>
            </a:extLst>
          </p:cNvPr>
          <p:cNvSpPr txBox="1"/>
          <p:nvPr/>
        </p:nvSpPr>
        <p:spPr>
          <a:xfrm>
            <a:off x="1047752" y="1704914"/>
            <a:ext cx="59041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창작 결과의 콘텐츠화 · 변화 · 멤버십</a:t>
            </a:r>
            <a:r>
              <a:rPr lang="ko-KR" altLang="en-US" sz="1200" dirty="0">
                <a:latin typeface="+mj-ea"/>
                <a:ea typeface="+mj-ea"/>
              </a:rPr>
              <a:t>의 3개 축으로 </a:t>
            </a:r>
            <a:r>
              <a:rPr lang="ko-KR" altLang="en-US" sz="1200" dirty="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리서치에서 확인한 근거</a:t>
            </a:r>
            <a:r>
              <a:rPr lang="ko-KR" altLang="en-US" sz="1200" dirty="0">
                <a:latin typeface="+mj-ea"/>
                <a:ea typeface="+mj-ea"/>
              </a:rPr>
              <a:t>를 정리한 재방문 체계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005840" y="2194560"/>
            <a:ext cx="3246120" cy="749808"/>
          </a:xfrm>
          <a:prstGeom prst="roundRect">
            <a:avLst>
              <a:gd name="adj" fmla="val 10000"/>
            </a:avLst>
          </a:prstGeom>
          <a:solidFill>
            <a:srgbClr val="006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15568" y="23408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115568" y="2340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691640" y="2258568"/>
            <a:ext cx="2468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콘텐츠화 | 다시 경험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691640" y="25420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직접 만든 오브젝트가 디지털 콘텐츠로 확장되어, 창작 결과를 새로운 방식으로 다시 경험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1005840" y="3054096"/>
            <a:ext cx="3246120" cy="1018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143000" y="3127248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A  </a:t>
            </a:r>
            <a:r>
              <a:rPr sz="10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출연시키기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43000" y="3383279"/>
            <a:ext cx="2971800" cy="469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Crayola: 클레이 생물 → 스캔 부스 → 이야기에 출연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Play-Doh Touch: 사진 속 생물에 목소리 · 걸음걸이 부여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143000" y="3852671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출처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2"/>
              </a:rPr>
              <a:t>Lehigh Valley Public Media  ·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3"/>
              </a:rPr>
              <a:t>Engadget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005840" y="4145280"/>
            <a:ext cx="3246120" cy="1018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43000" y="4218432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B  </a:t>
            </a:r>
            <a:r>
              <a:rPr sz="10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세계에 합류시키기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43000" y="4474464"/>
            <a:ext cx="2971800" cy="469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LEGO House: 블록 물고기 스캔 → 수중 존에서 헤엄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Sketch Town: 색칠 도안이 3D로 공유 도시에 합류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143000" y="4943856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출처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4"/>
              </a:rPr>
              <a:t>SCAN Magazine  ·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5"/>
              </a:rPr>
              <a:t>teamLab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1005840" y="5236464"/>
            <a:ext cx="3246120" cy="1018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143000" y="5309616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⑥  </a:t>
            </a:r>
            <a:r>
              <a:rPr sz="10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내 작품이 살아 있음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143000" y="5565648"/>
            <a:ext cx="2971800" cy="469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MCNY: 작품을 가져가거나 두고 가서 다른 방문자에게 전시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Exploratorium: 남긴 작품이 전시의 일부(방문기 기준)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43000" y="6035040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출처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6"/>
              </a:rPr>
              <a:t>MCNY  ·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7"/>
              </a:rPr>
              <a:t>NBC News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4407408" y="2194560"/>
            <a:ext cx="3246120" cy="749808"/>
          </a:xfrm>
          <a:prstGeom prst="roundRect">
            <a:avLst>
              <a:gd name="adj" fmla="val 10000"/>
            </a:avLst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517136" y="23408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4517136" y="2340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>
                <a:solidFill>
                  <a:srgbClr val="FF8000"/>
                </a:solidFill>
                <a:latin typeface="LINE Seed Sans KR Bold"/>
                <a:ea typeface="LINE Seed Sans KR Bold"/>
                <a:cs typeface="LINE Seed Sans KR Bold"/>
              </a:rPr>
              <a:t>2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5093208" y="2258568"/>
            <a:ext cx="2468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변화 | 교체 주기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093208" y="25420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재료 · 주제 · 프로그램을 일정 주기로 바꿔, 방문할 때마다 새로운 창작 경험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407408" y="3054096"/>
            <a:ext cx="3246120" cy="15636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544568" y="3127248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FF8000"/>
                </a:solidFill>
                <a:latin typeface="LINE Seed Sans KR Bold"/>
                <a:ea typeface="LINE Seed Sans KR Bold"/>
                <a:cs typeface="LINE Seed Sans KR Bold"/>
              </a:rPr>
              <a:t>②  </a:t>
            </a:r>
            <a:r>
              <a:rPr sz="10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이번 달 새 프로젝트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544568" y="3383279"/>
            <a:ext cx="2971800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Meadows: 매달 새 프로젝트, 자주 다시 오기를 권함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MCNY: 활동이 매달 바뀜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High Museum: 매월 초 새 카드, QR 등록 후 숍에서 월간 상품(재고 한정)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4544568" y="4398264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FF8000"/>
                </a:solidFill>
                <a:latin typeface="LINE Seed Sans KR Bold"/>
                <a:ea typeface="LINE Seed Sans KR Bold"/>
                <a:cs typeface="LINE Seed Sans KR Bold"/>
              </a:rPr>
              <a:t>출처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8"/>
              </a:rPr>
              <a:t>Meadows  ·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6"/>
              </a:rPr>
              <a:t>MCNY  ·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9"/>
              </a:rPr>
              <a:t>High Museum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4407408" y="4690872"/>
            <a:ext cx="3246120" cy="15636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4544568" y="4764024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FF8000"/>
                </a:solidFill>
                <a:latin typeface="LINE Seed Sans KR Bold"/>
                <a:ea typeface="LINE Seed Sans KR Bold"/>
                <a:cs typeface="LINE Seed Sans KR Bold"/>
              </a:rPr>
              <a:t>①  </a:t>
            </a:r>
            <a:r>
              <a:rPr sz="10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전시 · 시즌 교체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544568" y="5020056"/>
            <a:ext cx="2971800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서울상상나라: 연 2–3회 전시 교체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OliOli: 임시 전시를 바꾸고, 회원은 임시 전시 무료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CAPC Cool Kids Space: 18개월마다 작가가 바뀌는 주기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544568" y="6035040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FF8000"/>
                </a:solidFill>
                <a:latin typeface="LINE Seed Sans KR Bold"/>
                <a:ea typeface="LINE Seed Sans KR Bold"/>
                <a:cs typeface="LINE Seed Sans KR Bold"/>
              </a:rPr>
              <a:t>출처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10"/>
              </a:rPr>
              <a:t>서울상상나라  ·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11"/>
              </a:rPr>
              <a:t>OliOli  ·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12"/>
              </a:rPr>
              <a:t>Citizenkid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7808975" y="2194560"/>
            <a:ext cx="3246120" cy="749808"/>
          </a:xfrm>
          <a:prstGeom prst="roundRect">
            <a:avLst>
              <a:gd name="adj" fmla="val 10000"/>
            </a:avLst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7918703" y="23408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7918703" y="2340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>
                <a:solidFill>
                  <a:srgbClr val="00913B"/>
                </a:solidFill>
                <a:latin typeface="LINE Seed Sans KR Bold"/>
                <a:ea typeface="LINE Seed Sans KR Bold"/>
                <a:cs typeface="LINE Seed Sans KR Bold"/>
              </a:rPr>
              <a:t>3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494776" y="2258568"/>
            <a:ext cx="2468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멤버십 | 쌓이는 진행과 혜택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494776" y="25420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FFFFFF"/>
                </a:solidFill>
                <a:latin typeface="LINE Seed Sans KR Regular"/>
                <a:ea typeface="LINE Seed Sans KR Regular"/>
                <a:cs typeface="LINE Seed Sans KR Regular"/>
              </a:rPr>
              <a:t>멤버십으로 새 프로그램과 혜택을 지속 제공해, 반복 방문과 장기 참여를 유도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7808975" y="3054096"/>
            <a:ext cx="3246120" cy="1018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7946136" y="3127248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00913B"/>
                </a:solidFill>
                <a:latin typeface="LINE Seed Sans KR Bold"/>
                <a:ea typeface="LINE Seed Sans KR Bold"/>
                <a:cs typeface="LINE Seed Sans KR Bold"/>
              </a:rPr>
              <a:t>③  </a:t>
            </a:r>
            <a:r>
              <a:rPr sz="10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쌓이는 내 기록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946136" y="3383279"/>
            <a:ext cx="2971800" cy="469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KidZania: 활동마다 도장 → 시민 등급 상승 · 혜택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Peoria: 활동 점수 10–250점을 QR로 적립, 회원은 2배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946136" y="3852671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00913B"/>
                </a:solidFill>
                <a:latin typeface="LINE Seed Sans KR Bold"/>
                <a:ea typeface="LINE Seed Sans KR Bold"/>
                <a:cs typeface="LINE Seed Sans KR Bold"/>
              </a:rPr>
              <a:t>출처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13"/>
              </a:rPr>
              <a:t>KidZania Singapore  ·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14"/>
              </a:rPr>
              <a:t>Peoria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7808975" y="4145280"/>
            <a:ext cx="3246120" cy="1018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7946136" y="4218432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00913B"/>
                </a:solidFill>
                <a:latin typeface="LINE Seed Sans KR Bold"/>
                <a:ea typeface="LINE Seed Sans KR Bold"/>
                <a:cs typeface="LINE Seed Sans KR Bold"/>
              </a:rPr>
              <a:t>④  </a:t>
            </a:r>
            <a:r>
              <a:rPr sz="10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패스 + 시즌 행사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946136" y="4474464"/>
            <a:ext cx="2971800" cy="469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Crayola: 연 49.99달러 무제한, “2회 방문하면 본전”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OliOli: 3개월 멤버십(3시간 이용, 임시 전시 무료)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46136" y="4943856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00913B"/>
                </a:solidFill>
                <a:latin typeface="LINE Seed Sans KR Bold"/>
                <a:ea typeface="LINE Seed Sans KR Bold"/>
                <a:cs typeface="LINE Seed Sans KR Bold"/>
              </a:rPr>
              <a:t>출처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15"/>
              </a:rPr>
              <a:t>Crayola  ·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11"/>
              </a:rPr>
              <a:t>OliOli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7808975" y="5236464"/>
            <a:ext cx="3246120" cy="1018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946136" y="5309616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00913B"/>
                </a:solidFill>
                <a:latin typeface="LINE Seed Sans KR Bold"/>
                <a:ea typeface="LINE Seed Sans KR Bold"/>
                <a:cs typeface="LINE Seed Sans KR Bold"/>
              </a:rPr>
              <a:t>⑤  </a:t>
            </a:r>
            <a:r>
              <a:rPr sz="10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가족 · 친구 초대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946136" y="5565648"/>
            <a:ext cx="2971800" cy="469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OliOli: 아이 1 + 어른 1 단위 멤버십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• 서울상상나라: 직계 가족 연회원 2인 3만 원부터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946136" y="6035040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00913B"/>
                </a:solidFill>
                <a:latin typeface="LINE Seed Sans KR Bold"/>
                <a:ea typeface="LINE Seed Sans KR Bold"/>
                <a:cs typeface="LINE Seed Sans KR Bold"/>
              </a:rPr>
              <a:t>출처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11"/>
              </a:rPr>
              <a:t>OliOli  ·  </a:t>
            </a:r>
            <a:r>
              <a:rPr sz="8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10"/>
              </a:rPr>
              <a:t>서울상상나라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005840" y="640080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※ 시설별 재방문율 수치는 공개 자료로 확인하지 못했고, 각 시설의 공식 안내 · 기사에서 확인되는 운영 구조만 정리했습니다.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te">
      <a:majorFont>
        <a:latin typeface="LINE Seed Sans KR Regular"/>
        <a:ea typeface="LINE Seed Sans KR Regular"/>
        <a:cs typeface=""/>
      </a:majorFont>
      <a:minorFont>
        <a:latin typeface="LINE Seed Sans KR Regular"/>
        <a:ea typeface="LINE Seed Sans KR Thin"/>
        <a:cs typeface="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F9B17B8-1924-4988-A0C4-97074C3EFB85}">
  <we:reference id="WA200010001" version="1.0.0.0" store="Omex" storeType="OMEX"/>
  <we:alternateReferences>
    <we:reference id="WA200010001" version="1.0.0.0" store="WA200010001" storeType="OMEX"/>
  </we:alternateReferences>
  <we:properties>
    <we:property name="claude.fileId" value="&quot;18e273cb-12ab-4a62-8d7a-98d5d1316c4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521ED2F-E1D9-433D-AA47-6AC16B2DDA11}">
  <we:reference id="wa200005566" version="3.0.0.3" store="ko-K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77396</TotalTime>
  <Words>1090</Words>
  <Application>Microsoft Office PowerPoint</Application>
  <PresentationFormat>와이드스크린</PresentationFormat>
  <Paragraphs>136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LINE Seed Sans KR Regular</vt:lpstr>
      <vt:lpstr>LINE Seed Sans KR Bold</vt:lpstr>
      <vt:lpstr>맑은 고딕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한지연</dc:creator>
  <cp:lastModifiedBy>Su-jeong Lee (DSKR-이수정)</cp:lastModifiedBy>
  <cp:revision>992</cp:revision>
  <dcterms:created xsi:type="dcterms:W3CDTF">2022-05-06T02:30:22Z</dcterms:created>
  <dcterms:modified xsi:type="dcterms:W3CDTF">2026-10-23T08:26:22Z</dcterms:modified>
</cp:coreProperties>
</file>