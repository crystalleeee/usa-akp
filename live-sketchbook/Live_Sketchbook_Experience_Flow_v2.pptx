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e547541-a37b-c20d-5f74-c902a74868b9}">
          <p14:sldIdLst>
            <p14:sldId id="256"/>
          </p14:sldIdLst>
        </p14:section>
        <p14:section name="요약" id="{26a0530c-a904-bf1d-eba8-2f3eae0d01f0}">
          <p14:sldIdLst>
            <p14:sldId id="257"/>
          </p14:sldIdLst>
        </p14:section>
        <p14:section name="검토" id="{cfdc8497-4f98-08fd-fe2d-7ed90ab3c945}">
          <p14:sldIdLst>
            <p14:sldId id="258"/>
          </p14:sldIdLst>
        </p14:section>
        <p14:section name="01 Drawing" id="{97a6d495-6632-7c3a-c116-834f0a93b5be}">
          <p14:sldIdLst>
            <p14:sldId id="259"/>
          </p14:sldIdLst>
        </p14:section>
        <p14:section name="02 Scan" id="{d4f38992-d195-a9fa-d9ec-ec79c5d4523c}">
          <p14:sldIdLst>
            <p14:sldId id="260"/>
          </p14:sldIdLst>
        </p14:section>
        <p14:section name="03 Wall" id="{07eb5e86-e202-bae4-8591-3beba775cf3f}">
          <p14:sldIdLst>
            <p14:sldId id="261"/>
          </p14:sldIdLst>
        </p14:section>
        <p14:section name="04 Facade" id="{8895220a-406d-f621-078d-45895cda1b3d}">
          <p14:sldIdLst>
            <p14:sldId id="262"/>
          </p14:sldIdLst>
        </p14:section>
        <p14:section name="05 Archive" id="{14d488d4-7994-9646-f4c5-542902296132}">
          <p14:sldIdLst>
            <p14:sldId id="263"/>
          </p14:sldIdLst>
        </p14:section>
        <p14:section name="운영" id="{f895c41b-770a-097c-f945-0036cafa1622}">
          <p14:sldIdLst>
            <p14:sldId id="264"/>
          </p14:sldIdLst>
        </p14:section>
        <p14:section name="다음 단계" id="{8744fe38-25a4-2f70-d746-6aed07e01bcb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원안(Live_Sketchbook_Experience_Flow_FIXED.pptx)의 4단계 흐름을 그대로 두고, 각 단계에 발전 제안을 붙였습니다. 수치는 모두 가정입니다.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C안은 처음 요청(도안 없이 자유롭게 그려서 아카이빙)을 지키는 안입니다. A/B는 그리기 어려워하는 아이를 위한 선택지로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6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29184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5DCDC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DFE6EB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17287"/>
                </a:solidFill>
              </a:rPr>
              <a:t>LIVE SKETCHBOOK  /  EXPERIENCE FLOW v2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96926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6243A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307592"/>
            <a:ext cx="1042416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617287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5" name="Text 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17287"/>
                </a:solidFill>
              </a:rPr>
              <a:t>CONCEPT FLOW · 검토와 발전안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claude.ai/artifact/D1egd98wfpfk7UxL8675ko" TargetMode="External"/><Relationship Id="rId2" Type="http://schemas.openxmlformats.org/officeDocument/2006/relationships/hyperlink" Target="https://claude.ai/artifact/8Ly23dXVmzK4ApvdEsQWh9" TargetMode="External"/><Relationship Id="rId3" Type="http://schemas.openxmlformats.org/officeDocument/2006/relationships/hyperlink" Target="https://claude.ai/artifact/V1VBgNDnCrYZTeZJq4ga5x" TargetMode="Externa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LIVE SKETCHBOOK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291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5DCDC1"/>
                </a:solidFill>
              </a:rPr>
              <a:t>Experience Flow v2 · 원안 검토와 발전안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FE6EB"/>
                </a:solidFill>
              </a:rPr>
              <a:t>원안 4단계를 유지하고 단계마다 발전 제안을 더함 · 보관 단계 추가 · 2026.10.19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3A"/>
                </a:solidFill>
              </a:rPr>
              <a:t>한눈에 보기 | 원안 4단계 + 보관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307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17287"/>
                </a:solidFill>
              </a:rPr>
              <a:t>위 줄은 원안, 아래 줄은 이번에 더한 발전 방향</a:t>
            </a:r>
            <a:endParaRPr lang="en-US" sz="1500" dirty="0"/>
          </a:p>
        </p:txBody>
      </p:sp>
      <p:sp>
        <p:nvSpPr>
          <p:cNvPr id="4" name="step-card-01"/>
          <p:cNvSpPr/>
          <p:nvPr/>
        </p:nvSpPr>
        <p:spPr>
          <a:xfrm>
            <a:off x="548640" y="1965960"/>
            <a:ext cx="2011680" cy="40690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1031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DCDC1"/>
                </a:solidFill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517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Drawing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17287"/>
                </a:solidFill>
              </a:rPr>
              <a:t>원안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7033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43A"/>
                </a:solidFill>
              </a:rPr>
              <a:t>도안 A/B + 크레용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4526280"/>
            <a:ext cx="1645920" cy="0"/>
          </a:xfrm>
          <a:prstGeom prst="line">
            <a:avLst/>
          </a:prstGeom>
          <a:noFill/>
          <a:ln w="12700">
            <a:solidFill>
              <a:srgbClr val="DFE6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663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8C83"/>
                </a:solidFill>
              </a:rPr>
              <a:t>발전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93776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43A"/>
                </a:solidFill>
              </a:rPr>
              <a:t>자유 그리기 C안 · 카드 번호</a:t>
            </a:r>
            <a:endParaRPr lang="en-US" sz="1400" dirty="0"/>
          </a:p>
        </p:txBody>
      </p:sp>
      <p:sp>
        <p:nvSpPr>
          <p:cNvPr id="12" name="arrow"/>
          <p:cNvSpPr/>
          <p:nvPr/>
        </p:nvSpPr>
        <p:spPr>
          <a:xfrm>
            <a:off x="2615184" y="3858768"/>
            <a:ext cx="137160" cy="274320"/>
          </a:xfrm>
          <a:prstGeom prst="chevron">
            <a:avLst/>
          </a:prstGeom>
          <a:solidFill>
            <a:srgbClr val="5DCDC1"/>
          </a:solidFill>
          <a:ln w="12700">
            <a:solidFill>
              <a:srgbClr val="5DCDC1"/>
            </a:solidFill>
            <a:prstDash val="solid"/>
          </a:ln>
        </p:spPr>
      </p:sp>
      <p:sp>
        <p:nvSpPr>
          <p:cNvPr id="13" name="step-card-02"/>
          <p:cNvSpPr/>
          <p:nvPr/>
        </p:nvSpPr>
        <p:spPr>
          <a:xfrm>
            <a:off x="2807208" y="1965960"/>
            <a:ext cx="2011680" cy="40690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90088" y="21031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DCDC1"/>
                </a:solidFill>
              </a:rPr>
              <a:t>02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2990088" y="26517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Scan + α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2990088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17287"/>
                </a:solidFill>
              </a:rPr>
              <a:t>원안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990088" y="37033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43A"/>
                </a:solidFill>
              </a:rPr>
              <a:t>2D/3D 변환 + 표정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990088" y="4526280"/>
            <a:ext cx="1645920" cy="0"/>
          </a:xfrm>
          <a:prstGeom prst="line">
            <a:avLst/>
          </a:prstGeom>
          <a:noFill/>
          <a:ln w="12700">
            <a:solidFill>
              <a:srgbClr val="DFE6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90088" y="4663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8C83"/>
                </a:solidFill>
              </a:rPr>
              <a:t>발전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990088" y="493776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43A"/>
                </a:solidFill>
              </a:rPr>
              <a:t>2D 우선 · 10초 표정 · 직원 확인</a:t>
            </a:r>
            <a:endParaRPr lang="en-US" sz="1400" dirty="0"/>
          </a:p>
        </p:txBody>
      </p:sp>
      <p:sp>
        <p:nvSpPr>
          <p:cNvPr id="21" name="arrow"/>
          <p:cNvSpPr/>
          <p:nvPr/>
        </p:nvSpPr>
        <p:spPr>
          <a:xfrm>
            <a:off x="4873752" y="3858768"/>
            <a:ext cx="137160" cy="274320"/>
          </a:xfrm>
          <a:prstGeom prst="chevron">
            <a:avLst/>
          </a:prstGeom>
          <a:solidFill>
            <a:srgbClr val="5DCDC1"/>
          </a:solidFill>
          <a:ln w="12700">
            <a:solidFill>
              <a:srgbClr val="5DCDC1"/>
            </a:solidFill>
            <a:prstDash val="solid"/>
          </a:ln>
        </p:spPr>
      </p:sp>
      <p:sp>
        <p:nvSpPr>
          <p:cNvPr id="22" name="step-card-03"/>
          <p:cNvSpPr/>
          <p:nvPr/>
        </p:nvSpPr>
        <p:spPr>
          <a:xfrm>
            <a:off x="5065776" y="1965960"/>
            <a:ext cx="2011680" cy="40690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48656" y="21031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DCDC1"/>
                </a:solidFill>
              </a:rPr>
              <a:t>03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5248656" y="26517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Sketchbook Wall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5248656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17287"/>
                </a:solidFill>
              </a:rPr>
              <a:t>원안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248656" y="37033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43A"/>
                </a:solidFill>
              </a:rPr>
              <a:t>등장 + 연못/가든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248656" y="4526280"/>
            <a:ext cx="1645920" cy="0"/>
          </a:xfrm>
          <a:prstGeom prst="line">
            <a:avLst/>
          </a:prstGeom>
          <a:noFill/>
          <a:ln w="12700">
            <a:solidFill>
              <a:srgbClr val="DFE6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248656" y="4663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8C83"/>
                </a:solidFill>
              </a:rPr>
              <a:t>발전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248656" y="493776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43A"/>
                </a:solidFill>
              </a:rPr>
              <a:t>배경에 붙는 방식 · 내 그림 찾기</a:t>
            </a:r>
            <a:endParaRPr lang="en-US" sz="1400" dirty="0"/>
          </a:p>
        </p:txBody>
      </p:sp>
      <p:sp>
        <p:nvSpPr>
          <p:cNvPr id="30" name="arrow"/>
          <p:cNvSpPr/>
          <p:nvPr/>
        </p:nvSpPr>
        <p:spPr>
          <a:xfrm>
            <a:off x="7132320" y="3858768"/>
            <a:ext cx="137160" cy="274320"/>
          </a:xfrm>
          <a:prstGeom prst="chevron">
            <a:avLst/>
          </a:prstGeom>
          <a:solidFill>
            <a:srgbClr val="5DCDC1"/>
          </a:solidFill>
          <a:ln w="12700">
            <a:solidFill>
              <a:srgbClr val="5DCDC1"/>
            </a:solidFill>
            <a:prstDash val="solid"/>
          </a:ln>
        </p:spPr>
      </p:sp>
      <p:sp>
        <p:nvSpPr>
          <p:cNvPr id="31" name="step-card-04"/>
          <p:cNvSpPr/>
          <p:nvPr/>
        </p:nvSpPr>
        <p:spPr>
          <a:xfrm>
            <a:off x="7324344" y="1965960"/>
            <a:ext cx="2011680" cy="40690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507224" y="21031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DCDC1"/>
                </a:solidFill>
              </a:rPr>
              <a:t>04</a:t>
            </a:r>
            <a:endParaRPr lang="en-US" sz="2600" dirty="0"/>
          </a:p>
        </p:txBody>
      </p:sp>
      <p:sp>
        <p:nvSpPr>
          <p:cNvPr id="33" name="Text 31"/>
          <p:cNvSpPr txBox="1"/>
          <p:nvPr/>
        </p:nvSpPr>
        <p:spPr>
          <a:xfrm>
            <a:off x="7507224" y="26517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Main Facade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7507224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17287"/>
                </a:solidFill>
              </a:rPr>
              <a:t>원안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7507224" y="37033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43A"/>
                </a:solidFill>
              </a:rPr>
              <a:t>퍼레이드 · Art/Logo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7507224" y="4526280"/>
            <a:ext cx="1645920" cy="0"/>
          </a:xfrm>
          <a:prstGeom prst="line">
            <a:avLst/>
          </a:prstGeom>
          <a:noFill/>
          <a:ln w="12700">
            <a:solidFill>
              <a:srgbClr val="DFE6E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507224" y="4663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8C83"/>
                </a:solidFill>
              </a:rPr>
              <a:t>발전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507224" y="493776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43A"/>
                </a:solidFill>
              </a:rPr>
              <a:t>정시 퍼레이드 + 상시 합류</a:t>
            </a:r>
            <a:endParaRPr lang="en-US" sz="1400" dirty="0"/>
          </a:p>
        </p:txBody>
      </p:sp>
      <p:sp>
        <p:nvSpPr>
          <p:cNvPr id="39" name="arrow"/>
          <p:cNvSpPr/>
          <p:nvPr/>
        </p:nvSpPr>
        <p:spPr>
          <a:xfrm>
            <a:off x="9390888" y="3858768"/>
            <a:ext cx="137160" cy="274320"/>
          </a:xfrm>
          <a:prstGeom prst="chevron">
            <a:avLst/>
          </a:prstGeom>
          <a:solidFill>
            <a:srgbClr val="5DCDC1"/>
          </a:solidFill>
          <a:ln w="12700">
            <a:solidFill>
              <a:srgbClr val="5DCDC1"/>
            </a:solidFill>
            <a:prstDash val="solid"/>
          </a:ln>
        </p:spPr>
      </p:sp>
      <p:sp>
        <p:nvSpPr>
          <p:cNvPr id="40" name="step-card-05"/>
          <p:cNvSpPr/>
          <p:nvPr/>
        </p:nvSpPr>
        <p:spPr>
          <a:xfrm>
            <a:off x="9582912" y="1965960"/>
            <a:ext cx="2011680" cy="4069080"/>
          </a:xfrm>
          <a:prstGeom prst="roundRect">
            <a:avLst>
              <a:gd name="adj" fmla="val 5455"/>
            </a:avLst>
          </a:prstGeom>
          <a:solidFill>
            <a:srgbClr val="EAF5F1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765792" y="21031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DCDC1"/>
                </a:solidFill>
              </a:rPr>
              <a:t>05</a:t>
            </a:r>
            <a:endParaRPr lang="en-US" sz="2600" dirty="0"/>
          </a:p>
        </p:txBody>
      </p:sp>
      <p:sp>
        <p:nvSpPr>
          <p:cNvPr id="42" name="chip-NEW"/>
          <p:cNvSpPr txBox="1"/>
          <p:nvPr/>
        </p:nvSpPr>
        <p:spPr>
          <a:xfrm>
            <a:off x="10817352" y="2194560"/>
            <a:ext cx="594360" cy="292608"/>
          </a:xfrm>
          <a:prstGeom prst="roundRect">
            <a:avLst>
              <a:gd name="adj" fmla="val 25000"/>
            </a:avLst>
          </a:prstGeom>
          <a:solidFill>
            <a:srgbClr val="5DCDC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NEW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765792" y="26517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Archive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765792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17287"/>
                </a:solidFill>
              </a:rPr>
              <a:t>원안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9765792" y="37033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17287"/>
                </a:solidFill>
              </a:rPr>
              <a:t>원안에 없음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9765792" y="4526280"/>
            <a:ext cx="1645920" cy="0"/>
          </a:xfrm>
          <a:prstGeom prst="line">
            <a:avLst/>
          </a:prstGeom>
          <a:noFill/>
          <a:ln w="12700">
            <a:solidFill>
              <a:srgbClr val="DFE6E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765792" y="4663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8C83"/>
                </a:solidFill>
              </a:rPr>
              <a:t>발전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9765792" y="493776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43A"/>
                </a:solidFill>
              </a:rPr>
              <a:t>QR 보관함 · 하루 한 장 · 굿즈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3A"/>
                </a:solidFill>
              </a:rPr>
              <a:t>원안 검토 | 흐름은 명확, 비어 있는 곳 5가지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307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17287"/>
                </a:solidFill>
              </a:rPr>
              <a:t>탄생 → 등장 → 확장의 감정선은 좋고, 운영과 보관에 빈칸이 있음</a:t>
            </a:r>
            <a:endParaRPr lang="en-US" sz="1500" dirty="0"/>
          </a:p>
        </p:txBody>
      </p:sp>
      <p:sp>
        <p:nvSpPr>
          <p:cNvPr id="4" name="good"/>
          <p:cNvSpPr/>
          <p:nvPr/>
        </p:nvSpPr>
        <p:spPr>
          <a:xfrm>
            <a:off x="548640" y="1965960"/>
            <a:ext cx="4206240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3A"/>
                </a:solidFill>
              </a:rPr>
              <a:t>좋은 점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3703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6243A"/>
                </a:solidFill>
              </a:rPr>
              <a:t>4단계로 단순해 아이 · 보호자 모두 흐름을 이해하기 쉬움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6243A"/>
                </a:solidFill>
              </a:rPr>
              <a:t>내 그림이 벽 → 광장으로 커지는 성취감의 흐름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6243A"/>
                </a:solidFill>
              </a:rPr>
              <a:t>기존 파사드 콘텐츠(Art · Logo)와 바로 연결</a:t>
            </a:r>
            <a:endParaRPr lang="en-US" sz="1400" dirty="0"/>
          </a:p>
        </p:txBody>
      </p:sp>
      <p:sp>
        <p:nvSpPr>
          <p:cNvPr id="7" name="gap-0"/>
          <p:cNvSpPr/>
          <p:nvPr/>
        </p:nvSpPr>
        <p:spPr>
          <a:xfrm>
            <a:off x="5029200" y="1965960"/>
            <a:ext cx="658368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12080" y="2121408"/>
            <a:ext cx="402336" cy="402336"/>
          </a:xfrm>
          <a:prstGeom prst="ellipse">
            <a:avLst/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2057400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처음 방향과 충돌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321040" y="2057400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7287"/>
                </a:solidFill>
              </a:rPr>
              <a:t>“도안 없이 자유롭게”였는데 A/B 모두 가이드 도안</a:t>
            </a:r>
            <a:endParaRPr lang="en-US" sz="1300" dirty="0"/>
          </a:p>
        </p:txBody>
      </p:sp>
      <p:sp>
        <p:nvSpPr>
          <p:cNvPr id="11" name="gap-1"/>
          <p:cNvSpPr/>
          <p:nvPr/>
        </p:nvSpPr>
        <p:spPr>
          <a:xfrm>
            <a:off x="5029200" y="2788920"/>
            <a:ext cx="658368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12080" y="2944368"/>
            <a:ext cx="402336" cy="402336"/>
          </a:xfrm>
          <a:prstGeom prst="ellipse">
            <a:avLst/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806440" y="2880360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보관 단계가 없음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880360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7287"/>
                </a:solidFill>
              </a:rPr>
              <a:t>파사드 이후 그림이 어디에 남는지 정해지지 않음</a:t>
            </a:r>
            <a:endParaRPr lang="en-US" sz="1300" dirty="0"/>
          </a:p>
        </p:txBody>
      </p:sp>
      <p:sp>
        <p:nvSpPr>
          <p:cNvPr id="15" name="gap-2"/>
          <p:cNvSpPr/>
          <p:nvPr/>
        </p:nvSpPr>
        <p:spPr>
          <a:xfrm>
            <a:off x="5029200" y="3611880"/>
            <a:ext cx="658368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12080" y="3767328"/>
            <a:ext cx="402336" cy="402336"/>
          </a:xfrm>
          <a:prstGeom prst="ellipse">
            <a:avLst/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806440" y="3703320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내 그림 찾기 장치 없음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703320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7287"/>
                </a:solidFill>
              </a:rPr>
              <a:t>벽 · 파사드에서 내 캐릭터를 알아볼 방법</a:t>
            </a:r>
            <a:endParaRPr lang="en-US" sz="1300" dirty="0"/>
          </a:p>
        </p:txBody>
      </p:sp>
      <p:sp>
        <p:nvSpPr>
          <p:cNvPr id="19" name="gap-3"/>
          <p:cNvSpPr/>
          <p:nvPr/>
        </p:nvSpPr>
        <p:spPr>
          <a:xfrm>
            <a:off x="5029200" y="4434840"/>
            <a:ext cx="658368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12080" y="4590288"/>
            <a:ext cx="402336" cy="402336"/>
          </a:xfrm>
          <a:prstGeom prst="ellipse">
            <a:avLst/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806440" y="4526280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대기 · 처리 시간 기준 없음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4526280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7287"/>
                </a:solidFill>
              </a:rPr>
              <a:t>드로잉 시간, 스캐너 수, 등장까지 걸리는 시간</a:t>
            </a:r>
            <a:endParaRPr lang="en-US" sz="1300" dirty="0"/>
          </a:p>
        </p:txBody>
      </p:sp>
      <p:sp>
        <p:nvSpPr>
          <p:cNvPr id="23" name="gap-4"/>
          <p:cNvSpPr/>
          <p:nvPr/>
        </p:nvSpPr>
        <p:spPr>
          <a:xfrm>
            <a:off x="5029200" y="5257800"/>
            <a:ext cx="658368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212080" y="5413248"/>
            <a:ext cx="402336" cy="402336"/>
          </a:xfrm>
          <a:prstGeom prst="ellipse">
            <a:avLst/>
          </a:prstGeom>
          <a:solidFill>
            <a:srgbClr val="E86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806440" y="5349240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공개 전 확인 없음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5349240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7287"/>
                </a:solidFill>
              </a:rPr>
              <a:t>파사드에 나가기 전 직원 확인 단계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3A"/>
                </a:solidFill>
              </a:rPr>
              <a:t>Drawing | 나만의 캐릭터 만들기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307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17287"/>
                </a:solidFill>
              </a:rPr>
              <a:t>아이의 상상력에 따라 세상에 하나뿐인 캐릭터 탄생</a:t>
            </a:r>
            <a:endParaRPr lang="en-US" sz="1500" dirty="0"/>
          </a:p>
        </p:txBody>
      </p:sp>
      <p:sp>
        <p:nvSpPr>
          <p:cNvPr id="4" name="step-number"/>
          <p:cNvSpPr txBox="1"/>
          <p:nvPr/>
        </p:nvSpPr>
        <p:spPr>
          <a:xfrm>
            <a:off x="10332720" y="5029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5DCDC1"/>
                </a:solidFill>
              </a:rPr>
              <a:t>01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17287"/>
                </a:solidFill>
              </a:rPr>
              <a:t>원안</a:t>
            </a:r>
            <a:endParaRPr lang="en-US" sz="1700" dirty="0"/>
          </a:p>
        </p:txBody>
      </p:sp>
      <p:sp>
        <p:nvSpPr>
          <p:cNvPr id="6" name="original"/>
          <p:cNvSpPr/>
          <p:nvPr/>
        </p:nvSpPr>
        <p:spPr>
          <a:xfrm>
            <a:off x="548640" y="4645152"/>
            <a:ext cx="42062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7" name="chip-1-1"/>
          <p:cNvSpPr txBox="1"/>
          <p:nvPr/>
        </p:nvSpPr>
        <p:spPr>
          <a:xfrm>
            <a:off x="685800" y="4773168"/>
            <a:ext cx="502920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1-1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471830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체험 방식  </a:t>
            </a:r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종이 + 크레용 / 점토 유료 옵션</a:t>
            </a:r>
            <a:endParaRPr lang="en-US" sz="1100" dirty="0"/>
          </a:p>
        </p:txBody>
      </p:sp>
      <p:sp>
        <p:nvSpPr>
          <p:cNvPr id="9" name="chip-1-2"/>
          <p:cNvSpPr txBox="1"/>
          <p:nvPr/>
        </p:nvSpPr>
        <p:spPr>
          <a:xfrm>
            <a:off x="685800" y="5276088"/>
            <a:ext cx="502920" cy="292608"/>
          </a:xfrm>
          <a:prstGeom prst="roundRect">
            <a:avLst>
              <a:gd name="adj" fmla="val 25000"/>
            </a:avLst>
          </a:prstGeom>
          <a:solidFill>
            <a:srgbClr val="D5EE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1-2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22122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Draw Me! 도안  </a:t>
            </a:r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A4 가이드 도안 · A안 얼굴 · 몸통 · 팔 · 다리 / B안 얼굴만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8C83"/>
                </a:solidFill>
              </a:rPr>
              <a:t>발전 제안</a:t>
            </a:r>
            <a:endParaRPr lang="en-US" sz="1700" dirty="0"/>
          </a:p>
        </p:txBody>
      </p:sp>
      <p:sp>
        <p:nvSpPr>
          <p:cNvPr id="12" name="prop-0"/>
          <p:cNvSpPr/>
          <p:nvPr/>
        </p:nvSpPr>
        <p:spPr>
          <a:xfrm>
            <a:off x="5029200" y="2423160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3" name="chip-체험"/>
          <p:cNvSpPr txBox="1"/>
          <p:nvPr/>
        </p:nvSpPr>
        <p:spPr>
          <a:xfrm>
            <a:off x="5212080" y="2651760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체험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496312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자유 그리기 C안 추가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280720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테두리와 스캔 표시만 있는 빈 카드. “도안 없이 자유롭게” 방향을 살림</a:t>
            </a:r>
            <a:endParaRPr lang="en-US" sz="1200" dirty="0"/>
          </a:p>
        </p:txBody>
      </p:sp>
      <p:sp>
        <p:nvSpPr>
          <p:cNvPr id="16" name="prop-1"/>
          <p:cNvSpPr/>
          <p:nvPr/>
        </p:nvSpPr>
        <p:spPr>
          <a:xfrm>
            <a:off x="5029200" y="3264408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7" name="chip-체험"/>
          <p:cNvSpPr txBox="1"/>
          <p:nvPr/>
        </p:nvSpPr>
        <p:spPr>
          <a:xfrm>
            <a:off x="5212080" y="3493008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체험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337560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‘사는 곳’ 고르기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364845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물 · 풀 · 하늘 스티커 하나를 붙이면 벽에서 그 자리로 감</a:t>
            </a:r>
            <a:endParaRPr lang="en-US" sz="1200" dirty="0"/>
          </a:p>
        </p:txBody>
      </p:sp>
      <p:sp>
        <p:nvSpPr>
          <p:cNvPr id="20" name="prop-2"/>
          <p:cNvSpPr/>
          <p:nvPr/>
        </p:nvSpPr>
        <p:spPr>
          <a:xfrm>
            <a:off x="5029200" y="4105656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1" name="chip-운영"/>
          <p:cNvSpPr txBox="1"/>
          <p:nvPr/>
        </p:nvSpPr>
        <p:spPr>
          <a:xfrm>
            <a:off x="5212080" y="4334256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DCEE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운영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17880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카드에 번호 · QR 인쇄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4489704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내 그림 찾기와 보관함을 한 장으로 연결</a:t>
            </a:r>
            <a:endParaRPr lang="en-US" sz="1200" dirty="0"/>
          </a:p>
        </p:txBody>
      </p:sp>
      <p:sp>
        <p:nvSpPr>
          <p:cNvPr id="24" name="prop-3"/>
          <p:cNvSpPr/>
          <p:nvPr/>
        </p:nvSpPr>
        <p:spPr>
          <a:xfrm>
            <a:off x="5029200" y="4946904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5" name="chip-운영"/>
          <p:cNvSpPr txBox="1"/>
          <p:nvPr/>
        </p:nvSpPr>
        <p:spPr>
          <a:xfrm>
            <a:off x="5212080" y="5175504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DCEE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운영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0" y="502005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점토는 2차 옵션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330952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3D 스캔 비용 · 처리 시간을 확인한 뒤 결정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14D"/>
                </a:solidFill>
              </a:rPr>
              <a:t>확인할 것  </a:t>
            </a:r>
            <a:pPr indent="0" marL="0">
              <a:buNone/>
            </a:pPr>
            <a:r>
              <a:rPr lang="en-US" sz="1300" dirty="0">
                <a:solidFill>
                  <a:srgbClr val="16243A"/>
                </a:solidFill>
              </a:rPr>
              <a:t>테이블 좌석 수 · 드로잉 시간(가정 3–5분) · A/B/C 중 기본안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  <p:grpSp>
        <p:nvGrpSpPr>
          <p:cNvPr id="900" name="원안 그림"/>
          <p:cNvGrpSpPr/>
          <p:nvPr/>
        </p:nvGrpSpPr>
        <p:grpSpPr>
          <a:xfrm>
            <a:off x="930029" y="2331720"/>
            <a:ext cx="3443462" cy="2212848"/>
            <a:chOff x="6108192" y="2313432"/>
            <a:chExt cx="5577840" cy="3584448"/>
          </a:xfrm>
        </p:grpSpPr>
        <p:sp>
          <p:nvSpPr>
            <p:cNvPr id="901" name="Shape 18"/>
            <p:cNvSpPr/>
            <p:nvPr/>
          </p:nvSpPr>
          <p:spPr>
            <a:xfrm>
              <a:off x="6108192" y="2313432"/>
              <a:ext cx="5577840" cy="3584448"/>
            </a:xfrm>
            <a:prstGeom prst="roundRect">
              <a:avLst>
                <a:gd name="adj" fmla="val 2551"/>
              </a:avLst>
            </a:prstGeom>
            <a:solidFill>
              <a:srgbClr val="EAF5F1"/>
            </a:solidFill>
            <a:ln w="12700">
              <a:solidFill>
                <a:srgbClr val="EAF5F1">
                  <a:alpha val="0"/>
                </a:srgbClr>
              </a:solidFill>
              <a:prstDash val="solid"/>
            </a:ln>
          </p:spPr>
        </p:sp>
        <p:sp>
          <p:nvSpPr>
            <p:cNvPr id="902" name="Shape 19"/>
            <p:cNvSpPr/>
            <p:nvPr/>
          </p:nvSpPr>
          <p:spPr>
            <a:xfrm rot="-300000">
              <a:off x="6839712" y="2615184"/>
              <a:ext cx="2176272" cy="3008376"/>
            </a:xfrm>
            <a:prstGeom prst="roundRect">
              <a:avLst>
                <a:gd name="adj" fmla="val 4202"/>
              </a:avLst>
            </a:prstGeom>
            <a:solidFill>
              <a:srgbClr val="FFFFFF"/>
            </a:solidFill>
            <a:ln w="12700">
              <a:solidFill>
                <a:srgbClr val="D3E1DC"/>
              </a:solidFill>
              <a:prstDash val="solid"/>
            </a:ln>
          </p:spPr>
        </p:sp>
        <p:sp>
          <p:nvSpPr>
            <p:cNvPr id="903" name="Text 20"/>
            <p:cNvSpPr/>
            <p:nvPr/>
          </p:nvSpPr>
          <p:spPr>
            <a:xfrm>
              <a:off x="7123176" y="2862072"/>
              <a:ext cx="164592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indent="0" marL="0">
                <a:buNone/>
              </a:pPr>
              <a:r>
                <a:rPr lang="en-US" sz="1100" b="1" dirty="0">
                  <a:solidFill>
                    <a:srgbClr val="16243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Draw Me!</a:t>
              </a:r>
              <a:endParaRPr lang="en-US" sz="1100" dirty="0"/>
            </a:p>
          </p:txBody>
        </p:sp>
        <p:sp>
          <p:nvSpPr>
            <p:cNvPr id="904" name="Shape 21"/>
            <p:cNvSpPr/>
            <p:nvPr/>
          </p:nvSpPr>
          <p:spPr>
            <a:xfrm>
              <a:off x="7770571" y="3392424"/>
              <a:ext cx="594360" cy="594360"/>
            </a:xfrm>
            <a:prstGeom prst="ellipse">
              <a:avLst>
                <a:gd name="adj" fmla="val 15385"/>
              </a:avLst>
            </a:prstGeom>
            <a:solidFill>
              <a:srgbClr val="FDE6A5"/>
            </a:solidFill>
            <a:ln w="12700">
              <a:solidFill>
                <a:srgbClr val="FDE6A5">
                  <a:alpha val="0"/>
                </a:srgbClr>
              </a:solidFill>
              <a:prstDash val="solid"/>
            </a:ln>
          </p:spPr>
        </p:sp>
        <p:sp>
          <p:nvSpPr>
            <p:cNvPr id="905" name="Shape 22"/>
            <p:cNvSpPr/>
            <p:nvPr/>
          </p:nvSpPr>
          <p:spPr>
            <a:xfrm rot="10800000">
              <a:off x="7675474" y="3915461"/>
              <a:ext cx="808330" cy="903427"/>
            </a:xfrm>
            <a:prstGeom prst="arc">
              <a:avLst>
                <a:gd name="adj" fmla="val 11312"/>
              </a:avLst>
            </a:prstGeom>
            <a:solidFill>
              <a:srgbClr val="F7DDE5"/>
            </a:solidFill>
            <a:ln w="12700">
              <a:solidFill>
                <a:srgbClr val="F7DDE5"/>
              </a:solidFill>
              <a:prstDash val="solid"/>
            </a:ln>
          </p:spPr>
        </p:sp>
        <p:sp>
          <p:nvSpPr>
            <p:cNvPr id="906" name="Shape 23"/>
            <p:cNvSpPr/>
            <p:nvPr/>
          </p:nvSpPr>
          <p:spPr>
            <a:xfrm>
              <a:off x="7711135" y="4176979"/>
              <a:ext cx="653796" cy="118872"/>
            </a:xfrm>
            <a:prstGeom prst="line">
              <a:avLst>
                <a:gd name="adj" fmla="val 76923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907" name="Shape 24"/>
            <p:cNvSpPr/>
            <p:nvPr/>
          </p:nvSpPr>
          <p:spPr>
            <a:xfrm>
              <a:off x="7782458" y="4676242"/>
              <a:ext cx="-166421" cy="427939"/>
            </a:xfrm>
            <a:prstGeom prst="line">
              <a:avLst>
                <a:gd name="adj" fmla="val -54945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908" name="Shape 25"/>
            <p:cNvSpPr/>
            <p:nvPr/>
          </p:nvSpPr>
          <p:spPr>
            <a:xfrm>
              <a:off x="8234172" y="4676242"/>
              <a:ext cx="166421" cy="427939"/>
            </a:xfrm>
            <a:prstGeom prst="line">
              <a:avLst>
                <a:gd name="adj" fmla="val 54945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909" name="Shape 26"/>
            <p:cNvSpPr/>
            <p:nvPr/>
          </p:nvSpPr>
          <p:spPr>
            <a:xfrm>
              <a:off x="7925105" y="3653942"/>
              <a:ext cx="41605" cy="41605"/>
            </a:xfrm>
            <a:prstGeom prst="ellipse">
              <a:avLst>
                <a:gd name="adj" fmla="val 219781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910" name="Shape 27"/>
            <p:cNvSpPr/>
            <p:nvPr/>
          </p:nvSpPr>
          <p:spPr>
            <a:xfrm>
              <a:off x="8127187" y="3653942"/>
              <a:ext cx="41605" cy="41605"/>
            </a:xfrm>
            <a:prstGeom prst="ellipse">
              <a:avLst>
                <a:gd name="adj" fmla="val 219781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911" name="Shape 28"/>
            <p:cNvSpPr/>
            <p:nvPr/>
          </p:nvSpPr>
          <p:spPr>
            <a:xfrm rot="360000">
              <a:off x="9262872" y="2898648"/>
              <a:ext cx="1755648" cy="2377440"/>
            </a:xfrm>
            <a:prstGeom prst="roundRect">
              <a:avLst>
                <a:gd name="adj" fmla="val 5208"/>
              </a:avLst>
            </a:prstGeom>
            <a:solidFill>
              <a:srgbClr val="FFFFFF"/>
            </a:solidFill>
            <a:ln w="12700">
              <a:solidFill>
                <a:srgbClr val="DFE6EB"/>
              </a:solidFill>
              <a:prstDash val="solid"/>
            </a:ln>
          </p:spPr>
        </p:sp>
        <p:sp>
          <p:nvSpPr>
            <p:cNvPr id="912" name="Text 29"/>
            <p:cNvSpPr/>
            <p:nvPr/>
          </p:nvSpPr>
          <p:spPr>
            <a:xfrm>
              <a:off x="9619488" y="3136392"/>
              <a:ext cx="10058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61728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FACE</a:t>
              </a:r>
              <a:endParaRPr lang="en-US" sz="900" dirty="0"/>
            </a:p>
          </p:txBody>
        </p:sp>
        <p:sp>
          <p:nvSpPr>
            <p:cNvPr id="913" name="Shape 30"/>
            <p:cNvSpPr/>
            <p:nvPr/>
          </p:nvSpPr>
          <p:spPr>
            <a:xfrm>
              <a:off x="9637776" y="3675888"/>
              <a:ext cx="996696" cy="1042416"/>
            </a:xfrm>
            <a:prstGeom prst="ellipse">
              <a:avLst>
                <a:gd name="adj" fmla="val 9174"/>
              </a:avLst>
            </a:prstGeom>
            <a:solidFill>
              <a:srgbClr val="FDE6A5"/>
            </a:solidFill>
            <a:ln w="12700">
              <a:solidFill>
                <a:srgbClr val="FDE6A5">
                  <a:alpha val="0"/>
                </a:srgbClr>
              </a:solidFill>
              <a:prstDash val="solid"/>
            </a:ln>
          </p:spPr>
        </p:sp>
        <p:sp>
          <p:nvSpPr>
            <p:cNvPr id="914" name="Text 31"/>
            <p:cNvSpPr/>
            <p:nvPr/>
          </p:nvSpPr>
          <p:spPr>
            <a:xfrm>
              <a:off x="7479792" y="5550408"/>
              <a:ext cx="2871216" cy="2651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61728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A / B 도안 옵션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3A"/>
                </a:solidFill>
              </a:rPr>
              <a:t>Scan | 그림 스캔하기 + α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307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17287"/>
                </a:solidFill>
              </a:rPr>
              <a:t>평면의 그림이 살아 움직이는 캐릭터로 변화하는 시각적 놀라움</a:t>
            </a:r>
            <a:endParaRPr lang="en-US" sz="1500" dirty="0"/>
          </a:p>
        </p:txBody>
      </p:sp>
      <p:sp>
        <p:nvSpPr>
          <p:cNvPr id="4" name="step-number"/>
          <p:cNvSpPr txBox="1"/>
          <p:nvPr/>
        </p:nvSpPr>
        <p:spPr>
          <a:xfrm>
            <a:off x="10332720" y="5029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5DCDC1"/>
                </a:solidFill>
              </a:rPr>
              <a:t>02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17287"/>
                </a:solidFill>
              </a:rPr>
              <a:t>원안</a:t>
            </a:r>
            <a:endParaRPr lang="en-US" sz="1700" dirty="0"/>
          </a:p>
        </p:txBody>
      </p:sp>
      <p:sp>
        <p:nvSpPr>
          <p:cNvPr id="6" name="original"/>
          <p:cNvSpPr/>
          <p:nvPr/>
        </p:nvSpPr>
        <p:spPr>
          <a:xfrm>
            <a:off x="548640" y="4645152"/>
            <a:ext cx="42062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7" name="chip-2-1"/>
          <p:cNvSpPr txBox="1"/>
          <p:nvPr/>
        </p:nvSpPr>
        <p:spPr>
          <a:xfrm>
            <a:off x="685800" y="4773168"/>
            <a:ext cx="502920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2-1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471830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스캔 · 캐릭터 변환  </a:t>
            </a:r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그림을 스캔해 2D 또는 3D 캐릭터로 변환</a:t>
            </a:r>
            <a:endParaRPr lang="en-US" sz="1100" dirty="0"/>
          </a:p>
        </p:txBody>
      </p:sp>
      <p:sp>
        <p:nvSpPr>
          <p:cNvPr id="9" name="chip-2-2"/>
          <p:cNvSpPr txBox="1"/>
          <p:nvPr/>
        </p:nvSpPr>
        <p:spPr>
          <a:xfrm>
            <a:off x="685800" y="5276088"/>
            <a:ext cx="502920" cy="292608"/>
          </a:xfrm>
          <a:prstGeom prst="roundRect">
            <a:avLst>
              <a:gd name="adj" fmla="val 25000"/>
            </a:avLst>
          </a:prstGeom>
          <a:solidFill>
            <a:srgbClr val="D5EE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2-2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22122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+ α 표정 커스터마이징  </a:t>
            </a:r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터치 모니터에서 눈 · 코 · 입 선택 · 보정 검토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8C83"/>
                </a:solidFill>
              </a:rPr>
              <a:t>발전 제안</a:t>
            </a:r>
            <a:endParaRPr lang="en-US" sz="1700" dirty="0"/>
          </a:p>
        </p:txBody>
      </p:sp>
      <p:sp>
        <p:nvSpPr>
          <p:cNvPr id="12" name="prop-0"/>
          <p:cNvSpPr/>
          <p:nvPr/>
        </p:nvSpPr>
        <p:spPr>
          <a:xfrm>
            <a:off x="5029200" y="2423160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3" name="chip-연출"/>
          <p:cNvSpPr txBox="1"/>
          <p:nvPr/>
        </p:nvSpPr>
        <p:spPr>
          <a:xfrm>
            <a:off x="5212080" y="2651760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7DD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연출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496312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2D 우선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280720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그림 모양 그대로 휘고 흔드는 움직임. 3D 변환은 품질 · 시간 검증 뒤</a:t>
            </a:r>
            <a:endParaRPr lang="en-US" sz="1200" dirty="0"/>
          </a:p>
        </p:txBody>
      </p:sp>
      <p:sp>
        <p:nvSpPr>
          <p:cNvPr id="16" name="prop-1"/>
          <p:cNvSpPr/>
          <p:nvPr/>
        </p:nvSpPr>
        <p:spPr>
          <a:xfrm>
            <a:off x="5029200" y="3264408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7" name="chip-체험"/>
          <p:cNvSpPr txBox="1"/>
          <p:nvPr/>
        </p:nvSpPr>
        <p:spPr>
          <a:xfrm>
            <a:off x="5212080" y="3493008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체험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337560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표정은 큰 버튼 3–4개 · 10초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364845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건너뛰어도 기본 표정으로 진행해 줄이 길어지지 않게</a:t>
            </a:r>
            <a:endParaRPr lang="en-US" sz="1200" dirty="0"/>
          </a:p>
        </p:txBody>
      </p:sp>
      <p:sp>
        <p:nvSpPr>
          <p:cNvPr id="20" name="prop-2"/>
          <p:cNvSpPr/>
          <p:nvPr/>
        </p:nvSpPr>
        <p:spPr>
          <a:xfrm>
            <a:off x="5029200" y="4105656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1" name="chip-운영"/>
          <p:cNvSpPr txBox="1"/>
          <p:nvPr/>
        </p:nvSpPr>
        <p:spPr>
          <a:xfrm>
            <a:off x="5212080" y="4334256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DCEE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운영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17880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공개 전 직원 확인 한 번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4489704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파사드에 나가기 전 부적절한 그림 · 빈 종이 거르기</a:t>
            </a:r>
            <a:endParaRPr lang="en-US" sz="1200" dirty="0"/>
          </a:p>
        </p:txBody>
      </p:sp>
      <p:sp>
        <p:nvSpPr>
          <p:cNvPr id="24" name="prop-3"/>
          <p:cNvSpPr/>
          <p:nvPr/>
        </p:nvSpPr>
        <p:spPr>
          <a:xfrm>
            <a:off x="5029200" y="4946904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5" name="chip-연출"/>
          <p:cNvSpPr txBox="1"/>
          <p:nvPr/>
        </p:nvSpPr>
        <p:spPr>
          <a:xfrm>
            <a:off x="5212080" y="5175504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7DD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연출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0" y="502005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스캔 순간 3초 미리보기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330952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스캐너 옆 화면에서 그림이 ‘일어나는’ 모습을 먼저 보여 줌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14D"/>
                </a:solidFill>
              </a:rPr>
              <a:t>확인할 것  </a:t>
            </a:r>
            <a:pPr indent="0" marL="0">
              <a:buNone/>
            </a:pPr>
            <a:r>
              <a:rPr lang="en-US" sz="1300" dirty="0">
                <a:solidFill>
                  <a:srgbClr val="16243A"/>
                </a:solidFill>
              </a:rPr>
              <a:t>스캐너 대수 · 스캔부터 벽 등장까지 시간(가정 10초 이내) · 3D 변환 방식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  <p:grpSp>
        <p:nvGrpSpPr>
          <p:cNvPr id="900" name="원안 그림"/>
          <p:cNvGrpSpPr/>
          <p:nvPr/>
        </p:nvGrpSpPr>
        <p:grpSpPr>
          <a:xfrm>
            <a:off x="876199" y="2331720"/>
            <a:ext cx="3551122" cy="2212848"/>
            <a:chOff x="6144768" y="2331720"/>
            <a:chExt cx="5532120" cy="3447288"/>
          </a:xfrm>
        </p:grpSpPr>
        <p:sp>
          <p:nvSpPr>
            <p:cNvPr id="901" name="Shape 18"/>
            <p:cNvSpPr/>
            <p:nvPr/>
          </p:nvSpPr>
          <p:spPr>
            <a:xfrm>
              <a:off x="6144768" y="2331720"/>
              <a:ext cx="5532120" cy="3447288"/>
            </a:xfrm>
            <a:prstGeom prst="roundRect">
              <a:avLst>
                <a:gd name="adj" fmla="val 2653"/>
              </a:avLst>
            </a:prstGeom>
            <a:solidFill>
              <a:srgbClr val="EAF1F8"/>
            </a:solidFill>
            <a:ln w="12700">
              <a:solidFill>
                <a:srgbClr val="EAF1F8">
                  <a:alpha val="0"/>
                </a:srgbClr>
              </a:solidFill>
              <a:prstDash val="solid"/>
            </a:ln>
          </p:spPr>
        </p:sp>
        <p:sp>
          <p:nvSpPr>
            <p:cNvPr id="902" name="Shape 19"/>
            <p:cNvSpPr/>
            <p:nvPr/>
          </p:nvSpPr>
          <p:spPr>
            <a:xfrm>
              <a:off x="6455664" y="2926080"/>
              <a:ext cx="1554480" cy="2139696"/>
            </a:xfrm>
            <a:prstGeom prst="roundRect">
              <a:avLst>
                <a:gd name="adj" fmla="val 5882"/>
              </a:avLst>
            </a:prstGeom>
            <a:solidFill>
              <a:srgbClr val="FFFFFF"/>
            </a:solidFill>
            <a:ln w="12700">
              <a:solidFill>
                <a:srgbClr val="DFE6EB"/>
              </a:solidFill>
              <a:prstDash val="solid"/>
            </a:ln>
          </p:spPr>
        </p:sp>
        <p:sp>
          <p:nvSpPr>
            <p:cNvPr id="903" name="Shape 20"/>
            <p:cNvSpPr/>
            <p:nvPr/>
          </p:nvSpPr>
          <p:spPr>
            <a:xfrm>
              <a:off x="6926031" y="3337560"/>
              <a:ext cx="361188" cy="361188"/>
            </a:xfrm>
            <a:prstGeom prst="ellipse">
              <a:avLst>
                <a:gd name="adj" fmla="val 25316"/>
              </a:avLst>
            </a:prstGeom>
            <a:solidFill>
              <a:srgbClr val="FDE6A5"/>
            </a:solidFill>
            <a:ln w="12700">
              <a:solidFill>
                <a:srgbClr val="FDE6A5">
                  <a:alpha val="0"/>
                </a:srgbClr>
              </a:solidFill>
              <a:prstDash val="solid"/>
            </a:ln>
          </p:spPr>
        </p:sp>
        <p:sp>
          <p:nvSpPr>
            <p:cNvPr id="904" name="Shape 21"/>
            <p:cNvSpPr/>
            <p:nvPr/>
          </p:nvSpPr>
          <p:spPr>
            <a:xfrm rot="10800000">
              <a:off x="6868241" y="3655405"/>
              <a:ext cx="491216" cy="549006"/>
            </a:xfrm>
            <a:prstGeom prst="arc">
              <a:avLst>
                <a:gd name="adj" fmla="val 18615"/>
              </a:avLst>
            </a:prstGeom>
            <a:solidFill>
              <a:srgbClr val="F7DDE5"/>
            </a:solidFill>
            <a:ln w="12700">
              <a:solidFill>
                <a:srgbClr val="F7DDE5"/>
              </a:solidFill>
              <a:prstDash val="solid"/>
            </a:ln>
          </p:spPr>
        </p:sp>
        <p:sp>
          <p:nvSpPr>
            <p:cNvPr id="905" name="Shape 22"/>
            <p:cNvSpPr/>
            <p:nvPr/>
          </p:nvSpPr>
          <p:spPr>
            <a:xfrm>
              <a:off x="6889913" y="3814328"/>
              <a:ext cx="397307" cy="72238"/>
            </a:xfrm>
            <a:prstGeom prst="line">
              <a:avLst>
                <a:gd name="adj" fmla="val 126582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906" name="Shape 23"/>
            <p:cNvSpPr/>
            <p:nvPr/>
          </p:nvSpPr>
          <p:spPr>
            <a:xfrm>
              <a:off x="6933255" y="4117726"/>
              <a:ext cx="-101133" cy="260055"/>
            </a:xfrm>
            <a:prstGeom prst="line">
              <a:avLst>
                <a:gd name="adj" fmla="val -90416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907" name="Shape 24"/>
            <p:cNvSpPr/>
            <p:nvPr/>
          </p:nvSpPr>
          <p:spPr>
            <a:xfrm>
              <a:off x="7207758" y="4117726"/>
              <a:ext cx="101133" cy="260055"/>
            </a:xfrm>
            <a:prstGeom prst="line">
              <a:avLst>
                <a:gd name="adj" fmla="val 90416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908" name="Shape 25"/>
            <p:cNvSpPr/>
            <p:nvPr/>
          </p:nvSpPr>
          <p:spPr>
            <a:xfrm>
              <a:off x="7019940" y="3496483"/>
              <a:ext cx="25283" cy="25283"/>
            </a:xfrm>
            <a:prstGeom prst="ellipse">
              <a:avLst>
                <a:gd name="adj" fmla="val 361666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909" name="Shape 26"/>
            <p:cNvSpPr/>
            <p:nvPr/>
          </p:nvSpPr>
          <p:spPr>
            <a:xfrm>
              <a:off x="7142744" y="3496483"/>
              <a:ext cx="25283" cy="25283"/>
            </a:xfrm>
            <a:prstGeom prst="ellipse">
              <a:avLst>
                <a:gd name="adj" fmla="val 361666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910" name="Shape 27"/>
            <p:cNvSpPr/>
            <p:nvPr/>
          </p:nvSpPr>
          <p:spPr>
            <a:xfrm>
              <a:off x="8183880" y="3813048"/>
              <a:ext cx="548640" cy="685800"/>
            </a:xfrm>
            <a:prstGeom prst="chevron">
              <a:avLst>
                <a:gd name="adj" fmla="val 16667"/>
              </a:avLst>
            </a:prstGeom>
            <a:solidFill>
              <a:srgbClr val="5DCDC1"/>
            </a:solidFill>
            <a:ln w="12700">
              <a:solidFill>
                <a:srgbClr val="5DCDC1">
                  <a:alpha val="0"/>
                </a:srgbClr>
              </a:solidFill>
              <a:prstDash val="solid"/>
            </a:ln>
          </p:spPr>
        </p:sp>
        <p:sp>
          <p:nvSpPr>
            <p:cNvPr id="911" name="Shape 28"/>
            <p:cNvSpPr/>
            <p:nvPr/>
          </p:nvSpPr>
          <p:spPr>
            <a:xfrm>
              <a:off x="8942832" y="2843784"/>
              <a:ext cx="2249424" cy="2340864"/>
            </a:xfrm>
            <a:prstGeom prst="roundRect">
              <a:avLst>
                <a:gd name="adj" fmla="val 4065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912" name="Shape 29"/>
            <p:cNvSpPr/>
            <p:nvPr/>
          </p:nvSpPr>
          <p:spPr>
            <a:xfrm>
              <a:off x="9089136" y="2999232"/>
              <a:ext cx="1947672" cy="1874520"/>
            </a:xfrm>
            <a:prstGeom prst="roundRect">
              <a:avLst>
                <a:gd name="adj" fmla="val 4878"/>
              </a:avLst>
            </a:prstGeom>
            <a:solidFill>
              <a:srgbClr val="D8EFF0"/>
            </a:solidFill>
            <a:ln w="12700">
              <a:solidFill>
                <a:srgbClr val="D8EFF0">
                  <a:alpha val="0"/>
                </a:srgbClr>
              </a:solidFill>
              <a:prstDash val="solid"/>
            </a:ln>
          </p:spPr>
        </p:sp>
        <p:sp>
          <p:nvSpPr>
            <p:cNvPr id="913" name="Shape 30"/>
            <p:cNvSpPr/>
            <p:nvPr/>
          </p:nvSpPr>
          <p:spPr>
            <a:xfrm>
              <a:off x="9792858" y="3182112"/>
              <a:ext cx="393192" cy="393192"/>
            </a:xfrm>
            <a:prstGeom prst="ellipse">
              <a:avLst>
                <a:gd name="adj" fmla="val 23256"/>
              </a:avLst>
            </a:prstGeom>
            <a:solidFill>
              <a:srgbClr val="FDE6A5"/>
            </a:solidFill>
            <a:ln w="12700">
              <a:solidFill>
                <a:srgbClr val="FDE6A5">
                  <a:alpha val="0"/>
                </a:srgbClr>
              </a:solidFill>
              <a:prstDash val="solid"/>
            </a:ln>
          </p:spPr>
        </p:sp>
        <p:sp>
          <p:nvSpPr>
            <p:cNvPr id="914" name="Shape 31"/>
            <p:cNvSpPr/>
            <p:nvPr/>
          </p:nvSpPr>
          <p:spPr>
            <a:xfrm rot="10800000">
              <a:off x="9729948" y="3528121"/>
              <a:ext cx="534741" cy="597652"/>
            </a:xfrm>
            <a:prstGeom prst="arc">
              <a:avLst>
                <a:gd name="adj" fmla="val 17100"/>
              </a:avLst>
            </a:prstGeom>
            <a:solidFill>
              <a:srgbClr val="F7DDE5"/>
            </a:solidFill>
            <a:ln w="12700">
              <a:solidFill>
                <a:srgbClr val="F7DDE5"/>
              </a:solidFill>
              <a:prstDash val="solid"/>
            </a:ln>
          </p:spPr>
        </p:sp>
        <p:sp>
          <p:nvSpPr>
            <p:cNvPr id="915" name="Shape 32"/>
            <p:cNvSpPr/>
            <p:nvPr/>
          </p:nvSpPr>
          <p:spPr>
            <a:xfrm>
              <a:off x="9753539" y="3701125"/>
              <a:ext cx="432511" cy="78638"/>
            </a:xfrm>
            <a:prstGeom prst="line">
              <a:avLst>
                <a:gd name="adj" fmla="val 116280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916" name="Shape 33"/>
            <p:cNvSpPr/>
            <p:nvPr/>
          </p:nvSpPr>
          <p:spPr>
            <a:xfrm>
              <a:off x="9800722" y="4031407"/>
              <a:ext cx="-110094" cy="283098"/>
            </a:xfrm>
            <a:prstGeom prst="line">
              <a:avLst>
                <a:gd name="adj" fmla="val -83056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917" name="Shape 34"/>
            <p:cNvSpPr/>
            <p:nvPr/>
          </p:nvSpPr>
          <p:spPr>
            <a:xfrm>
              <a:off x="10099548" y="4031407"/>
              <a:ext cx="110094" cy="283098"/>
            </a:xfrm>
            <a:prstGeom prst="line">
              <a:avLst>
                <a:gd name="adj" fmla="val 83056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918" name="Shape 35"/>
            <p:cNvSpPr/>
            <p:nvPr/>
          </p:nvSpPr>
          <p:spPr>
            <a:xfrm>
              <a:off x="9895088" y="3355116"/>
              <a:ext cx="27523" cy="27523"/>
            </a:xfrm>
            <a:prstGeom prst="ellipse">
              <a:avLst>
                <a:gd name="adj" fmla="val 332231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919" name="Shape 36"/>
            <p:cNvSpPr/>
            <p:nvPr/>
          </p:nvSpPr>
          <p:spPr>
            <a:xfrm>
              <a:off x="10028773" y="3355116"/>
              <a:ext cx="27523" cy="27523"/>
            </a:xfrm>
            <a:prstGeom prst="ellipse">
              <a:avLst>
                <a:gd name="adj" fmla="val 332231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920" name="Text 37"/>
            <p:cNvSpPr/>
            <p:nvPr/>
          </p:nvSpPr>
          <p:spPr>
            <a:xfrm>
              <a:off x="6784848" y="5276088"/>
              <a:ext cx="10972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61728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SCAN</a:t>
              </a:r>
              <a:endParaRPr lang="en-US" sz="700" dirty="0"/>
            </a:p>
          </p:txBody>
        </p:sp>
        <p:sp>
          <p:nvSpPr>
            <p:cNvPr id="921" name="Text 38"/>
            <p:cNvSpPr/>
            <p:nvPr/>
          </p:nvSpPr>
          <p:spPr>
            <a:xfrm>
              <a:off x="8997696" y="5276088"/>
              <a:ext cx="21031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61728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2D / 3D + α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3A"/>
                </a:solidFill>
              </a:rPr>
              <a:t>Sketchbook Wall | 살아 움직이는 캐릭터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307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17287"/>
                </a:solidFill>
              </a:rPr>
              <a:t>내 캐릭터를 찾아보고, 다른 캐릭터와 어울리는 모습 관찰</a:t>
            </a:r>
            <a:endParaRPr lang="en-US" sz="1500" dirty="0"/>
          </a:p>
        </p:txBody>
      </p:sp>
      <p:sp>
        <p:nvSpPr>
          <p:cNvPr id="4" name="step-number"/>
          <p:cNvSpPr txBox="1"/>
          <p:nvPr/>
        </p:nvSpPr>
        <p:spPr>
          <a:xfrm>
            <a:off x="10332720" y="5029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5DCDC1"/>
                </a:solidFill>
              </a:rPr>
              <a:t>03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17287"/>
                </a:solidFill>
              </a:rPr>
              <a:t>원안</a:t>
            </a:r>
            <a:endParaRPr lang="en-US" sz="1700" dirty="0"/>
          </a:p>
        </p:txBody>
      </p:sp>
      <p:sp>
        <p:nvSpPr>
          <p:cNvPr id="6" name="original"/>
          <p:cNvSpPr/>
          <p:nvPr/>
        </p:nvSpPr>
        <p:spPr>
          <a:xfrm>
            <a:off x="548640" y="4645152"/>
            <a:ext cx="42062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7" name="chip-3-1"/>
          <p:cNvSpPr txBox="1"/>
          <p:nvPr/>
        </p:nvSpPr>
        <p:spPr>
          <a:xfrm>
            <a:off x="685800" y="4773168"/>
            <a:ext cx="502920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3-1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471830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등장 이벤트  </a:t>
            </a:r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스캔 완료 시 메인 월에 크게 등장해 춤 · 인사</a:t>
            </a:r>
            <a:endParaRPr lang="en-US" sz="1100" dirty="0"/>
          </a:p>
        </p:txBody>
      </p:sp>
      <p:sp>
        <p:nvSpPr>
          <p:cNvPr id="9" name="chip-3-2"/>
          <p:cNvSpPr txBox="1"/>
          <p:nvPr/>
        </p:nvSpPr>
        <p:spPr>
          <a:xfrm>
            <a:off x="685800" y="5276088"/>
            <a:ext cx="502920" cy="292608"/>
          </a:xfrm>
          <a:prstGeom prst="roundRect">
            <a:avLst>
              <a:gd name="adj" fmla="val 25000"/>
            </a:avLst>
          </a:prstGeom>
          <a:solidFill>
            <a:srgbClr val="D5EE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3-2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22122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연못 / 가든 인터랙션  </a:t>
            </a:r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다른 캐릭터와 자유롭게 이동 · 터치 반응 검토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8C83"/>
                </a:solidFill>
              </a:rPr>
              <a:t>발전 제안</a:t>
            </a:r>
            <a:endParaRPr lang="en-US" sz="1700" dirty="0"/>
          </a:p>
        </p:txBody>
      </p:sp>
      <p:sp>
        <p:nvSpPr>
          <p:cNvPr id="12" name="prop-0"/>
          <p:cNvSpPr/>
          <p:nvPr/>
        </p:nvSpPr>
        <p:spPr>
          <a:xfrm>
            <a:off x="5029200" y="2423160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3" name="chip-연출"/>
          <p:cNvSpPr txBox="1"/>
          <p:nvPr/>
        </p:nvSpPr>
        <p:spPr>
          <a:xfrm>
            <a:off x="5212080" y="2651760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7DD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연출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496312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배경에 붙는 방식 정하기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280720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톤 통일 · 빈칸 채우기 · 자라나는 배경 등에서 선택(배경 아이데이션 B1–B6)</a:t>
            </a:r>
            <a:endParaRPr lang="en-US" sz="1200" dirty="0"/>
          </a:p>
        </p:txBody>
      </p:sp>
      <p:sp>
        <p:nvSpPr>
          <p:cNvPr id="16" name="prop-1"/>
          <p:cNvSpPr/>
          <p:nvPr/>
        </p:nvSpPr>
        <p:spPr>
          <a:xfrm>
            <a:off x="5029200" y="3264408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7" name="chip-체험"/>
          <p:cNvSpPr txBox="1"/>
          <p:nvPr/>
        </p:nvSpPr>
        <p:spPr>
          <a:xfrm>
            <a:off x="5212080" y="3493008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체험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337560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내 그림 찾기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364845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등장할 때 카드 번호를 3초 표시, 이후 번호 · QR로 다시 부르기</a:t>
            </a:r>
            <a:endParaRPr lang="en-US" sz="1200" dirty="0"/>
          </a:p>
        </p:txBody>
      </p:sp>
      <p:sp>
        <p:nvSpPr>
          <p:cNvPr id="20" name="prop-2"/>
          <p:cNvSpPr/>
          <p:nvPr/>
        </p:nvSpPr>
        <p:spPr>
          <a:xfrm>
            <a:off x="5029200" y="4105656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1" name="chip-체험"/>
          <p:cNvSpPr txBox="1"/>
          <p:nvPr/>
        </p:nvSpPr>
        <p:spPr>
          <a:xfrm>
            <a:off x="5212080" y="4334256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체험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17880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터치 규칙은 하나만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4489704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누르면 점프 + 소리, 여러 명이 함께 누르면 다 같이 춤</a:t>
            </a:r>
            <a:endParaRPr lang="en-US" sz="1200" dirty="0"/>
          </a:p>
        </p:txBody>
      </p:sp>
      <p:sp>
        <p:nvSpPr>
          <p:cNvPr id="24" name="prop-3"/>
          <p:cNvSpPr/>
          <p:nvPr/>
        </p:nvSpPr>
        <p:spPr>
          <a:xfrm>
            <a:off x="5029200" y="4946904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5" name="chip-운영"/>
          <p:cNvSpPr txBox="1"/>
          <p:nvPr/>
        </p:nvSpPr>
        <p:spPr>
          <a:xfrm>
            <a:off x="5212080" y="5175504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DCEE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운영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0" y="502005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화면 밀도 관리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330952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동시 최대 수를 넘으면 오래된 그림은 아카이브로 이동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14D"/>
                </a:solidFill>
              </a:rPr>
              <a:t>확인할 것  </a:t>
            </a:r>
            <a:pPr indent="0" marL="0">
              <a:buNone/>
            </a:pPr>
            <a:r>
              <a:rPr lang="en-US" sz="1300" dirty="0">
                <a:solidFill>
                  <a:srgbClr val="16243A"/>
                </a:solidFill>
              </a:rPr>
              <a:t>벽 크기 · 해상도 · 터치 센서 방식 · 동시 캐릭터 수(가정 30–40)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grpSp>
        <p:nvGrpSpPr>
          <p:cNvPr id="900" name="원안 그림"/>
          <p:cNvGrpSpPr/>
          <p:nvPr/>
        </p:nvGrpSpPr>
        <p:grpSpPr>
          <a:xfrm>
            <a:off x="856040" y="2331720"/>
            <a:ext cx="3591440" cy="2212848"/>
            <a:chOff x="6135624" y="2331720"/>
            <a:chExt cx="5550408" cy="3419856"/>
          </a:xfrm>
        </p:grpSpPr>
        <p:sp>
          <p:nvSpPr>
            <p:cNvPr id="901" name="Shape 18"/>
            <p:cNvSpPr/>
            <p:nvPr/>
          </p:nvSpPr>
          <p:spPr>
            <a:xfrm>
              <a:off x="6135624" y="2331720"/>
              <a:ext cx="5550408" cy="3419856"/>
            </a:xfrm>
            <a:prstGeom prst="roundRect">
              <a:avLst>
                <a:gd name="adj" fmla="val 2674"/>
              </a:avLst>
            </a:prstGeom>
            <a:solidFill>
              <a:srgbClr val="DBEEF0"/>
            </a:solidFill>
            <a:ln w="12700">
              <a:solidFill>
                <a:srgbClr val="DBEEF0">
                  <a:alpha val="0"/>
                </a:srgbClr>
              </a:solidFill>
              <a:prstDash val="solid"/>
            </a:ln>
          </p:spPr>
        </p:sp>
        <p:sp>
          <p:nvSpPr>
            <p:cNvPr id="902" name="Shape 19"/>
            <p:cNvSpPr/>
            <p:nvPr/>
          </p:nvSpPr>
          <p:spPr>
            <a:xfrm>
              <a:off x="6483096" y="3977640"/>
              <a:ext cx="4846320" cy="1353312"/>
            </a:xfrm>
            <a:prstGeom prst="ellipse">
              <a:avLst>
                <a:gd name="adj" fmla="val 6757"/>
              </a:avLst>
            </a:prstGeom>
            <a:solidFill>
              <a:srgbClr val="9BCFDA"/>
            </a:solidFill>
            <a:ln w="12700">
              <a:solidFill>
                <a:srgbClr val="9BCFDA">
                  <a:alpha val="0"/>
                </a:srgbClr>
              </a:solidFill>
              <a:prstDash val="solid"/>
            </a:ln>
          </p:spPr>
        </p:sp>
        <p:sp>
          <p:nvSpPr>
            <p:cNvPr id="903" name="Shape 20"/>
            <p:cNvSpPr/>
            <p:nvPr/>
          </p:nvSpPr>
          <p:spPr>
            <a:xfrm>
              <a:off x="7589520" y="4178808"/>
              <a:ext cx="1069848" cy="438912"/>
            </a:xfrm>
            <a:prstGeom prst="ellipse">
              <a:avLst>
                <a:gd name="adj" fmla="val 20833"/>
              </a:avLst>
            </a:prstGeom>
            <a:solidFill>
              <a:srgbClr val="7ABBA0"/>
            </a:solidFill>
            <a:ln w="12700">
              <a:solidFill>
                <a:srgbClr val="7ABBA0">
                  <a:alpha val="0"/>
                </a:srgbClr>
              </a:solidFill>
              <a:prstDash val="solid"/>
            </a:ln>
          </p:spPr>
        </p:sp>
        <p:sp>
          <p:nvSpPr>
            <p:cNvPr id="904" name="Shape 21"/>
            <p:cNvSpPr/>
            <p:nvPr/>
          </p:nvSpPr>
          <p:spPr>
            <a:xfrm>
              <a:off x="9729216" y="4462272"/>
              <a:ext cx="1051560" cy="374904"/>
            </a:xfrm>
            <a:prstGeom prst="ellipse">
              <a:avLst>
                <a:gd name="adj" fmla="val 24390"/>
              </a:avLst>
            </a:prstGeom>
            <a:solidFill>
              <a:srgbClr val="7ABBA0"/>
            </a:solidFill>
            <a:ln w="12700">
              <a:solidFill>
                <a:srgbClr val="7ABBA0">
                  <a:alpha val="0"/>
                </a:srgbClr>
              </a:solidFill>
              <a:prstDash val="solid"/>
            </a:ln>
          </p:spPr>
        </p:sp>
        <p:sp>
          <p:nvSpPr>
            <p:cNvPr id="905" name="Shape 22"/>
            <p:cNvSpPr/>
            <p:nvPr/>
          </p:nvSpPr>
          <p:spPr>
            <a:xfrm>
              <a:off x="7777886" y="2971800"/>
              <a:ext cx="502920" cy="502920"/>
            </a:xfrm>
            <a:prstGeom prst="ellipse">
              <a:avLst>
                <a:gd name="adj" fmla="val 18182"/>
              </a:avLst>
            </a:prstGeom>
            <a:solidFill>
              <a:srgbClr val="FDE6A5"/>
            </a:solidFill>
            <a:ln w="12700">
              <a:solidFill>
                <a:srgbClr val="FDE6A5">
                  <a:alpha val="0"/>
                </a:srgbClr>
              </a:solidFill>
              <a:prstDash val="solid"/>
            </a:ln>
          </p:spPr>
        </p:sp>
        <p:sp>
          <p:nvSpPr>
            <p:cNvPr id="906" name="Shape 23"/>
            <p:cNvSpPr/>
            <p:nvPr/>
          </p:nvSpPr>
          <p:spPr>
            <a:xfrm rot="10800000">
              <a:off x="7697419" y="3414370"/>
              <a:ext cx="683971" cy="764438"/>
            </a:xfrm>
            <a:prstGeom prst="arc">
              <a:avLst>
                <a:gd name="adj" fmla="val 13369"/>
              </a:avLst>
            </a:prstGeom>
            <a:solidFill>
              <a:srgbClr val="F7DDE5"/>
            </a:solidFill>
            <a:ln w="12700">
              <a:solidFill>
                <a:srgbClr val="F7DDE5"/>
              </a:solidFill>
              <a:prstDash val="solid"/>
            </a:ln>
          </p:spPr>
        </p:sp>
        <p:sp>
          <p:nvSpPr>
            <p:cNvPr id="907" name="Shape 24"/>
            <p:cNvSpPr/>
            <p:nvPr/>
          </p:nvSpPr>
          <p:spPr>
            <a:xfrm>
              <a:off x="7727594" y="3635654"/>
              <a:ext cx="553212" cy="100584"/>
            </a:xfrm>
            <a:prstGeom prst="line">
              <a:avLst>
                <a:gd name="adj" fmla="val 90909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908" name="Shape 25"/>
            <p:cNvSpPr/>
            <p:nvPr/>
          </p:nvSpPr>
          <p:spPr>
            <a:xfrm>
              <a:off x="7787945" y="4058107"/>
              <a:ext cx="-140818" cy="362102"/>
            </a:xfrm>
            <a:prstGeom prst="line">
              <a:avLst>
                <a:gd name="adj" fmla="val -64935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909" name="Shape 26"/>
            <p:cNvSpPr/>
            <p:nvPr/>
          </p:nvSpPr>
          <p:spPr>
            <a:xfrm>
              <a:off x="8170164" y="4058107"/>
              <a:ext cx="140818" cy="362102"/>
            </a:xfrm>
            <a:prstGeom prst="line">
              <a:avLst>
                <a:gd name="adj" fmla="val 64935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910" name="Shape 27"/>
            <p:cNvSpPr/>
            <p:nvPr/>
          </p:nvSpPr>
          <p:spPr>
            <a:xfrm>
              <a:off x="7908646" y="3193085"/>
              <a:ext cx="35204" cy="35204"/>
            </a:xfrm>
            <a:prstGeom prst="ellipse">
              <a:avLst>
                <a:gd name="adj" fmla="val 259743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911" name="Shape 28"/>
            <p:cNvSpPr/>
            <p:nvPr/>
          </p:nvSpPr>
          <p:spPr>
            <a:xfrm>
              <a:off x="8079638" y="3193085"/>
              <a:ext cx="35204" cy="35204"/>
            </a:xfrm>
            <a:prstGeom prst="ellipse">
              <a:avLst>
                <a:gd name="adj" fmla="val 259743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912" name="Shape 29"/>
            <p:cNvSpPr/>
            <p:nvPr/>
          </p:nvSpPr>
          <p:spPr>
            <a:xfrm>
              <a:off x="9522927" y="3182112"/>
              <a:ext cx="361188" cy="361188"/>
            </a:xfrm>
            <a:prstGeom prst="ellipse">
              <a:avLst>
                <a:gd name="adj" fmla="val 25316"/>
              </a:avLst>
            </a:prstGeom>
            <a:solidFill>
              <a:srgbClr val="FDE6A5"/>
            </a:solidFill>
            <a:ln w="12700">
              <a:solidFill>
                <a:srgbClr val="FDE6A5">
                  <a:alpha val="0"/>
                </a:srgbClr>
              </a:solidFill>
              <a:prstDash val="solid"/>
            </a:ln>
          </p:spPr>
        </p:sp>
        <p:sp>
          <p:nvSpPr>
            <p:cNvPr id="913" name="Shape 30"/>
            <p:cNvSpPr/>
            <p:nvPr/>
          </p:nvSpPr>
          <p:spPr>
            <a:xfrm rot="10800000">
              <a:off x="9465137" y="3499957"/>
              <a:ext cx="491216" cy="549006"/>
            </a:xfrm>
            <a:prstGeom prst="arc">
              <a:avLst>
                <a:gd name="adj" fmla="val 18615"/>
              </a:avLst>
            </a:prstGeom>
            <a:solidFill>
              <a:srgbClr val="F7DDE5"/>
            </a:solidFill>
            <a:ln w="12700">
              <a:solidFill>
                <a:srgbClr val="F7DDE5"/>
              </a:solidFill>
              <a:prstDash val="solid"/>
            </a:ln>
          </p:spPr>
        </p:sp>
        <p:sp>
          <p:nvSpPr>
            <p:cNvPr id="914" name="Shape 31"/>
            <p:cNvSpPr/>
            <p:nvPr/>
          </p:nvSpPr>
          <p:spPr>
            <a:xfrm>
              <a:off x="9486809" y="3658880"/>
              <a:ext cx="397307" cy="72238"/>
            </a:xfrm>
            <a:prstGeom prst="line">
              <a:avLst>
                <a:gd name="adj" fmla="val 126582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915" name="Shape 32"/>
            <p:cNvSpPr/>
            <p:nvPr/>
          </p:nvSpPr>
          <p:spPr>
            <a:xfrm>
              <a:off x="9530151" y="3962278"/>
              <a:ext cx="-101133" cy="260055"/>
            </a:xfrm>
            <a:prstGeom prst="line">
              <a:avLst>
                <a:gd name="adj" fmla="val -90416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916" name="Shape 33"/>
            <p:cNvSpPr/>
            <p:nvPr/>
          </p:nvSpPr>
          <p:spPr>
            <a:xfrm>
              <a:off x="9804654" y="3962278"/>
              <a:ext cx="101133" cy="260055"/>
            </a:xfrm>
            <a:prstGeom prst="line">
              <a:avLst>
                <a:gd name="adj" fmla="val 90416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917" name="Shape 34"/>
            <p:cNvSpPr/>
            <p:nvPr/>
          </p:nvSpPr>
          <p:spPr>
            <a:xfrm>
              <a:off x="9616836" y="3341035"/>
              <a:ext cx="25283" cy="25283"/>
            </a:xfrm>
            <a:prstGeom prst="ellipse">
              <a:avLst>
                <a:gd name="adj" fmla="val 361666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918" name="Shape 35"/>
            <p:cNvSpPr/>
            <p:nvPr/>
          </p:nvSpPr>
          <p:spPr>
            <a:xfrm>
              <a:off x="9739640" y="3341035"/>
              <a:ext cx="25283" cy="25283"/>
            </a:xfrm>
            <a:prstGeom prst="ellipse">
              <a:avLst>
                <a:gd name="adj" fmla="val 361666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919" name="Shape 36"/>
            <p:cNvSpPr/>
            <p:nvPr/>
          </p:nvSpPr>
          <p:spPr>
            <a:xfrm>
              <a:off x="6720840" y="3136392"/>
              <a:ext cx="411480" cy="420624"/>
            </a:xfrm>
            <a:prstGeom prst="ellipse">
              <a:avLst>
                <a:gd name="adj" fmla="val 22222"/>
              </a:avLst>
            </a:prstGeom>
            <a:solidFill>
              <a:srgbClr val="F3C9D8"/>
            </a:solidFill>
            <a:ln w="12700">
              <a:solidFill>
                <a:srgbClr val="F3C9D8">
                  <a:alpha val="0"/>
                </a:srgbClr>
              </a:solidFill>
              <a:prstDash val="solid"/>
            </a:ln>
          </p:spPr>
        </p:sp>
        <p:sp>
          <p:nvSpPr>
            <p:cNvPr id="920" name="Shape 37"/>
            <p:cNvSpPr/>
            <p:nvPr/>
          </p:nvSpPr>
          <p:spPr>
            <a:xfrm>
              <a:off x="10561320" y="2916936"/>
              <a:ext cx="420624" cy="411480"/>
            </a:xfrm>
            <a:prstGeom prst="ellipse">
              <a:avLst>
                <a:gd name="adj" fmla="val 22222"/>
              </a:avLst>
            </a:prstGeom>
            <a:solidFill>
              <a:srgbClr val="F2DF9A"/>
            </a:solidFill>
            <a:ln w="12700">
              <a:solidFill>
                <a:srgbClr val="F2DF9A">
                  <a:alpha val="0"/>
                </a:srgbClr>
              </a:solidFill>
              <a:prstDash val="solid"/>
            </a:ln>
          </p:spPr>
        </p:sp>
        <p:sp>
          <p:nvSpPr>
            <p:cNvPr id="921" name="Text 38"/>
            <p:cNvSpPr/>
            <p:nvPr/>
          </p:nvSpPr>
          <p:spPr>
            <a:xfrm>
              <a:off x="8357616" y="2660904"/>
              <a:ext cx="224028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16243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WELCOME!</a:t>
              </a:r>
              <a:endParaRPr lang="en-US" sz="9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3A"/>
                </a:solidFill>
              </a:rPr>
              <a:t>Main Facade | 광장으로 확장되는 이야기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307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17287"/>
                </a:solidFill>
              </a:rPr>
              <a:t>스케치북에서 탄생한 캐릭터가 대형 파사드에 등장하는 성취감과 확장감</a:t>
            </a:r>
            <a:endParaRPr lang="en-US" sz="1500" dirty="0"/>
          </a:p>
        </p:txBody>
      </p:sp>
      <p:sp>
        <p:nvSpPr>
          <p:cNvPr id="4" name="step-number"/>
          <p:cNvSpPr txBox="1"/>
          <p:nvPr/>
        </p:nvSpPr>
        <p:spPr>
          <a:xfrm>
            <a:off x="10332720" y="5029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5DCDC1"/>
                </a:solidFill>
              </a:rPr>
              <a:t>04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17287"/>
                </a:solidFill>
              </a:rPr>
              <a:t>원안</a:t>
            </a:r>
            <a:endParaRPr lang="en-US" sz="1700" dirty="0"/>
          </a:p>
        </p:txBody>
      </p:sp>
      <p:sp>
        <p:nvSpPr>
          <p:cNvPr id="6" name="original"/>
          <p:cNvSpPr/>
          <p:nvPr/>
        </p:nvSpPr>
        <p:spPr>
          <a:xfrm>
            <a:off x="548640" y="4645152"/>
            <a:ext cx="42062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7" name="chip-4-1"/>
          <p:cNvSpPr txBox="1"/>
          <p:nvPr/>
        </p:nvSpPr>
        <p:spPr>
          <a:xfrm>
            <a:off x="685800" y="4773168"/>
            <a:ext cx="502920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4-1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471830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퍼레이드 이벤트  </a:t>
            </a:r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아이들이 만든 캐릭터들이 광장을 둘러 행진</a:t>
            </a:r>
            <a:endParaRPr lang="en-US" sz="1100" dirty="0"/>
          </a:p>
        </p:txBody>
      </p:sp>
      <p:sp>
        <p:nvSpPr>
          <p:cNvPr id="9" name="chip-4-2"/>
          <p:cNvSpPr txBox="1"/>
          <p:nvPr/>
        </p:nvSpPr>
        <p:spPr>
          <a:xfrm>
            <a:off x="685800" y="5276088"/>
            <a:ext cx="502920" cy="292608"/>
          </a:xfrm>
          <a:prstGeom prst="roundRect">
            <a:avLst>
              <a:gd name="adj" fmla="val 25000"/>
            </a:avLst>
          </a:prstGeom>
          <a:solidFill>
            <a:srgbClr val="D5EE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4-2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22122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기존 콘텐츠 연계  </a:t>
            </a:r>
            <a:pPr indent="0" marL="0">
              <a:buNone/>
            </a:pPr>
            <a:r>
              <a:rPr lang="en-US" sz="1100" dirty="0">
                <a:solidFill>
                  <a:srgbClr val="617287"/>
                </a:solidFill>
              </a:rPr>
              <a:t>Art: 배경 앞을 지나며 합류 / Logo: 도형 위 · 사이 이동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8C83"/>
                </a:solidFill>
              </a:rPr>
              <a:t>발전 제안</a:t>
            </a:r>
            <a:endParaRPr lang="en-US" sz="1700" dirty="0"/>
          </a:p>
        </p:txBody>
      </p:sp>
      <p:sp>
        <p:nvSpPr>
          <p:cNvPr id="12" name="prop-0"/>
          <p:cNvSpPr/>
          <p:nvPr/>
        </p:nvSpPr>
        <p:spPr>
          <a:xfrm>
            <a:off x="5029200" y="2423160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3" name="chip-연출"/>
          <p:cNvSpPr txBox="1"/>
          <p:nvPr/>
        </p:nvSpPr>
        <p:spPr>
          <a:xfrm>
            <a:off x="5212080" y="2651760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7DD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연출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496312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정시 퍼레이드 + 상시 합류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280720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평소엔 몇 명씩 합류, 정해진 시각에 모두 행진(예: 30분마다)</a:t>
            </a:r>
            <a:endParaRPr lang="en-US" sz="1200" dirty="0"/>
          </a:p>
        </p:txBody>
      </p:sp>
      <p:sp>
        <p:nvSpPr>
          <p:cNvPr id="16" name="prop-1"/>
          <p:cNvSpPr/>
          <p:nvPr/>
        </p:nvSpPr>
        <p:spPr>
          <a:xfrm>
            <a:off x="5029200" y="3264408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7" name="chip-연출"/>
          <p:cNvSpPr txBox="1"/>
          <p:nvPr/>
        </p:nvSpPr>
        <p:spPr>
          <a:xfrm>
            <a:off x="5212080" y="3493008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7DD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연출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337560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Art Mode: 창 속 장면으로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364845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동그란 창에 내 그림이 먼저 보이고, 장면에 맞는 물건이 되어 들어감</a:t>
            </a:r>
            <a:endParaRPr lang="en-US" sz="1200" dirty="0"/>
          </a:p>
        </p:txBody>
      </p:sp>
      <p:sp>
        <p:nvSpPr>
          <p:cNvPr id="20" name="prop-2"/>
          <p:cNvSpPr/>
          <p:nvPr/>
        </p:nvSpPr>
        <p:spPr>
          <a:xfrm>
            <a:off x="5029200" y="4105656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1" name="chip-연출"/>
          <p:cNvSpPr txBox="1"/>
          <p:nvPr/>
        </p:nvSpPr>
        <p:spPr>
          <a:xfrm>
            <a:off x="5212080" y="4334256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7DD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연출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17880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Logo Mode: 패턴 조각이 됨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4489704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혜성을 타고 날아와 내려앉고, 오래된 그림은 별로 바뀜</a:t>
            </a:r>
            <a:endParaRPr lang="en-US" sz="1200" dirty="0"/>
          </a:p>
        </p:txBody>
      </p:sp>
      <p:sp>
        <p:nvSpPr>
          <p:cNvPr id="24" name="prop-3"/>
          <p:cNvSpPr/>
          <p:nvPr/>
        </p:nvSpPr>
        <p:spPr>
          <a:xfrm>
            <a:off x="5029200" y="4946904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5" name="chip-운영"/>
          <p:cNvSpPr txBox="1"/>
          <p:nvPr/>
        </p:nvSpPr>
        <p:spPr>
          <a:xfrm>
            <a:off x="5212080" y="5175504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DCEE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운영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0" y="502005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스케치북 → 광장 안내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330952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“○시에 광장에서 만나요”를 카드 · 사이니지로 안내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14D"/>
                </a:solidFill>
              </a:rPr>
              <a:t>확인할 것  </a:t>
            </a:r>
            <a:pPr indent="0" marL="0">
              <a:buNone/>
            </a:pPr>
            <a:r>
              <a:rPr lang="en-US" sz="1300" dirty="0">
                <a:solidFill>
                  <a:srgbClr val="16243A"/>
                </a:solidFill>
              </a:rPr>
              <a:t>파사드 해상도 · 비율 · 기존 영상 원본 형식(실시간 합성 가능 여부)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  <p:grpSp>
        <p:nvGrpSpPr>
          <p:cNvPr id="900" name="원안 그림"/>
          <p:cNvGrpSpPr/>
          <p:nvPr/>
        </p:nvGrpSpPr>
        <p:grpSpPr>
          <a:xfrm>
            <a:off x="867395" y="2331720"/>
            <a:ext cx="3568730" cy="2212848"/>
            <a:chOff x="6135624" y="2304288"/>
            <a:chExt cx="5559552" cy="3447288"/>
          </a:xfrm>
        </p:grpSpPr>
        <p:sp>
          <p:nvSpPr>
            <p:cNvPr id="901" name="Shape 18"/>
            <p:cNvSpPr/>
            <p:nvPr/>
          </p:nvSpPr>
          <p:spPr>
            <a:xfrm>
              <a:off x="6135624" y="2304288"/>
              <a:ext cx="5559552" cy="3447288"/>
            </a:xfrm>
            <a:prstGeom prst="roundRect">
              <a:avLst>
                <a:gd name="adj" fmla="val 2653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902" name="Shape 19"/>
            <p:cNvSpPr/>
            <p:nvPr/>
          </p:nvSpPr>
          <p:spPr>
            <a:xfrm>
              <a:off x="6355080" y="2624328"/>
              <a:ext cx="621792" cy="2258568"/>
            </a:xfrm>
            <a:prstGeom prst="rect">
              <a:avLst>
                <a:gd name="adj" fmla="val 14706"/>
              </a:avLst>
            </a:prstGeom>
            <a:solidFill>
              <a:srgbClr val="2A455B"/>
            </a:solidFill>
            <a:ln w="12700">
              <a:solidFill>
                <a:srgbClr val="2A455B">
                  <a:alpha val="0"/>
                </a:srgbClr>
              </a:solidFill>
              <a:prstDash val="solid"/>
            </a:ln>
          </p:spPr>
        </p:sp>
        <p:sp>
          <p:nvSpPr>
            <p:cNvPr id="903" name="Shape 20"/>
            <p:cNvSpPr/>
            <p:nvPr/>
          </p:nvSpPr>
          <p:spPr>
            <a:xfrm>
              <a:off x="7196328" y="2624328"/>
              <a:ext cx="621792" cy="2258568"/>
            </a:xfrm>
            <a:prstGeom prst="rect">
              <a:avLst>
                <a:gd name="adj" fmla="val 14706"/>
              </a:avLst>
            </a:prstGeom>
            <a:solidFill>
              <a:srgbClr val="38526B"/>
            </a:solidFill>
            <a:ln w="12700">
              <a:solidFill>
                <a:srgbClr val="38526B">
                  <a:alpha val="0"/>
                </a:srgbClr>
              </a:solidFill>
              <a:prstDash val="solid"/>
            </a:ln>
          </p:spPr>
        </p:sp>
        <p:sp>
          <p:nvSpPr>
            <p:cNvPr id="904" name="Shape 21"/>
            <p:cNvSpPr/>
            <p:nvPr/>
          </p:nvSpPr>
          <p:spPr>
            <a:xfrm>
              <a:off x="8037576" y="2624328"/>
              <a:ext cx="621792" cy="2258568"/>
            </a:xfrm>
            <a:prstGeom prst="rect">
              <a:avLst>
                <a:gd name="adj" fmla="val 14706"/>
              </a:avLst>
            </a:prstGeom>
            <a:solidFill>
              <a:srgbClr val="2A455B"/>
            </a:solidFill>
            <a:ln w="12700">
              <a:solidFill>
                <a:srgbClr val="2A455B">
                  <a:alpha val="0"/>
                </a:srgbClr>
              </a:solidFill>
              <a:prstDash val="solid"/>
            </a:ln>
          </p:spPr>
        </p:sp>
        <p:sp>
          <p:nvSpPr>
            <p:cNvPr id="905" name="Shape 22"/>
            <p:cNvSpPr/>
            <p:nvPr/>
          </p:nvSpPr>
          <p:spPr>
            <a:xfrm>
              <a:off x="8878824" y="2624328"/>
              <a:ext cx="621792" cy="2258568"/>
            </a:xfrm>
            <a:prstGeom prst="rect">
              <a:avLst>
                <a:gd name="adj" fmla="val 14706"/>
              </a:avLst>
            </a:prstGeom>
            <a:solidFill>
              <a:srgbClr val="38526B"/>
            </a:solidFill>
            <a:ln w="12700">
              <a:solidFill>
                <a:srgbClr val="38526B">
                  <a:alpha val="0"/>
                </a:srgbClr>
              </a:solidFill>
              <a:prstDash val="solid"/>
            </a:ln>
          </p:spPr>
        </p:sp>
        <p:sp>
          <p:nvSpPr>
            <p:cNvPr id="906" name="Shape 23"/>
            <p:cNvSpPr/>
            <p:nvPr/>
          </p:nvSpPr>
          <p:spPr>
            <a:xfrm>
              <a:off x="9720072" y="2624328"/>
              <a:ext cx="621792" cy="2258568"/>
            </a:xfrm>
            <a:prstGeom prst="rect">
              <a:avLst>
                <a:gd name="adj" fmla="val 14706"/>
              </a:avLst>
            </a:prstGeom>
            <a:solidFill>
              <a:srgbClr val="2A455B"/>
            </a:solidFill>
            <a:ln w="12700">
              <a:solidFill>
                <a:srgbClr val="2A455B">
                  <a:alpha val="0"/>
                </a:srgbClr>
              </a:solidFill>
              <a:prstDash val="solid"/>
            </a:ln>
          </p:spPr>
        </p:sp>
        <p:sp>
          <p:nvSpPr>
            <p:cNvPr id="907" name="Shape 24"/>
            <p:cNvSpPr/>
            <p:nvPr/>
          </p:nvSpPr>
          <p:spPr>
            <a:xfrm>
              <a:off x="10561320" y="2624328"/>
              <a:ext cx="621792" cy="2258568"/>
            </a:xfrm>
            <a:prstGeom prst="rect">
              <a:avLst>
                <a:gd name="adj" fmla="val 14706"/>
              </a:avLst>
            </a:prstGeom>
            <a:solidFill>
              <a:srgbClr val="38526B"/>
            </a:solidFill>
            <a:ln w="12700">
              <a:solidFill>
                <a:srgbClr val="38526B">
                  <a:alpha val="0"/>
                </a:srgbClr>
              </a:solidFill>
              <a:prstDash val="solid"/>
            </a:ln>
          </p:spPr>
        </p:sp>
        <p:sp>
          <p:nvSpPr>
            <p:cNvPr id="908" name="Shape 25"/>
            <p:cNvSpPr/>
            <p:nvPr/>
          </p:nvSpPr>
          <p:spPr>
            <a:xfrm>
              <a:off x="6565392" y="4690872"/>
              <a:ext cx="4709160" cy="512064"/>
            </a:xfrm>
            <a:prstGeom prst="ellipse">
              <a:avLst>
                <a:gd name="adj" fmla="val 17857"/>
              </a:avLst>
            </a:prstGeom>
            <a:solidFill>
              <a:srgbClr val="60778A"/>
            </a:solidFill>
            <a:ln w="12700">
              <a:solidFill>
                <a:srgbClr val="60778A">
                  <a:alpha val="0"/>
                </a:srgbClr>
              </a:solidFill>
              <a:prstDash val="solid"/>
            </a:ln>
          </p:spPr>
        </p:sp>
        <p:sp>
          <p:nvSpPr>
            <p:cNvPr id="909" name="Shape 26"/>
            <p:cNvSpPr/>
            <p:nvPr/>
          </p:nvSpPr>
          <p:spPr>
            <a:xfrm>
              <a:off x="7037588" y="3858768"/>
              <a:ext cx="338328" cy="338328"/>
            </a:xfrm>
            <a:prstGeom prst="ellipse">
              <a:avLst>
                <a:gd name="adj" fmla="val 27027"/>
              </a:avLst>
            </a:prstGeom>
            <a:solidFill>
              <a:srgbClr val="FDE6A5"/>
            </a:solidFill>
            <a:ln w="12700">
              <a:solidFill>
                <a:srgbClr val="FDE6A5">
                  <a:alpha val="0"/>
                </a:srgbClr>
              </a:solidFill>
              <a:prstDash val="solid"/>
            </a:ln>
          </p:spPr>
        </p:sp>
        <p:sp>
          <p:nvSpPr>
            <p:cNvPr id="910" name="Shape 27"/>
            <p:cNvSpPr/>
            <p:nvPr/>
          </p:nvSpPr>
          <p:spPr>
            <a:xfrm rot="10800000">
              <a:off x="6983456" y="4156497"/>
              <a:ext cx="460126" cy="514259"/>
            </a:xfrm>
            <a:prstGeom prst="arc">
              <a:avLst>
                <a:gd name="adj" fmla="val 19873"/>
              </a:avLst>
            </a:prstGeom>
            <a:solidFill>
              <a:srgbClr val="F7DDE5"/>
            </a:solidFill>
            <a:ln w="12700">
              <a:solidFill>
                <a:srgbClr val="F7DDE5"/>
              </a:solidFill>
              <a:prstDash val="solid"/>
            </a:ln>
          </p:spPr>
        </p:sp>
        <p:sp>
          <p:nvSpPr>
            <p:cNvPr id="911" name="Shape 28"/>
            <p:cNvSpPr/>
            <p:nvPr/>
          </p:nvSpPr>
          <p:spPr>
            <a:xfrm>
              <a:off x="7003755" y="4305361"/>
              <a:ext cx="372161" cy="67666"/>
            </a:xfrm>
            <a:prstGeom prst="line">
              <a:avLst>
                <a:gd name="adj" fmla="val 135134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912" name="Shape 29"/>
            <p:cNvSpPr/>
            <p:nvPr/>
          </p:nvSpPr>
          <p:spPr>
            <a:xfrm>
              <a:off x="7044355" y="4589556"/>
              <a:ext cx="-94732" cy="243596"/>
            </a:xfrm>
            <a:prstGeom prst="line">
              <a:avLst>
                <a:gd name="adj" fmla="val -96525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913" name="Shape 30"/>
            <p:cNvSpPr/>
            <p:nvPr/>
          </p:nvSpPr>
          <p:spPr>
            <a:xfrm>
              <a:off x="7301484" y="4589556"/>
              <a:ext cx="94732" cy="243596"/>
            </a:xfrm>
            <a:prstGeom prst="line">
              <a:avLst>
                <a:gd name="adj" fmla="val 96525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914" name="Shape 31"/>
            <p:cNvSpPr/>
            <p:nvPr/>
          </p:nvSpPr>
          <p:spPr>
            <a:xfrm>
              <a:off x="7125553" y="4007632"/>
              <a:ext cx="23683" cy="23683"/>
            </a:xfrm>
            <a:prstGeom prst="ellipse">
              <a:avLst>
                <a:gd name="adj" fmla="val 386100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915" name="Shape 32"/>
            <p:cNvSpPr/>
            <p:nvPr/>
          </p:nvSpPr>
          <p:spPr>
            <a:xfrm>
              <a:off x="7240585" y="4007632"/>
              <a:ext cx="23683" cy="23683"/>
            </a:xfrm>
            <a:prstGeom prst="ellipse">
              <a:avLst>
                <a:gd name="adj" fmla="val 386100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916" name="Shape 33"/>
            <p:cNvSpPr/>
            <p:nvPr/>
          </p:nvSpPr>
          <p:spPr>
            <a:xfrm>
              <a:off x="8524403" y="3685032"/>
              <a:ext cx="384048" cy="384048"/>
            </a:xfrm>
            <a:prstGeom prst="ellipse">
              <a:avLst>
                <a:gd name="adj" fmla="val 23810"/>
              </a:avLst>
            </a:prstGeom>
            <a:solidFill>
              <a:srgbClr val="FDE6A5"/>
            </a:solidFill>
            <a:ln w="12700">
              <a:solidFill>
                <a:srgbClr val="FDE6A5">
                  <a:alpha val="0"/>
                </a:srgbClr>
              </a:solidFill>
              <a:prstDash val="solid"/>
            </a:ln>
          </p:spPr>
        </p:sp>
        <p:sp>
          <p:nvSpPr>
            <p:cNvPr id="917" name="Shape 34"/>
            <p:cNvSpPr/>
            <p:nvPr/>
          </p:nvSpPr>
          <p:spPr>
            <a:xfrm rot="10800000">
              <a:off x="8462955" y="4022994"/>
              <a:ext cx="522305" cy="583753"/>
            </a:xfrm>
            <a:prstGeom prst="arc">
              <a:avLst>
                <a:gd name="adj" fmla="val 17507"/>
              </a:avLst>
            </a:prstGeom>
            <a:solidFill>
              <a:srgbClr val="F7DDE5"/>
            </a:solidFill>
            <a:ln w="12700">
              <a:solidFill>
                <a:srgbClr val="F7DDE5"/>
              </a:solidFill>
              <a:prstDash val="solid"/>
            </a:ln>
          </p:spPr>
        </p:sp>
        <p:sp>
          <p:nvSpPr>
            <p:cNvPr id="918" name="Shape 35"/>
            <p:cNvSpPr/>
            <p:nvPr/>
          </p:nvSpPr>
          <p:spPr>
            <a:xfrm>
              <a:off x="8485998" y="4191975"/>
              <a:ext cx="422453" cy="76810"/>
            </a:xfrm>
            <a:prstGeom prst="line">
              <a:avLst>
                <a:gd name="adj" fmla="val 119047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919" name="Shape 36"/>
            <p:cNvSpPr/>
            <p:nvPr/>
          </p:nvSpPr>
          <p:spPr>
            <a:xfrm>
              <a:off x="8532084" y="4514576"/>
              <a:ext cx="-107533" cy="276515"/>
            </a:xfrm>
            <a:prstGeom prst="line">
              <a:avLst>
                <a:gd name="adj" fmla="val -85034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920" name="Shape 37"/>
            <p:cNvSpPr/>
            <p:nvPr/>
          </p:nvSpPr>
          <p:spPr>
            <a:xfrm>
              <a:off x="8823960" y="4514576"/>
              <a:ext cx="107533" cy="276515"/>
            </a:xfrm>
            <a:prstGeom prst="line">
              <a:avLst>
                <a:gd name="adj" fmla="val 85034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921" name="Shape 38"/>
            <p:cNvSpPr/>
            <p:nvPr/>
          </p:nvSpPr>
          <p:spPr>
            <a:xfrm>
              <a:off x="8624255" y="3854013"/>
              <a:ext cx="26883" cy="26883"/>
            </a:xfrm>
            <a:prstGeom prst="ellipse">
              <a:avLst>
                <a:gd name="adj" fmla="val 340141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922" name="Shape 39"/>
            <p:cNvSpPr/>
            <p:nvPr/>
          </p:nvSpPr>
          <p:spPr>
            <a:xfrm>
              <a:off x="8754831" y="3854013"/>
              <a:ext cx="26883" cy="26883"/>
            </a:xfrm>
            <a:prstGeom prst="ellipse">
              <a:avLst>
                <a:gd name="adj" fmla="val 340141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923" name="Shape 40"/>
            <p:cNvSpPr/>
            <p:nvPr/>
          </p:nvSpPr>
          <p:spPr>
            <a:xfrm>
              <a:off x="10134112" y="3840480"/>
              <a:ext cx="333756" cy="333756"/>
            </a:xfrm>
            <a:prstGeom prst="ellipse">
              <a:avLst>
                <a:gd name="adj" fmla="val 27397"/>
              </a:avLst>
            </a:prstGeom>
            <a:solidFill>
              <a:srgbClr val="FDE6A5"/>
            </a:solidFill>
            <a:ln w="12700">
              <a:solidFill>
                <a:srgbClr val="FDE6A5">
                  <a:alpha val="0"/>
                </a:srgbClr>
              </a:solidFill>
              <a:prstDash val="solid"/>
            </a:ln>
          </p:spPr>
        </p:sp>
        <p:sp>
          <p:nvSpPr>
            <p:cNvPr id="924" name="Shape 41"/>
            <p:cNvSpPr/>
            <p:nvPr/>
          </p:nvSpPr>
          <p:spPr>
            <a:xfrm rot="10800000">
              <a:off x="10080711" y="4134185"/>
              <a:ext cx="453908" cy="507309"/>
            </a:xfrm>
            <a:prstGeom prst="arc">
              <a:avLst>
                <a:gd name="adj" fmla="val 20145"/>
              </a:avLst>
            </a:prstGeom>
            <a:solidFill>
              <a:srgbClr val="F7DDE5"/>
            </a:solidFill>
            <a:ln w="12700">
              <a:solidFill>
                <a:srgbClr val="F7DDE5"/>
              </a:solidFill>
              <a:prstDash val="solid"/>
            </a:ln>
          </p:spPr>
        </p:sp>
        <p:sp>
          <p:nvSpPr>
            <p:cNvPr id="925" name="Shape 42"/>
            <p:cNvSpPr/>
            <p:nvPr/>
          </p:nvSpPr>
          <p:spPr>
            <a:xfrm>
              <a:off x="10100737" y="4281038"/>
              <a:ext cx="367132" cy="66751"/>
            </a:xfrm>
            <a:prstGeom prst="line">
              <a:avLst>
                <a:gd name="adj" fmla="val 136987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926" name="Shape 43"/>
            <p:cNvSpPr/>
            <p:nvPr/>
          </p:nvSpPr>
          <p:spPr>
            <a:xfrm>
              <a:off x="10140787" y="4561393"/>
              <a:ext cx="-93452" cy="240304"/>
            </a:xfrm>
            <a:prstGeom prst="line">
              <a:avLst>
                <a:gd name="adj" fmla="val -97847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927" name="Shape 44"/>
            <p:cNvSpPr/>
            <p:nvPr/>
          </p:nvSpPr>
          <p:spPr>
            <a:xfrm>
              <a:off x="10394442" y="4561393"/>
              <a:ext cx="93452" cy="240304"/>
            </a:xfrm>
            <a:prstGeom prst="line">
              <a:avLst>
                <a:gd name="adj" fmla="val 97847"/>
              </a:avLst>
            </a:prstGeom>
            <a:solidFill>
              <a:srgbClr val="16243A"/>
            </a:solidFill>
            <a:ln w="38100">
              <a:solidFill>
                <a:srgbClr val="16243A"/>
              </a:solidFill>
              <a:prstDash val="solid"/>
            </a:ln>
          </p:spPr>
        </p:sp>
        <p:sp>
          <p:nvSpPr>
            <p:cNvPr id="928" name="Shape 45"/>
            <p:cNvSpPr/>
            <p:nvPr/>
          </p:nvSpPr>
          <p:spPr>
            <a:xfrm>
              <a:off x="10220889" y="3987333"/>
              <a:ext cx="23363" cy="23363"/>
            </a:xfrm>
            <a:prstGeom prst="ellipse">
              <a:avLst>
                <a:gd name="adj" fmla="val 391388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929" name="Shape 46"/>
            <p:cNvSpPr/>
            <p:nvPr/>
          </p:nvSpPr>
          <p:spPr>
            <a:xfrm>
              <a:off x="10334366" y="3987333"/>
              <a:ext cx="23363" cy="23363"/>
            </a:xfrm>
            <a:prstGeom prst="ellipse">
              <a:avLst>
                <a:gd name="adj" fmla="val 391388"/>
              </a:avLst>
            </a:prstGeom>
            <a:solidFill>
              <a:srgbClr val="16243A"/>
            </a:solidFill>
            <a:ln w="12700">
              <a:solidFill>
                <a:srgbClr val="16243A">
                  <a:alpha val="0"/>
                </a:srgbClr>
              </a:solidFill>
              <a:prstDash val="solid"/>
            </a:ln>
          </p:spPr>
        </p:sp>
        <p:sp>
          <p:nvSpPr>
            <p:cNvPr id="930" name="Text 47"/>
            <p:cNvSpPr/>
            <p:nvPr/>
          </p:nvSpPr>
          <p:spPr>
            <a:xfrm>
              <a:off x="6885432" y="2779776"/>
              <a:ext cx="4078224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ART MODE  /  LOGO MODE</a:t>
              </a:r>
              <a:endParaRPr lang="en-US" sz="800" dirty="0"/>
            </a:p>
          </p:txBody>
        </p:sp>
        <p:sp>
          <p:nvSpPr>
            <p:cNvPr id="931" name="Text 48"/>
            <p:cNvSpPr/>
            <p:nvPr/>
          </p:nvSpPr>
          <p:spPr>
            <a:xfrm>
              <a:off x="7333488" y="5394960"/>
              <a:ext cx="31089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61728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CHARACTER PARADE</a:t>
              </a:r>
              <a:endParaRPr lang="en-US" sz="7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3A"/>
                </a:solidFill>
              </a:rPr>
              <a:t>Archive | 체험 뒤에도 남는 내 캐릭터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307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17287"/>
                </a:solidFill>
              </a:rPr>
              <a:t>파사드 이후 비어 있던 단계를 새로 제안</a:t>
            </a:r>
            <a:endParaRPr lang="en-US" sz="1500" dirty="0"/>
          </a:p>
        </p:txBody>
      </p:sp>
      <p:sp>
        <p:nvSpPr>
          <p:cNvPr id="4" name="step-number"/>
          <p:cNvSpPr txBox="1"/>
          <p:nvPr/>
        </p:nvSpPr>
        <p:spPr>
          <a:xfrm>
            <a:off x="10332720" y="5029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5DCDC1"/>
                </a:solidFill>
              </a:rPr>
              <a:t>05</a:t>
            </a:r>
            <a:endParaRPr lang="en-US" sz="3600" dirty="0"/>
          </a:p>
        </p:txBody>
      </p:sp>
      <p:sp>
        <p:nvSpPr>
          <p:cNvPr id="5" name="original"/>
          <p:cNvSpPr/>
          <p:nvPr/>
        </p:nvSpPr>
        <p:spPr>
          <a:xfrm>
            <a:off x="548640" y="1965960"/>
            <a:ext cx="4206240" cy="3794760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21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17287"/>
                </a:solidFill>
              </a:rPr>
              <a:t>원안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51760"/>
            <a:ext cx="3703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17287"/>
                </a:solidFill>
              </a:rPr>
              <a:t>원안에는 파사드 이후 단계가 없습니다. 그림이 체험 뒤에 어디에 남는지를 새 단계로 제안합니다.</a:t>
            </a:r>
            <a:endParaRPr lang="en-US" sz="1500" dirty="0"/>
          </a:p>
        </p:txBody>
      </p:sp>
      <p:sp>
        <p:nvSpPr>
          <p:cNvPr id="8" name="chip-NEW"/>
          <p:cNvSpPr txBox="1"/>
          <p:nvPr/>
        </p:nvSpPr>
        <p:spPr>
          <a:xfrm>
            <a:off x="822960" y="4297680"/>
            <a:ext cx="594360" cy="292608"/>
          </a:xfrm>
          <a:prstGeom prst="roundRect">
            <a:avLst>
              <a:gd name="adj" fmla="val 25000"/>
            </a:avLst>
          </a:prstGeom>
          <a:solidFill>
            <a:srgbClr val="5DCDC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NEW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029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8C83"/>
                </a:solidFill>
              </a:rPr>
              <a:t>발전 제안</a:t>
            </a:r>
            <a:endParaRPr lang="en-US" sz="1700" dirty="0"/>
          </a:p>
        </p:txBody>
      </p:sp>
      <p:sp>
        <p:nvSpPr>
          <p:cNvPr id="10" name="prop-0"/>
          <p:cNvSpPr/>
          <p:nvPr/>
        </p:nvSpPr>
        <p:spPr>
          <a:xfrm>
            <a:off x="5029200" y="2423160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1" name="chip-체험"/>
          <p:cNvSpPr txBox="1"/>
          <p:nvPr/>
        </p:nvSpPr>
        <p:spPr>
          <a:xfrm>
            <a:off x="5212080" y="2651760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체험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496312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QR 개인 보관함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280720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카드 QR로 내 캐릭터가 움직이는 영상 · 이미지 받기</a:t>
            </a:r>
            <a:endParaRPr lang="en-US" sz="1200" dirty="0"/>
          </a:p>
        </p:txBody>
      </p:sp>
      <p:sp>
        <p:nvSpPr>
          <p:cNvPr id="14" name="prop-1"/>
          <p:cNvSpPr/>
          <p:nvPr/>
        </p:nvSpPr>
        <p:spPr>
          <a:xfrm>
            <a:off x="5029200" y="3264408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5" name="chip-연출"/>
          <p:cNvSpPr txBox="1"/>
          <p:nvPr/>
        </p:nvSpPr>
        <p:spPr>
          <a:xfrm>
            <a:off x="5212080" y="3493008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7DD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연출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0" y="3337560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하루 한 장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0" y="364845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그날 그림이 모인 벽을 시간대별로 한 장씩 보관, 날짜 포스터로</a:t>
            </a:r>
            <a:endParaRPr lang="en-US" sz="1200" dirty="0"/>
          </a:p>
        </p:txBody>
      </p:sp>
      <p:sp>
        <p:nvSpPr>
          <p:cNvPr id="18" name="prop-2"/>
          <p:cNvSpPr/>
          <p:nvPr/>
        </p:nvSpPr>
        <p:spPr>
          <a:xfrm>
            <a:off x="5029200" y="4105656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9" name="chip-체험"/>
          <p:cNvSpPr txBox="1"/>
          <p:nvPr/>
        </p:nvSpPr>
        <p:spPr>
          <a:xfrm>
            <a:off x="5212080" y="4334256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FDE6A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체험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0" y="4178808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굿즈 옵션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0" y="4489704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뱃지 · 티셔츠 등 유료 현장 출력</a:t>
            </a:r>
            <a:endParaRPr lang="en-US" sz="1200" dirty="0"/>
          </a:p>
        </p:txBody>
      </p:sp>
      <p:sp>
        <p:nvSpPr>
          <p:cNvPr id="22" name="prop-3"/>
          <p:cNvSpPr/>
          <p:nvPr/>
        </p:nvSpPr>
        <p:spPr>
          <a:xfrm>
            <a:off x="5029200" y="4946904"/>
            <a:ext cx="658368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3" name="chip-운영"/>
          <p:cNvSpPr txBox="1"/>
          <p:nvPr/>
        </p:nvSpPr>
        <p:spPr>
          <a:xfrm>
            <a:off x="5212080" y="5175504"/>
            <a:ext cx="566928" cy="292608"/>
          </a:xfrm>
          <a:prstGeom prst="roundRect">
            <a:avLst>
              <a:gd name="adj" fmla="val 25000"/>
            </a:avLst>
          </a:prstGeom>
          <a:solidFill>
            <a:srgbClr val="DCEEF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43A"/>
                </a:solidFill>
              </a:rPr>
              <a:t>운영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0" y="5020056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보관 기간 · 개인정보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0" y="5330952"/>
            <a:ext cx="5532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7287"/>
                </a:solidFill>
              </a:rPr>
              <a:t>이름 없이 번호로 관리, 보관 기간(가정 30일) 정하기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14D"/>
                </a:solidFill>
              </a:rPr>
              <a:t>확인할 것  </a:t>
            </a:r>
            <a:pPr indent="0" marL="0">
              <a:buNone/>
            </a:pPr>
            <a:r>
              <a:rPr lang="en-US" sz="1300" dirty="0">
                <a:solidFill>
                  <a:srgbClr val="16243A"/>
                </a:solidFill>
              </a:rPr>
              <a:t>QR 보관함 플랫폼 · 출력 장비 · 개인정보 처리 기준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3A"/>
                </a:solidFill>
              </a:rPr>
              <a:t>운영 기준 | 정해야 할 숫자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307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17287"/>
                </a:solidFill>
              </a:rPr>
              <a:t>아래 값은 모두 가정이며 현장 테스트로 정해야 합니다</a:t>
            </a:r>
            <a:endParaRPr lang="en-US" sz="1500" dirty="0"/>
          </a:p>
        </p:txBody>
      </p:sp>
      <p:graphicFrame>
        <p:nvGraphicFramePr>
          <p:cNvPr id="10" name="op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52120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제안 기준(가정)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왜 필요한가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6243A"/>
                          </a:solidFill>
                        </a:rPr>
                        <a:t>드로잉 시간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43A"/>
                          </a:solidFill>
                        </a:rPr>
                        <a:t>3–5분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43A"/>
                          </a:solidFill>
                        </a:rPr>
                        <a:t>테이블 회전율과 대기 줄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6243A"/>
                          </a:solidFill>
                        </a:rPr>
                        <a:t>스캔 → 벽 등장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43A"/>
                          </a:solidFill>
                        </a:rPr>
                        <a:t>10초 이내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43A"/>
                          </a:solidFill>
                        </a:rPr>
                        <a:t>기다리는 동안 흥미가 떨어지지 않게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6243A"/>
                          </a:solidFill>
                        </a:rPr>
                        <a:t>벽 동시 캐릭터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43A"/>
                          </a:solidFill>
                        </a:rPr>
                        <a:t>30–40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43A"/>
                          </a:solidFill>
                        </a:rPr>
                        <a:t>내 그림을 찾을 수 있는 밀도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6243A"/>
                          </a:solidFill>
                        </a:rPr>
                        <a:t>퍼레이드 주기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43A"/>
                          </a:solidFill>
                        </a:rPr>
                        <a:t>30분마다 3–5분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43A"/>
                          </a:solidFill>
                        </a:rPr>
                        <a:t>광장으로 이동할 이유와 시간 약속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6243A"/>
                          </a:solidFill>
                        </a:rPr>
                        <a:t>보관함 보관 기간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43A"/>
                          </a:solidFill>
                        </a:rPr>
                        <a:t>30일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6243A"/>
                          </a:solidFill>
                        </a:rPr>
                        <a:t>개인정보 · 저장 비용</a:t>
                      </a:r>
                      <a:endParaRPr lang="en-US" sz="1500" dirty="0"/>
                    </a:p>
                  </a:txBody>
                  <a:tcPr marL="137160" marR="137160" marT="0" marB="0" anchor="ctr">
                    <a:lnL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ops-example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17287"/>
                </a:solidFill>
              </a:rPr>
              <a:t>예: 테이블 8석 × 4분이면 시간당 약 120장. 스캐너 1대가 장당 30초면 시간당 120장으로 맞물림(모두 가정 계산).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3A"/>
                </a:solidFill>
              </a:rPr>
              <a:t>결정이 필요한 것 5가지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307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17287"/>
                </a:solidFill>
              </a:rPr>
              <a:t>결정 순서대로 정리. 앞의 결정이 뒤의 하드웨어 · 콘텐츠 범위를 정함</a:t>
            </a:r>
            <a:endParaRPr lang="en-US" sz="1500" dirty="0"/>
          </a:p>
        </p:txBody>
      </p:sp>
      <p:sp>
        <p:nvSpPr>
          <p:cNvPr id="4" name="decision-0"/>
          <p:cNvSpPr/>
          <p:nvPr/>
        </p:nvSpPr>
        <p:spPr>
          <a:xfrm>
            <a:off x="548640" y="19659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94560"/>
            <a:ext cx="457200" cy="457200"/>
          </a:xfrm>
          <a:prstGeom prst="ellipse">
            <a:avLst/>
          </a:prstGeom>
          <a:solidFill>
            <a:srgbClr val="5DCDC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기본 도안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3464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17287"/>
                </a:solidFill>
              </a:rPr>
              <a:t>A · B · 자유 그리기 C 중 무엇을 기본으로</a:t>
            </a:r>
            <a:endParaRPr lang="en-US" sz="1400" dirty="0"/>
          </a:p>
        </p:txBody>
      </p:sp>
      <p:sp>
        <p:nvSpPr>
          <p:cNvPr id="8" name="decision-1"/>
          <p:cNvSpPr/>
          <p:nvPr/>
        </p:nvSpPr>
        <p:spPr>
          <a:xfrm>
            <a:off x="4297680" y="19659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6280" y="2194560"/>
            <a:ext cx="457200" cy="457200"/>
          </a:xfrm>
          <a:prstGeom prst="ellipse">
            <a:avLst/>
          </a:prstGeom>
          <a:solidFill>
            <a:srgbClr val="5DCDC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16636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캐릭터 방식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83464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17287"/>
                </a:solidFill>
              </a:rPr>
              <a:t>2D 휘기 vs 3D 변환</a:t>
            </a:r>
            <a:endParaRPr lang="en-US" sz="1400" dirty="0"/>
          </a:p>
        </p:txBody>
      </p:sp>
      <p:sp>
        <p:nvSpPr>
          <p:cNvPr id="12" name="decision-2"/>
          <p:cNvSpPr/>
          <p:nvPr/>
        </p:nvSpPr>
        <p:spPr>
          <a:xfrm>
            <a:off x="8046720" y="19659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75320" y="2194560"/>
            <a:ext cx="457200" cy="457200"/>
          </a:xfrm>
          <a:prstGeom prst="ellipse">
            <a:avLst/>
          </a:prstGeom>
          <a:solidFill>
            <a:srgbClr val="5DCDC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91540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배경 방식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83464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17287"/>
                </a:solidFill>
              </a:rPr>
              <a:t>벽에서 그림이 배경에 붙는 방식(B1–B6 중)</a:t>
            </a:r>
            <a:endParaRPr lang="en-US" sz="1400" dirty="0"/>
          </a:p>
        </p:txBody>
      </p:sp>
      <p:sp>
        <p:nvSpPr>
          <p:cNvPr id="16" name="decision-3"/>
          <p:cNvSpPr/>
          <p:nvPr/>
        </p:nvSpPr>
        <p:spPr>
          <a:xfrm>
            <a:off x="548640" y="4023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5DCDC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4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42519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퍼레이드 운영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89204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17287"/>
                </a:solidFill>
              </a:rPr>
              <a:t>정시 주기와 길이, Art/Logo 모드 비율</a:t>
            </a:r>
            <a:endParaRPr lang="en-US" sz="1400" dirty="0"/>
          </a:p>
        </p:txBody>
      </p:sp>
      <p:sp>
        <p:nvSpPr>
          <p:cNvPr id="20" name="decision-4"/>
          <p:cNvSpPr/>
          <p:nvPr/>
        </p:nvSpPr>
        <p:spPr>
          <a:xfrm>
            <a:off x="4297680" y="4023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26280" y="4251960"/>
            <a:ext cx="457200" cy="457200"/>
          </a:xfrm>
          <a:prstGeom prst="ellipse">
            <a:avLst/>
          </a:prstGeom>
          <a:solidFill>
            <a:srgbClr val="5DCDC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5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166360" y="42519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3A"/>
                </a:solidFill>
              </a:rPr>
              <a:t>보관 방식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526280" y="489204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17287"/>
                </a:solidFill>
              </a:rPr>
              <a:t>QR 보관함 · 하루 한 장 · 굿즈 범위</a:t>
            </a:r>
            <a:endParaRPr lang="en-US" sz="1400" dirty="0"/>
          </a:p>
        </p:txBody>
      </p:sp>
      <p:sp>
        <p:nvSpPr>
          <p:cNvPr id="24" name="refs"/>
          <p:cNvSpPr/>
          <p:nvPr/>
        </p:nvSpPr>
        <p:spPr>
          <a:xfrm>
            <a:off x="8046720" y="4023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AF5F1"/>
          </a:solidFill>
          <a:ln w="12700">
            <a:solidFill>
              <a:srgbClr val="DFE6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838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3A"/>
                </a:solidFill>
              </a:rPr>
              <a:t>참고 프로토타입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183880" y="461772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u="sng" dirty="0">
                <a:solidFill>
                  <a:srgbClr val="2B8C83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배경 아이데이션 B1–B6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u="sng" dirty="0">
                <a:solidFill>
                  <a:srgbClr val="2B8C83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기존 콘텐츠 연계(Art · Logo)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u="sng" dirty="0">
                <a:solidFill>
                  <a:srgbClr val="2B8C83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쌓이는 그림 아카이브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172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ive Sketchbook Flow">
  <a:themeElements>
    <a:clrScheme name="Live Sketchbook Flow">
      <a:dk1>
        <a:srgbClr val="16243A"/>
      </a:dk1>
      <a:lt1>
        <a:srgbClr val="FFFFFF"/>
      </a:lt1>
      <a:dk2>
        <a:srgbClr val="617287"/>
      </a:dk2>
      <a:lt2>
        <a:srgbClr val="F7F8F6"/>
      </a:lt2>
      <a:accent1>
        <a:srgbClr val="5DCDC1"/>
      </a:accent1>
      <a:accent2>
        <a:srgbClr val="FDE6A5"/>
      </a:accent2>
      <a:accent3>
        <a:srgbClr val="F7DDE5"/>
      </a:accent3>
      <a:accent4>
        <a:srgbClr val="D5EEDB"/>
      </a:accent4>
      <a:accent5>
        <a:srgbClr val="DCEEF7"/>
      </a:accent5>
      <a:accent6>
        <a:srgbClr val="E8614D"/>
      </a:accent6>
      <a:hlink>
        <a:srgbClr val="2B8C83"/>
      </a:hlink>
      <a:folHlink>
        <a:srgbClr val="617287"/>
      </a:folHlink>
    </a:clrScheme>
    <a:fontScheme name="Live Sketchbook Flow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Live Sketchbook Experience Flow v2</dc:title>
  <dc:subject>PptxGenJS Presentation</dc:subject>
  <dc:creator>PptxGenJS</dc:creator>
  <cp:lastModifiedBy>PptxGenJS</cp:lastModifiedBy>
  <cp:revision>1</cp:revision>
  <dcterms:created xsi:type="dcterms:W3CDTF">2026-10-19T04:57:45Z</dcterms:created>
  <dcterms:modified xsi:type="dcterms:W3CDTF">2026-10-19T04:57:45Z</dcterms:modified>
</cp:coreProperties>
</file>