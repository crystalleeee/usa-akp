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7" r:id="rId1"/>
  </p:sldMasterIdLst>
  <p:notesMasterIdLst>
    <p:notesMasterId r:id="rId4"/>
  </p:notesMasterIdLst>
  <p:sldIdLst>
    <p:sldId id="3775" r:id="rId2"/>
    <p:sldId id="3792" r:id="rId3"/>
  </p:sldIdLst>
  <p:sldSz cx="12192000" cy="6858000"/>
  <p:notesSz cx="6858000" cy="9144000"/>
  <p:embeddedFontLst>
    <p:embeddedFont>
      <p:font typeface="LINE Seed Sans KR Bold" panose="020B0603020203020204" pitchFamily="34" charset="-127"/>
      <p:bold r:id="rId5"/>
    </p:embeddedFont>
    <p:embeddedFont>
      <p:font typeface="LINE Seed Sans KR Regular" panose="020B0603020203020204" pitchFamily="34" charset="-127"/>
      <p:regular r:id="rId6"/>
    </p:embeddedFon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94CCE285-75BC-4CC4-BCA8-4E7197DE8C5E}">
          <p14:sldIdLst/>
        </p14:section>
        <p14:section name="market landscape" id="{5A73D295-D1B4-4492-B2F4-49A54DC867F1}">
          <p14:sldIdLst/>
        </p14:section>
        <p14:section name="Site Analysis" id="{18111656-3F0A-4719-B083-7F58BACB965F}">
          <p14:sldIdLst/>
        </p14:section>
        <p14:section name="Space Curation" id="{F38CE79E-CB48-4DBF-A502-AA8DB14C1137}">
          <p14:sldIdLst>
            <p14:sldId id="3775"/>
          </p14:sldIdLst>
        </p14:section>
        <p14:section name="Operation" id="{F5F672DE-1D20-4917-A504-FB8D2E2C5736}">
          <p14:sldIdLst>
            <p14:sldId id="3792"/>
          </p14:sldIdLst>
        </p14:section>
        <p14:section name="리서치 세부 내용" id="{0EC8ACB9-AFE5-44DB-B791-80AC87A5DB32}">
          <p14:sldIdLst/>
        </p14:section>
        <p14:section name="05" id="{46652B62-2C41-4EBC-82EB-125E33A518A7}">
          <p14:sldIdLst/>
        </p14:section>
      </p14:sectionLst>
    </p:ext>
    <p:ext uri="{EFAFB233-063F-42B5-8137-9DF3F51BA10A}">
      <p15:sldGuideLst xmlns:p15="http://schemas.microsoft.com/office/powerpoint/2012/main">
        <p15:guide id="7" pos="3840" userDrawn="1">
          <p15:clr>
            <a:srgbClr val="A4A3A4"/>
          </p15:clr>
        </p15:guide>
        <p15:guide id="8" orient="horz" pos="16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38B4C9-F610-987F-61B6-5B4CF1B76B9B}" name="Su-jeong Lee (DSKR-이수정)" initials="S이" userId="S::sujlee@dstrict.com::2ee38ee2-73ff-488a-a482-efa226432f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42F"/>
    <a:srgbClr val="7B5CD6"/>
    <a:srgbClr val="5A6473"/>
    <a:srgbClr val="393633"/>
    <a:srgbClr val="3F3F3F"/>
    <a:srgbClr val="383533"/>
    <a:srgbClr val="C9CFD6"/>
    <a:srgbClr val="80C3EB"/>
    <a:srgbClr val="E61874"/>
    <a:srgbClr val="EF9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79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1074" y="102"/>
      </p:cViewPr>
      <p:guideLst>
        <p:guide pos="3840"/>
        <p:guide orient="horz" pos="16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97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5B9C-CEC5-46C5-8236-4C42941CDC2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EBA-5D8A-4E8B-9829-3F57D0661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0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DC71D-38E4-ACB1-63C0-92A3BCEB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620E02-8A45-0C1C-A6A4-B9B2A4C6A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09F2F-7624-9DC8-3183-76FF511E9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7B6B3-5D61-1B46-3727-AAABBE057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42EBA-5D8A-4E8B-9829-3F57D066132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985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4D6F-39F8-84B7-52D1-A18B6926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5442A-AA12-B9E7-732B-4C2FADD58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AEC21-AC8C-C98F-477B-3DCA60C25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D40E3-2969-94A5-8763-3023D0869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138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BBC60FA9-867E-5D9C-6B56-928674A9A4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8619" y="740834"/>
            <a:ext cx="403715" cy="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35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E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DCD97AA3-A5A6-EE8B-7454-50AC75678C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8619" y="740834"/>
            <a:ext cx="403715" cy="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rgbClr val="FFA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14D68721-3A04-97CC-92C8-A640544552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8619" y="740834"/>
            <a:ext cx="403715" cy="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4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4AC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E621329A-25D3-3265-260B-75BF63468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8619" y="740834"/>
            <a:ext cx="403715" cy="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38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99E6FA1B-018D-CC14-6132-E39EBEA6E3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8619" y="740834"/>
            <a:ext cx="403715" cy="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7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A70B9F37-77E5-8D00-8228-96D27D8DC1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8619" y="740834"/>
            <a:ext cx="403715" cy="9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47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287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3" userDrawn="1">
          <p15:clr>
            <a:srgbClr val="FBAE40"/>
          </p15:clr>
        </p15:guide>
        <p15:guide id="2" pos="483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0819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01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0" r:id="rId2"/>
    <p:sldLayoutId id="2147483663" r:id="rId3"/>
    <p:sldLayoutId id="2147483662" r:id="rId4"/>
    <p:sldLayoutId id="2147483666" r:id="rId5"/>
    <p:sldLayoutId id="2147483702" r:id="rId6"/>
    <p:sldLayoutId id="2147483685" r:id="rId7"/>
    <p:sldLayoutId id="2147483703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67" userDrawn="1">
          <p15:clr>
            <a:srgbClr val="F26B43"/>
          </p15:clr>
        </p15:guide>
        <p15:guide id="4" orient="horz" pos="3853" userDrawn="1">
          <p15:clr>
            <a:srgbClr val="F26B43"/>
          </p15:clr>
        </p15:guide>
        <p15:guide id="5" pos="453" userDrawn="1">
          <p15:clr>
            <a:srgbClr val="F26B43"/>
          </p15:clr>
        </p15:guide>
        <p15:guide id="6" pos="722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E562B-E5FC-1F85-0736-E7EC8982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23A11A-25D9-737E-B275-DCF17447E0DC}"/>
              </a:ext>
            </a:extLst>
          </p:cNvPr>
          <p:cNvSpPr txBox="1"/>
          <p:nvPr/>
        </p:nvSpPr>
        <p:spPr>
          <a:xfrm>
            <a:off x="719138" y="1134429"/>
            <a:ext cx="2498441" cy="5847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lang="en-US" altLang="ko-KR" sz="3200" dirty="0">
                <a:solidFill>
                  <a:srgbClr val="1A1A1A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Zoning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LINE Seed Sans KR Regular" panose="020B0603020203020204" pitchFamily="34" charset="-127"/>
                <a:ea typeface="LINE Seed Sans KR Regular" panose="020B0603020203020204" pitchFamily="34" charset="-127"/>
                <a:cs typeface="LINE Seed Sans KR Regular" panose="020B0603020203020204" pitchFamily="34" charset="-127"/>
              </a:rPr>
              <a:t> </a:t>
            </a:r>
            <a:r>
              <a:rPr lang="ko-KR" altLang="en-US" sz="2000" dirty="0">
                <a:solidFill>
                  <a:srgbClr val="1A1A1A"/>
                </a:solidFill>
                <a:latin typeface="LINE Seed Sans KR Regular" panose="020B0603020203020204" pitchFamily="34" charset="-127"/>
                <a:ea typeface="LINE Seed Sans KR Regular" panose="020B0603020203020204" pitchFamily="34" charset="-127"/>
                <a:cs typeface="LINE Seed Sans KR Regular" panose="020B0603020203020204" pitchFamily="34" charset="-127"/>
              </a:rPr>
              <a:t>규모 비교</a:t>
            </a:r>
            <a:endParaRPr lang="en-US" altLang="ko-KR" sz="3200" dirty="0">
              <a:solidFill>
                <a:srgbClr val="1A1A1A"/>
              </a:solidFill>
              <a:latin typeface="LINE Seed Sans KR Bold" pitchFamily="34" charset="0"/>
              <a:ea typeface="LINE Seed Sans KR Bold" pitchFamily="34" charset="-122"/>
              <a:cs typeface="LINE Seed Sans KR Bold" pitchFamily="34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F399B-C1F0-EE10-1D41-A0D2AEFB8336}"/>
              </a:ext>
            </a:extLst>
          </p:cNvPr>
          <p:cNvSpPr txBox="1"/>
          <p:nvPr/>
        </p:nvSpPr>
        <p:spPr>
          <a:xfrm>
            <a:off x="719665" y="1704914"/>
            <a:ext cx="3612527" cy="55066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제주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1,215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평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&gt;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덴버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857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평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&gt;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별내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578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평으로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덴버는 제주 대비 약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71% 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별내 대비 약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1.5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배의 중간 규모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EB2DF5AE-F761-2E67-86AC-7EE532FBB043}"/>
              </a:ext>
            </a:extLst>
          </p:cNvPr>
          <p:cNvSpPr/>
          <p:nvPr/>
        </p:nvSpPr>
        <p:spPr>
          <a:xfrm>
            <a:off x="722376" y="2565400"/>
            <a:ext cx="5559552" cy="2918826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42285454-A787-2EEF-B782-B7C27FADB39C}"/>
              </a:ext>
            </a:extLst>
          </p:cNvPr>
          <p:cNvSpPr/>
          <p:nvPr/>
        </p:nvSpPr>
        <p:spPr>
          <a:xfrm>
            <a:off x="923544" y="2646478"/>
            <a:ext cx="1828800" cy="162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Zone Size</a:t>
            </a:r>
            <a:endParaRPr lang="en-US" sz="10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034DB13B-879B-2A19-0A44-A5CD890ED85C}"/>
              </a:ext>
            </a:extLst>
          </p:cNvPr>
          <p:cNvSpPr/>
          <p:nvPr/>
        </p:nvSpPr>
        <p:spPr>
          <a:xfrm>
            <a:off x="4837176" y="2654586"/>
            <a:ext cx="1243584" cy="14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9AA5B4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단위 평</a:t>
            </a:r>
            <a:endParaRPr lang="en-US" sz="62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7E579CA-B808-8A38-E4C7-AE31F7DAE976}"/>
              </a:ext>
            </a:extLst>
          </p:cNvPr>
          <p:cNvSpPr/>
          <p:nvPr/>
        </p:nvSpPr>
        <p:spPr>
          <a:xfrm>
            <a:off x="923544" y="3051871"/>
            <a:ext cx="1298448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play zone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(adventure)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58D6990B-1AAC-3F88-133E-2B95C4DA752D}"/>
              </a:ext>
            </a:extLst>
          </p:cNvPr>
          <p:cNvSpPr/>
          <p:nvPr/>
        </p:nvSpPr>
        <p:spPr>
          <a:xfrm>
            <a:off x="2276856" y="2922145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F0BFBA1-9E6F-7DDD-D31F-13F57604238A}"/>
              </a:ext>
            </a:extLst>
          </p:cNvPr>
          <p:cNvSpPr/>
          <p:nvPr/>
        </p:nvSpPr>
        <p:spPr>
          <a:xfrm>
            <a:off x="2276856" y="2922145"/>
            <a:ext cx="1681529" cy="121618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C659767-17F7-DDD9-FFAA-69FEFEBF01EC}"/>
              </a:ext>
            </a:extLst>
          </p:cNvPr>
          <p:cNvSpPr/>
          <p:nvPr/>
        </p:nvSpPr>
        <p:spPr>
          <a:xfrm>
            <a:off x="4004105" y="2922145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255</a:t>
            </a:r>
            <a:endParaRPr lang="en-US" sz="7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814CEF50-D639-46AD-B78B-C3972EC7CBCC}"/>
              </a:ext>
            </a:extLst>
          </p:cNvPr>
          <p:cNvSpPr/>
          <p:nvPr/>
        </p:nvSpPr>
        <p:spPr>
          <a:xfrm>
            <a:off x="2276856" y="3072141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F1351F86-F447-5359-8C7A-FE71F2EB25A3}"/>
              </a:ext>
            </a:extLst>
          </p:cNvPr>
          <p:cNvSpPr/>
          <p:nvPr/>
        </p:nvSpPr>
        <p:spPr>
          <a:xfrm>
            <a:off x="2276856" y="3072141"/>
            <a:ext cx="1233121" cy="121618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774E670C-0BFE-0E6C-CA86-1BA9AAF984FA}"/>
              </a:ext>
            </a:extLst>
          </p:cNvPr>
          <p:cNvSpPr/>
          <p:nvPr/>
        </p:nvSpPr>
        <p:spPr>
          <a:xfrm>
            <a:off x="3555697" y="3072141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187</a:t>
            </a:r>
            <a:endParaRPr lang="en-US" sz="7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E7400C70-D3BA-16EE-A2D1-F8408BF68DB3}"/>
              </a:ext>
            </a:extLst>
          </p:cNvPr>
          <p:cNvSpPr/>
          <p:nvPr/>
        </p:nvSpPr>
        <p:spPr>
          <a:xfrm>
            <a:off x="2276856" y="3222136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FB8549B1-303A-8B59-AA99-CDB98B6B0E02}"/>
              </a:ext>
            </a:extLst>
          </p:cNvPr>
          <p:cNvSpPr/>
          <p:nvPr/>
        </p:nvSpPr>
        <p:spPr>
          <a:xfrm>
            <a:off x="2276856" y="3222136"/>
            <a:ext cx="824279" cy="121618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F14A4AD4-B971-0D01-8D21-0EB88460A98E}"/>
              </a:ext>
            </a:extLst>
          </p:cNvPr>
          <p:cNvSpPr/>
          <p:nvPr/>
        </p:nvSpPr>
        <p:spPr>
          <a:xfrm>
            <a:off x="3146855" y="3222136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125</a:t>
            </a:r>
            <a:endParaRPr lang="en-US" sz="70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F6DA131D-EC0D-663D-F12F-B6ACAAA9DD40}"/>
              </a:ext>
            </a:extLst>
          </p:cNvPr>
          <p:cNvSpPr/>
          <p:nvPr/>
        </p:nvSpPr>
        <p:spPr>
          <a:xfrm>
            <a:off x="923544" y="3684283"/>
            <a:ext cx="1298448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experience zone</a:t>
            </a:r>
            <a:endParaRPr lang="en-US" sz="1000" dirty="0"/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24D2BC1A-26E6-3BAF-37DC-850694C979A7}"/>
              </a:ext>
            </a:extLst>
          </p:cNvPr>
          <p:cNvSpPr/>
          <p:nvPr/>
        </p:nvSpPr>
        <p:spPr>
          <a:xfrm>
            <a:off x="2276856" y="3554558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10B3E03E-D44E-7D14-D4E4-28A53CB957FA}"/>
              </a:ext>
            </a:extLst>
          </p:cNvPr>
          <p:cNvSpPr/>
          <p:nvPr/>
        </p:nvSpPr>
        <p:spPr>
          <a:xfrm>
            <a:off x="2276856" y="3554558"/>
            <a:ext cx="1978269" cy="121618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2D8AABEF-8F80-345B-66B6-460128D2A53B}"/>
              </a:ext>
            </a:extLst>
          </p:cNvPr>
          <p:cNvSpPr/>
          <p:nvPr/>
        </p:nvSpPr>
        <p:spPr>
          <a:xfrm>
            <a:off x="4300845" y="3554558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300</a:t>
            </a:r>
            <a:endParaRPr lang="en-US" sz="700" dirty="0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A87835D0-6D65-F2F7-E1B8-B8BEF254BB5F}"/>
              </a:ext>
            </a:extLst>
          </p:cNvPr>
          <p:cNvSpPr/>
          <p:nvPr/>
        </p:nvSpPr>
        <p:spPr>
          <a:xfrm>
            <a:off x="2276856" y="3704553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28">
            <a:extLst>
              <a:ext uri="{FF2B5EF4-FFF2-40B4-BE49-F238E27FC236}">
                <a16:creationId xmlns:a16="http://schemas.microsoft.com/office/drawing/2014/main" id="{FC2B2128-D01F-5E99-0319-17A776C4C9F4}"/>
              </a:ext>
            </a:extLst>
          </p:cNvPr>
          <p:cNvSpPr/>
          <p:nvPr/>
        </p:nvSpPr>
        <p:spPr>
          <a:xfrm>
            <a:off x="2276856" y="3704553"/>
            <a:ext cx="1134208" cy="121618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E07361C7-D534-3DE2-931A-DDF24D300A38}"/>
              </a:ext>
            </a:extLst>
          </p:cNvPr>
          <p:cNvSpPr/>
          <p:nvPr/>
        </p:nvSpPr>
        <p:spPr>
          <a:xfrm>
            <a:off x="3456784" y="3704553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172</a:t>
            </a:r>
            <a:endParaRPr lang="en-US" sz="700" dirty="0"/>
          </a:p>
        </p:txBody>
      </p:sp>
      <p:sp>
        <p:nvSpPr>
          <p:cNvPr id="48" name="Shape 30">
            <a:extLst>
              <a:ext uri="{FF2B5EF4-FFF2-40B4-BE49-F238E27FC236}">
                <a16:creationId xmlns:a16="http://schemas.microsoft.com/office/drawing/2014/main" id="{166B19F5-6882-59C1-9C7A-0033A2E1FA62}"/>
              </a:ext>
            </a:extLst>
          </p:cNvPr>
          <p:cNvSpPr/>
          <p:nvPr/>
        </p:nvSpPr>
        <p:spPr>
          <a:xfrm>
            <a:off x="2276856" y="3854548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1">
            <a:extLst>
              <a:ext uri="{FF2B5EF4-FFF2-40B4-BE49-F238E27FC236}">
                <a16:creationId xmlns:a16="http://schemas.microsoft.com/office/drawing/2014/main" id="{07E73D7E-5ACE-0A49-A150-0EAC5989E33A}"/>
              </a:ext>
            </a:extLst>
          </p:cNvPr>
          <p:cNvSpPr/>
          <p:nvPr/>
        </p:nvSpPr>
        <p:spPr>
          <a:xfrm>
            <a:off x="2276856" y="3854548"/>
            <a:ext cx="468190" cy="121618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36BD0479-D419-64B8-0EC0-42762A672195}"/>
              </a:ext>
            </a:extLst>
          </p:cNvPr>
          <p:cNvSpPr/>
          <p:nvPr/>
        </p:nvSpPr>
        <p:spPr>
          <a:xfrm>
            <a:off x="2790766" y="3854548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71</a:t>
            </a:r>
            <a:endParaRPr lang="en-US" sz="70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9FA5F7DC-F3FE-F412-9C22-37E9DD8D31DD}"/>
              </a:ext>
            </a:extLst>
          </p:cNvPr>
          <p:cNvSpPr/>
          <p:nvPr/>
        </p:nvSpPr>
        <p:spPr>
          <a:xfrm>
            <a:off x="923544" y="4316695"/>
            <a:ext cx="1298448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dynamic zone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(quest)</a:t>
            </a:r>
            <a:endParaRPr lang="en-US" sz="1000" dirty="0"/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F8D1B4DF-467C-3836-8323-A4AC7BB3D1BA}"/>
              </a:ext>
            </a:extLst>
          </p:cNvPr>
          <p:cNvSpPr/>
          <p:nvPr/>
        </p:nvSpPr>
        <p:spPr>
          <a:xfrm>
            <a:off x="2276856" y="4186970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CFBB516D-F71E-464A-624E-579F0085BAF0}"/>
              </a:ext>
            </a:extLst>
          </p:cNvPr>
          <p:cNvSpPr/>
          <p:nvPr/>
        </p:nvSpPr>
        <p:spPr>
          <a:xfrm>
            <a:off x="2331720" y="4186970"/>
            <a:ext cx="9144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AA5B4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해당 없음</a:t>
            </a:r>
            <a:endParaRPr lang="en-US" sz="600" dirty="0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D36F8D9C-B7A8-386A-3CAC-5830FA63C33F}"/>
              </a:ext>
            </a:extLst>
          </p:cNvPr>
          <p:cNvSpPr/>
          <p:nvPr/>
        </p:nvSpPr>
        <p:spPr>
          <a:xfrm>
            <a:off x="2276856" y="4336965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37">
            <a:extLst>
              <a:ext uri="{FF2B5EF4-FFF2-40B4-BE49-F238E27FC236}">
                <a16:creationId xmlns:a16="http://schemas.microsoft.com/office/drawing/2014/main" id="{24FFAC34-585C-4A83-65A0-B35F36932A81}"/>
              </a:ext>
            </a:extLst>
          </p:cNvPr>
          <p:cNvSpPr/>
          <p:nvPr/>
        </p:nvSpPr>
        <p:spPr>
          <a:xfrm>
            <a:off x="2276856" y="4336965"/>
            <a:ext cx="382465" cy="121618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38">
            <a:extLst>
              <a:ext uri="{FF2B5EF4-FFF2-40B4-BE49-F238E27FC236}">
                <a16:creationId xmlns:a16="http://schemas.microsoft.com/office/drawing/2014/main" id="{ADEF943C-4882-6E96-5CCB-4B90F053A402}"/>
              </a:ext>
            </a:extLst>
          </p:cNvPr>
          <p:cNvSpPr/>
          <p:nvPr/>
        </p:nvSpPr>
        <p:spPr>
          <a:xfrm>
            <a:off x="2705041" y="4336965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58</a:t>
            </a:r>
            <a:endParaRPr lang="en-US" sz="700" dirty="0"/>
          </a:p>
        </p:txBody>
      </p:sp>
      <p:sp>
        <p:nvSpPr>
          <p:cNvPr id="67" name="Shape 39">
            <a:extLst>
              <a:ext uri="{FF2B5EF4-FFF2-40B4-BE49-F238E27FC236}">
                <a16:creationId xmlns:a16="http://schemas.microsoft.com/office/drawing/2014/main" id="{EEDBF045-4A61-EDF2-A1E5-4E879239E8C3}"/>
              </a:ext>
            </a:extLst>
          </p:cNvPr>
          <p:cNvSpPr/>
          <p:nvPr/>
        </p:nvSpPr>
        <p:spPr>
          <a:xfrm>
            <a:off x="2276856" y="4486960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40">
            <a:extLst>
              <a:ext uri="{FF2B5EF4-FFF2-40B4-BE49-F238E27FC236}">
                <a16:creationId xmlns:a16="http://schemas.microsoft.com/office/drawing/2014/main" id="{4C4C8D29-2BBE-9BF4-7F7A-3D4CCE927497}"/>
              </a:ext>
            </a:extLst>
          </p:cNvPr>
          <p:cNvSpPr/>
          <p:nvPr/>
        </p:nvSpPr>
        <p:spPr>
          <a:xfrm>
            <a:off x="2276856" y="4486960"/>
            <a:ext cx="375871" cy="121618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0F85B798-0463-0C4A-6EB0-9E639BA06F53}"/>
              </a:ext>
            </a:extLst>
          </p:cNvPr>
          <p:cNvSpPr/>
          <p:nvPr/>
        </p:nvSpPr>
        <p:spPr>
          <a:xfrm>
            <a:off x="2698447" y="4486960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57</a:t>
            </a:r>
            <a:endParaRPr lang="en-US" sz="700" dirty="0"/>
          </a:p>
        </p:txBody>
      </p:sp>
      <p:sp>
        <p:nvSpPr>
          <p:cNvPr id="73" name="Text 42">
            <a:extLst>
              <a:ext uri="{FF2B5EF4-FFF2-40B4-BE49-F238E27FC236}">
                <a16:creationId xmlns:a16="http://schemas.microsoft.com/office/drawing/2014/main" id="{01C0A92F-03DE-2359-743C-34AB742622FC}"/>
              </a:ext>
            </a:extLst>
          </p:cNvPr>
          <p:cNvSpPr/>
          <p:nvPr/>
        </p:nvSpPr>
        <p:spPr>
          <a:xfrm>
            <a:off x="923544" y="4949108"/>
            <a:ext cx="1298448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convenience zone</a:t>
            </a:r>
            <a:endParaRPr lang="en-US" sz="1000" dirty="0"/>
          </a:p>
        </p:txBody>
      </p:sp>
      <p:sp>
        <p:nvSpPr>
          <p:cNvPr id="75" name="Shape 43">
            <a:extLst>
              <a:ext uri="{FF2B5EF4-FFF2-40B4-BE49-F238E27FC236}">
                <a16:creationId xmlns:a16="http://schemas.microsoft.com/office/drawing/2014/main" id="{7FD2F3E5-3D2C-728E-2DCD-9FFF5F146D3A}"/>
              </a:ext>
            </a:extLst>
          </p:cNvPr>
          <p:cNvSpPr/>
          <p:nvPr/>
        </p:nvSpPr>
        <p:spPr>
          <a:xfrm>
            <a:off x="2276856" y="4819382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B294EA53-E80E-44C8-2473-59FFED75F6E8}"/>
              </a:ext>
            </a:extLst>
          </p:cNvPr>
          <p:cNvSpPr/>
          <p:nvPr/>
        </p:nvSpPr>
        <p:spPr>
          <a:xfrm>
            <a:off x="2276856" y="4819382"/>
            <a:ext cx="3297115" cy="121618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45">
            <a:extLst>
              <a:ext uri="{FF2B5EF4-FFF2-40B4-BE49-F238E27FC236}">
                <a16:creationId xmlns:a16="http://schemas.microsoft.com/office/drawing/2014/main" id="{737C4DEF-4CCB-A491-2C37-74057C2803D2}"/>
              </a:ext>
            </a:extLst>
          </p:cNvPr>
          <p:cNvSpPr/>
          <p:nvPr/>
        </p:nvSpPr>
        <p:spPr>
          <a:xfrm>
            <a:off x="5619691" y="4819382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500</a:t>
            </a:r>
            <a:endParaRPr lang="en-US" sz="700" dirty="0"/>
          </a:p>
        </p:txBody>
      </p:sp>
      <p:sp>
        <p:nvSpPr>
          <p:cNvPr id="81" name="Shape 46">
            <a:extLst>
              <a:ext uri="{FF2B5EF4-FFF2-40B4-BE49-F238E27FC236}">
                <a16:creationId xmlns:a16="http://schemas.microsoft.com/office/drawing/2014/main" id="{D2B7B78E-1567-73E9-1F84-4E996D85C0EA}"/>
              </a:ext>
            </a:extLst>
          </p:cNvPr>
          <p:cNvSpPr/>
          <p:nvPr/>
        </p:nvSpPr>
        <p:spPr>
          <a:xfrm>
            <a:off x="2276856" y="4969377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EC419218-DF16-BFDC-575C-E7D4704EB504}"/>
              </a:ext>
            </a:extLst>
          </p:cNvPr>
          <p:cNvSpPr/>
          <p:nvPr/>
        </p:nvSpPr>
        <p:spPr>
          <a:xfrm>
            <a:off x="2276856" y="4969377"/>
            <a:ext cx="1773848" cy="121618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7F82D09C-5299-2C12-4031-CF7BC43AB0DD}"/>
              </a:ext>
            </a:extLst>
          </p:cNvPr>
          <p:cNvSpPr/>
          <p:nvPr/>
        </p:nvSpPr>
        <p:spPr>
          <a:xfrm>
            <a:off x="4096424" y="4969377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269</a:t>
            </a:r>
            <a:endParaRPr lang="en-US" sz="700" dirty="0"/>
          </a:p>
        </p:txBody>
      </p:sp>
      <p:sp>
        <p:nvSpPr>
          <p:cNvPr id="87" name="Shape 49">
            <a:extLst>
              <a:ext uri="{FF2B5EF4-FFF2-40B4-BE49-F238E27FC236}">
                <a16:creationId xmlns:a16="http://schemas.microsoft.com/office/drawing/2014/main" id="{7096FFBE-9FF9-C350-7183-9DD52226FD31}"/>
              </a:ext>
            </a:extLst>
          </p:cNvPr>
          <p:cNvSpPr/>
          <p:nvPr/>
        </p:nvSpPr>
        <p:spPr>
          <a:xfrm>
            <a:off x="2276856" y="5119373"/>
            <a:ext cx="3429000" cy="121618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50">
            <a:extLst>
              <a:ext uri="{FF2B5EF4-FFF2-40B4-BE49-F238E27FC236}">
                <a16:creationId xmlns:a16="http://schemas.microsoft.com/office/drawing/2014/main" id="{3BB84BF1-506E-C014-9BFE-5913A45860A0}"/>
              </a:ext>
            </a:extLst>
          </p:cNvPr>
          <p:cNvSpPr/>
          <p:nvPr/>
        </p:nvSpPr>
        <p:spPr>
          <a:xfrm>
            <a:off x="2276856" y="5119373"/>
            <a:ext cx="652829" cy="121618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51">
            <a:extLst>
              <a:ext uri="{FF2B5EF4-FFF2-40B4-BE49-F238E27FC236}">
                <a16:creationId xmlns:a16="http://schemas.microsoft.com/office/drawing/2014/main" id="{FCE6A5DB-D212-EA1F-864E-8F090FB75A55}"/>
              </a:ext>
            </a:extLst>
          </p:cNvPr>
          <p:cNvSpPr/>
          <p:nvPr/>
        </p:nvSpPr>
        <p:spPr>
          <a:xfrm>
            <a:off x="2975405" y="5119373"/>
            <a:ext cx="457200" cy="12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99</a:t>
            </a:r>
            <a:endParaRPr lang="en-US" sz="700" dirty="0"/>
          </a:p>
        </p:txBody>
      </p:sp>
      <p:sp>
        <p:nvSpPr>
          <p:cNvPr id="93" name="Shape 52">
            <a:extLst>
              <a:ext uri="{FF2B5EF4-FFF2-40B4-BE49-F238E27FC236}">
                <a16:creationId xmlns:a16="http://schemas.microsoft.com/office/drawing/2014/main" id="{47CF4BC7-7C5C-6F63-55EE-8D3075FB3719}"/>
              </a:ext>
            </a:extLst>
          </p:cNvPr>
          <p:cNvSpPr/>
          <p:nvPr/>
        </p:nvSpPr>
        <p:spPr>
          <a:xfrm>
            <a:off x="6428232" y="2565400"/>
            <a:ext cx="5038344" cy="2918826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53">
            <a:extLst>
              <a:ext uri="{FF2B5EF4-FFF2-40B4-BE49-F238E27FC236}">
                <a16:creationId xmlns:a16="http://schemas.microsoft.com/office/drawing/2014/main" id="{B139A083-5816-2F25-0ACF-5502AFEFBB2C}"/>
              </a:ext>
            </a:extLst>
          </p:cNvPr>
          <p:cNvSpPr/>
          <p:nvPr/>
        </p:nvSpPr>
        <p:spPr>
          <a:xfrm>
            <a:off x="6629400" y="2646478"/>
            <a:ext cx="1828800" cy="162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Attraction Size</a:t>
            </a:r>
            <a:endParaRPr lang="en-US" sz="1000" dirty="0"/>
          </a:p>
        </p:txBody>
      </p:sp>
      <p:sp>
        <p:nvSpPr>
          <p:cNvPr id="97" name="Text 54">
            <a:extLst>
              <a:ext uri="{FF2B5EF4-FFF2-40B4-BE49-F238E27FC236}">
                <a16:creationId xmlns:a16="http://schemas.microsoft.com/office/drawing/2014/main" id="{CC360859-F635-5F05-2A05-9CFB13D82B07}"/>
              </a:ext>
            </a:extLst>
          </p:cNvPr>
          <p:cNvSpPr/>
          <p:nvPr/>
        </p:nvSpPr>
        <p:spPr>
          <a:xfrm>
            <a:off x="10058400" y="2654586"/>
            <a:ext cx="1207008" cy="14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20" dirty="0">
                <a:solidFill>
                  <a:srgbClr val="9AA5B4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단위 평</a:t>
            </a:r>
            <a:endParaRPr lang="en-US" sz="620" dirty="0"/>
          </a:p>
        </p:txBody>
      </p:sp>
      <p:sp>
        <p:nvSpPr>
          <p:cNvPr id="99" name="Text 55">
            <a:extLst>
              <a:ext uri="{FF2B5EF4-FFF2-40B4-BE49-F238E27FC236}">
                <a16:creationId xmlns:a16="http://schemas.microsoft.com/office/drawing/2014/main" id="{74B5AF31-C18F-B322-2C99-DD492255EF46}"/>
              </a:ext>
            </a:extLst>
          </p:cNvPr>
          <p:cNvSpPr/>
          <p:nvPr/>
        </p:nvSpPr>
        <p:spPr>
          <a:xfrm>
            <a:off x="6629400" y="3003224"/>
            <a:ext cx="1170432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Sand Beach</a:t>
            </a:r>
            <a:endParaRPr lang="en-US" sz="900" dirty="0"/>
          </a:p>
        </p:txBody>
      </p:sp>
      <p:sp>
        <p:nvSpPr>
          <p:cNvPr id="101" name="Shape 56">
            <a:extLst>
              <a:ext uri="{FF2B5EF4-FFF2-40B4-BE49-F238E27FC236}">
                <a16:creationId xmlns:a16="http://schemas.microsoft.com/office/drawing/2014/main" id="{D93DE863-8A6D-DA04-9714-C22089032BE9}"/>
              </a:ext>
            </a:extLst>
          </p:cNvPr>
          <p:cNvSpPr/>
          <p:nvPr/>
        </p:nvSpPr>
        <p:spPr>
          <a:xfrm>
            <a:off x="7818120" y="2922145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57">
            <a:extLst>
              <a:ext uri="{FF2B5EF4-FFF2-40B4-BE49-F238E27FC236}">
                <a16:creationId xmlns:a16="http://schemas.microsoft.com/office/drawing/2014/main" id="{0590DB75-84EE-D1A8-4567-278DF41B972F}"/>
              </a:ext>
            </a:extLst>
          </p:cNvPr>
          <p:cNvSpPr/>
          <p:nvPr/>
        </p:nvSpPr>
        <p:spPr>
          <a:xfrm>
            <a:off x="7818120" y="2922145"/>
            <a:ext cx="2776118" cy="97294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58">
            <a:extLst>
              <a:ext uri="{FF2B5EF4-FFF2-40B4-BE49-F238E27FC236}">
                <a16:creationId xmlns:a16="http://schemas.microsoft.com/office/drawing/2014/main" id="{EE983E42-CD85-8D67-E31C-04F4009BCEF4}"/>
              </a:ext>
            </a:extLst>
          </p:cNvPr>
          <p:cNvSpPr/>
          <p:nvPr/>
        </p:nvSpPr>
        <p:spPr>
          <a:xfrm>
            <a:off x="10639958" y="2922145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92</a:t>
            </a:r>
            <a:endParaRPr lang="en-US" sz="650" dirty="0"/>
          </a:p>
        </p:txBody>
      </p:sp>
      <p:sp>
        <p:nvSpPr>
          <p:cNvPr id="107" name="Shape 59">
            <a:extLst>
              <a:ext uri="{FF2B5EF4-FFF2-40B4-BE49-F238E27FC236}">
                <a16:creationId xmlns:a16="http://schemas.microsoft.com/office/drawing/2014/main" id="{FF96A52D-CBFE-02F5-FF05-2DBE5CE1DA82}"/>
              </a:ext>
            </a:extLst>
          </p:cNvPr>
          <p:cNvSpPr/>
          <p:nvPr/>
        </p:nvSpPr>
        <p:spPr>
          <a:xfrm>
            <a:off x="7818120" y="3043763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60">
            <a:extLst>
              <a:ext uri="{FF2B5EF4-FFF2-40B4-BE49-F238E27FC236}">
                <a16:creationId xmlns:a16="http://schemas.microsoft.com/office/drawing/2014/main" id="{84295E85-9CB6-4D4F-B798-DE9E7EF2BBD5}"/>
              </a:ext>
            </a:extLst>
          </p:cNvPr>
          <p:cNvSpPr/>
          <p:nvPr/>
        </p:nvSpPr>
        <p:spPr>
          <a:xfrm>
            <a:off x="7818120" y="3043763"/>
            <a:ext cx="2414016" cy="97294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61">
            <a:extLst>
              <a:ext uri="{FF2B5EF4-FFF2-40B4-BE49-F238E27FC236}">
                <a16:creationId xmlns:a16="http://schemas.microsoft.com/office/drawing/2014/main" id="{6222D217-85BE-D223-8659-8D556A4B81C4}"/>
              </a:ext>
            </a:extLst>
          </p:cNvPr>
          <p:cNvSpPr/>
          <p:nvPr/>
        </p:nvSpPr>
        <p:spPr>
          <a:xfrm>
            <a:off x="10277856" y="3043763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80</a:t>
            </a:r>
            <a:endParaRPr lang="en-US" sz="650" dirty="0"/>
          </a:p>
        </p:txBody>
      </p:sp>
      <p:sp>
        <p:nvSpPr>
          <p:cNvPr id="113" name="Shape 62">
            <a:extLst>
              <a:ext uri="{FF2B5EF4-FFF2-40B4-BE49-F238E27FC236}">
                <a16:creationId xmlns:a16="http://schemas.microsoft.com/office/drawing/2014/main" id="{A44864D9-458A-01DD-4A8B-D11CB76D04BA}"/>
              </a:ext>
            </a:extLst>
          </p:cNvPr>
          <p:cNvSpPr/>
          <p:nvPr/>
        </p:nvSpPr>
        <p:spPr>
          <a:xfrm>
            <a:off x="7818120" y="3165381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63">
            <a:extLst>
              <a:ext uri="{FF2B5EF4-FFF2-40B4-BE49-F238E27FC236}">
                <a16:creationId xmlns:a16="http://schemas.microsoft.com/office/drawing/2014/main" id="{2A4DDC06-6CBE-52AF-BDE0-CD1D0097BCA2}"/>
              </a:ext>
            </a:extLst>
          </p:cNvPr>
          <p:cNvSpPr/>
          <p:nvPr/>
        </p:nvSpPr>
        <p:spPr>
          <a:xfrm>
            <a:off x="7818120" y="3165381"/>
            <a:ext cx="844906" cy="97294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64">
            <a:extLst>
              <a:ext uri="{FF2B5EF4-FFF2-40B4-BE49-F238E27FC236}">
                <a16:creationId xmlns:a16="http://schemas.microsoft.com/office/drawing/2014/main" id="{8B657793-846F-4CC6-24CC-55B1C95E0D54}"/>
              </a:ext>
            </a:extLst>
          </p:cNvPr>
          <p:cNvSpPr/>
          <p:nvPr/>
        </p:nvSpPr>
        <p:spPr>
          <a:xfrm>
            <a:off x="8708746" y="3165381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28</a:t>
            </a:r>
            <a:endParaRPr lang="en-US" sz="650" dirty="0"/>
          </a:p>
        </p:txBody>
      </p:sp>
      <p:sp>
        <p:nvSpPr>
          <p:cNvPr id="119" name="Text 65">
            <a:extLst>
              <a:ext uri="{FF2B5EF4-FFF2-40B4-BE49-F238E27FC236}">
                <a16:creationId xmlns:a16="http://schemas.microsoft.com/office/drawing/2014/main" id="{30BE30DD-3A61-84DF-AD58-D4B31E4E5BBC}"/>
              </a:ext>
            </a:extLst>
          </p:cNvPr>
          <p:cNvSpPr/>
          <p:nvPr/>
        </p:nvSpPr>
        <p:spPr>
          <a:xfrm>
            <a:off x="6629400" y="3505911"/>
            <a:ext cx="1170432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Live Sketchbook</a:t>
            </a:r>
            <a:endParaRPr lang="en-US" sz="900" dirty="0"/>
          </a:p>
        </p:txBody>
      </p:sp>
      <p:sp>
        <p:nvSpPr>
          <p:cNvPr id="121" name="Shape 66">
            <a:extLst>
              <a:ext uri="{FF2B5EF4-FFF2-40B4-BE49-F238E27FC236}">
                <a16:creationId xmlns:a16="http://schemas.microsoft.com/office/drawing/2014/main" id="{2C6C596F-FDBF-244A-4611-BDE040A8B38C}"/>
              </a:ext>
            </a:extLst>
          </p:cNvPr>
          <p:cNvSpPr/>
          <p:nvPr/>
        </p:nvSpPr>
        <p:spPr>
          <a:xfrm>
            <a:off x="7818120" y="3424832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67">
            <a:extLst>
              <a:ext uri="{FF2B5EF4-FFF2-40B4-BE49-F238E27FC236}">
                <a16:creationId xmlns:a16="http://schemas.microsoft.com/office/drawing/2014/main" id="{B17D7637-B082-75BB-E44A-C7FF5D79EF38}"/>
              </a:ext>
            </a:extLst>
          </p:cNvPr>
          <p:cNvSpPr/>
          <p:nvPr/>
        </p:nvSpPr>
        <p:spPr>
          <a:xfrm>
            <a:off x="7818120" y="3424832"/>
            <a:ext cx="1086307" cy="97294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68">
            <a:extLst>
              <a:ext uri="{FF2B5EF4-FFF2-40B4-BE49-F238E27FC236}">
                <a16:creationId xmlns:a16="http://schemas.microsoft.com/office/drawing/2014/main" id="{BCA0ACF7-05E6-6C7F-E3AA-6397A8F8DEF6}"/>
              </a:ext>
            </a:extLst>
          </p:cNvPr>
          <p:cNvSpPr/>
          <p:nvPr/>
        </p:nvSpPr>
        <p:spPr>
          <a:xfrm>
            <a:off x="8950147" y="3424832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36</a:t>
            </a:r>
            <a:endParaRPr lang="en-US" sz="650" dirty="0"/>
          </a:p>
        </p:txBody>
      </p:sp>
      <p:sp>
        <p:nvSpPr>
          <p:cNvPr id="127" name="Shape 69">
            <a:extLst>
              <a:ext uri="{FF2B5EF4-FFF2-40B4-BE49-F238E27FC236}">
                <a16:creationId xmlns:a16="http://schemas.microsoft.com/office/drawing/2014/main" id="{551DE91A-58C1-2690-0393-6F58D2E510BC}"/>
              </a:ext>
            </a:extLst>
          </p:cNvPr>
          <p:cNvSpPr/>
          <p:nvPr/>
        </p:nvSpPr>
        <p:spPr>
          <a:xfrm>
            <a:off x="7818120" y="3546450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70">
            <a:extLst>
              <a:ext uri="{FF2B5EF4-FFF2-40B4-BE49-F238E27FC236}">
                <a16:creationId xmlns:a16="http://schemas.microsoft.com/office/drawing/2014/main" id="{6D56A886-5F78-A3E1-0971-7AEAD6D60F41}"/>
              </a:ext>
            </a:extLst>
          </p:cNvPr>
          <p:cNvSpPr/>
          <p:nvPr/>
        </p:nvSpPr>
        <p:spPr>
          <a:xfrm>
            <a:off x="7818120" y="3546450"/>
            <a:ext cx="905256" cy="97294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71">
            <a:extLst>
              <a:ext uri="{FF2B5EF4-FFF2-40B4-BE49-F238E27FC236}">
                <a16:creationId xmlns:a16="http://schemas.microsoft.com/office/drawing/2014/main" id="{02B5416C-0416-6627-18A9-142C577CB0B7}"/>
              </a:ext>
            </a:extLst>
          </p:cNvPr>
          <p:cNvSpPr/>
          <p:nvPr/>
        </p:nvSpPr>
        <p:spPr>
          <a:xfrm>
            <a:off x="8769096" y="3546450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30</a:t>
            </a:r>
            <a:endParaRPr lang="en-US" sz="650" dirty="0"/>
          </a:p>
        </p:txBody>
      </p:sp>
      <p:sp>
        <p:nvSpPr>
          <p:cNvPr id="133" name="Shape 72">
            <a:extLst>
              <a:ext uri="{FF2B5EF4-FFF2-40B4-BE49-F238E27FC236}">
                <a16:creationId xmlns:a16="http://schemas.microsoft.com/office/drawing/2014/main" id="{4CE8380C-ACB9-4B93-8F1A-E3CAFBE3D3E0}"/>
              </a:ext>
            </a:extLst>
          </p:cNvPr>
          <p:cNvSpPr/>
          <p:nvPr/>
        </p:nvSpPr>
        <p:spPr>
          <a:xfrm>
            <a:off x="7818120" y="3668068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73">
            <a:extLst>
              <a:ext uri="{FF2B5EF4-FFF2-40B4-BE49-F238E27FC236}">
                <a16:creationId xmlns:a16="http://schemas.microsoft.com/office/drawing/2014/main" id="{E975504E-FEAD-0008-851B-B3235C0418F4}"/>
              </a:ext>
            </a:extLst>
          </p:cNvPr>
          <p:cNvSpPr/>
          <p:nvPr/>
        </p:nvSpPr>
        <p:spPr>
          <a:xfrm>
            <a:off x="7818120" y="3668068"/>
            <a:ext cx="392278" cy="97294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74">
            <a:extLst>
              <a:ext uri="{FF2B5EF4-FFF2-40B4-BE49-F238E27FC236}">
                <a16:creationId xmlns:a16="http://schemas.microsoft.com/office/drawing/2014/main" id="{495DBDD0-CF43-631B-E46B-A746C77C6878}"/>
              </a:ext>
            </a:extLst>
          </p:cNvPr>
          <p:cNvSpPr/>
          <p:nvPr/>
        </p:nvSpPr>
        <p:spPr>
          <a:xfrm>
            <a:off x="8256118" y="3668068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13</a:t>
            </a:r>
            <a:endParaRPr lang="en-US" sz="650" dirty="0"/>
          </a:p>
        </p:txBody>
      </p:sp>
      <p:sp>
        <p:nvSpPr>
          <p:cNvPr id="139" name="Text 75">
            <a:extLst>
              <a:ext uri="{FF2B5EF4-FFF2-40B4-BE49-F238E27FC236}">
                <a16:creationId xmlns:a16="http://schemas.microsoft.com/office/drawing/2014/main" id="{0A70703D-1C2E-7774-3F8F-67F983B920E4}"/>
              </a:ext>
            </a:extLst>
          </p:cNvPr>
          <p:cNvSpPr/>
          <p:nvPr/>
        </p:nvSpPr>
        <p:spPr>
          <a:xfrm>
            <a:off x="6629400" y="4008597"/>
            <a:ext cx="1170432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Color Ground</a:t>
            </a:r>
            <a:endParaRPr lang="en-US" sz="900" dirty="0"/>
          </a:p>
        </p:txBody>
      </p:sp>
      <p:sp>
        <p:nvSpPr>
          <p:cNvPr id="141" name="Shape 76">
            <a:extLst>
              <a:ext uri="{FF2B5EF4-FFF2-40B4-BE49-F238E27FC236}">
                <a16:creationId xmlns:a16="http://schemas.microsoft.com/office/drawing/2014/main" id="{ABEA6F4E-D546-DABA-81BE-262BB7687CCB}"/>
              </a:ext>
            </a:extLst>
          </p:cNvPr>
          <p:cNvSpPr/>
          <p:nvPr/>
        </p:nvSpPr>
        <p:spPr>
          <a:xfrm>
            <a:off x="7818120" y="3927519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77">
            <a:extLst>
              <a:ext uri="{FF2B5EF4-FFF2-40B4-BE49-F238E27FC236}">
                <a16:creationId xmlns:a16="http://schemas.microsoft.com/office/drawing/2014/main" id="{27D83EE3-E441-8930-547D-020A51727DF0}"/>
              </a:ext>
            </a:extLst>
          </p:cNvPr>
          <p:cNvSpPr/>
          <p:nvPr/>
        </p:nvSpPr>
        <p:spPr>
          <a:xfrm>
            <a:off x="7818120" y="3927519"/>
            <a:ext cx="1025957" cy="97294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78">
            <a:extLst>
              <a:ext uri="{FF2B5EF4-FFF2-40B4-BE49-F238E27FC236}">
                <a16:creationId xmlns:a16="http://schemas.microsoft.com/office/drawing/2014/main" id="{9CE428F0-4D53-37BA-C451-6995A1F80E16}"/>
              </a:ext>
            </a:extLst>
          </p:cNvPr>
          <p:cNvSpPr/>
          <p:nvPr/>
        </p:nvSpPr>
        <p:spPr>
          <a:xfrm>
            <a:off x="8889797" y="3927519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34</a:t>
            </a:r>
            <a:endParaRPr lang="en-US" sz="650" dirty="0"/>
          </a:p>
        </p:txBody>
      </p:sp>
      <p:sp>
        <p:nvSpPr>
          <p:cNvPr id="147" name="Shape 79">
            <a:extLst>
              <a:ext uri="{FF2B5EF4-FFF2-40B4-BE49-F238E27FC236}">
                <a16:creationId xmlns:a16="http://schemas.microsoft.com/office/drawing/2014/main" id="{50CB1EB4-A44E-010D-C178-195ACDB39544}"/>
              </a:ext>
            </a:extLst>
          </p:cNvPr>
          <p:cNvSpPr/>
          <p:nvPr/>
        </p:nvSpPr>
        <p:spPr>
          <a:xfrm>
            <a:off x="7818120" y="4049136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80">
            <a:extLst>
              <a:ext uri="{FF2B5EF4-FFF2-40B4-BE49-F238E27FC236}">
                <a16:creationId xmlns:a16="http://schemas.microsoft.com/office/drawing/2014/main" id="{A2DCDCA7-92BC-EDE9-BB50-5C0598D49CA2}"/>
              </a:ext>
            </a:extLst>
          </p:cNvPr>
          <p:cNvSpPr/>
          <p:nvPr/>
        </p:nvSpPr>
        <p:spPr>
          <a:xfrm>
            <a:off x="7818120" y="4049136"/>
            <a:ext cx="935431" cy="97294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81">
            <a:extLst>
              <a:ext uri="{FF2B5EF4-FFF2-40B4-BE49-F238E27FC236}">
                <a16:creationId xmlns:a16="http://schemas.microsoft.com/office/drawing/2014/main" id="{200CAF99-A261-49E4-E980-8A69F93E985E}"/>
              </a:ext>
            </a:extLst>
          </p:cNvPr>
          <p:cNvSpPr/>
          <p:nvPr/>
        </p:nvSpPr>
        <p:spPr>
          <a:xfrm>
            <a:off x="8799271" y="4049136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31</a:t>
            </a:r>
            <a:endParaRPr lang="en-US" sz="650" dirty="0"/>
          </a:p>
        </p:txBody>
      </p:sp>
      <p:sp>
        <p:nvSpPr>
          <p:cNvPr id="153" name="Shape 82">
            <a:extLst>
              <a:ext uri="{FF2B5EF4-FFF2-40B4-BE49-F238E27FC236}">
                <a16:creationId xmlns:a16="http://schemas.microsoft.com/office/drawing/2014/main" id="{2DCC749E-9AAA-B837-F760-4CEC625BE14B}"/>
              </a:ext>
            </a:extLst>
          </p:cNvPr>
          <p:cNvSpPr/>
          <p:nvPr/>
        </p:nvSpPr>
        <p:spPr>
          <a:xfrm>
            <a:off x="7818120" y="4170754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83">
            <a:extLst>
              <a:ext uri="{FF2B5EF4-FFF2-40B4-BE49-F238E27FC236}">
                <a16:creationId xmlns:a16="http://schemas.microsoft.com/office/drawing/2014/main" id="{52621CAB-4213-F6E0-3631-8D716C4C8233}"/>
              </a:ext>
            </a:extLst>
          </p:cNvPr>
          <p:cNvSpPr/>
          <p:nvPr/>
        </p:nvSpPr>
        <p:spPr>
          <a:xfrm>
            <a:off x="7818120" y="4170754"/>
            <a:ext cx="301752" cy="97294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7" name="Text 84">
            <a:extLst>
              <a:ext uri="{FF2B5EF4-FFF2-40B4-BE49-F238E27FC236}">
                <a16:creationId xmlns:a16="http://schemas.microsoft.com/office/drawing/2014/main" id="{5DCD8847-D395-B9AA-03C4-32E0C5035BD1}"/>
              </a:ext>
            </a:extLst>
          </p:cNvPr>
          <p:cNvSpPr/>
          <p:nvPr/>
        </p:nvSpPr>
        <p:spPr>
          <a:xfrm>
            <a:off x="8165592" y="4170754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10</a:t>
            </a:r>
            <a:endParaRPr lang="en-US" sz="650" dirty="0"/>
          </a:p>
        </p:txBody>
      </p:sp>
      <p:sp>
        <p:nvSpPr>
          <p:cNvPr id="159" name="Text 85">
            <a:extLst>
              <a:ext uri="{FF2B5EF4-FFF2-40B4-BE49-F238E27FC236}">
                <a16:creationId xmlns:a16="http://schemas.microsoft.com/office/drawing/2014/main" id="{08948762-B998-497D-F435-2B06F1B543DF}"/>
              </a:ext>
            </a:extLst>
          </p:cNvPr>
          <p:cNvSpPr/>
          <p:nvPr/>
        </p:nvSpPr>
        <p:spPr>
          <a:xfrm>
            <a:off x="6629400" y="4511284"/>
            <a:ext cx="1170432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Oasis</a:t>
            </a:r>
            <a:endParaRPr lang="en-US" sz="900" dirty="0"/>
          </a:p>
        </p:txBody>
      </p:sp>
      <p:sp>
        <p:nvSpPr>
          <p:cNvPr id="161" name="Shape 86">
            <a:extLst>
              <a:ext uri="{FF2B5EF4-FFF2-40B4-BE49-F238E27FC236}">
                <a16:creationId xmlns:a16="http://schemas.microsoft.com/office/drawing/2014/main" id="{34860C74-7063-579E-A1B5-CC06AC32F54D}"/>
              </a:ext>
            </a:extLst>
          </p:cNvPr>
          <p:cNvSpPr/>
          <p:nvPr/>
        </p:nvSpPr>
        <p:spPr>
          <a:xfrm>
            <a:off x="7818120" y="4430205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87">
            <a:extLst>
              <a:ext uri="{FF2B5EF4-FFF2-40B4-BE49-F238E27FC236}">
                <a16:creationId xmlns:a16="http://schemas.microsoft.com/office/drawing/2014/main" id="{AEC25031-EC14-D876-498F-E7D0D450120D}"/>
              </a:ext>
            </a:extLst>
          </p:cNvPr>
          <p:cNvSpPr/>
          <p:nvPr/>
        </p:nvSpPr>
        <p:spPr>
          <a:xfrm>
            <a:off x="7818120" y="4430205"/>
            <a:ext cx="1086307" cy="97294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5" name="Text 88">
            <a:extLst>
              <a:ext uri="{FF2B5EF4-FFF2-40B4-BE49-F238E27FC236}">
                <a16:creationId xmlns:a16="http://schemas.microsoft.com/office/drawing/2014/main" id="{CBE769F3-BE89-6B4F-DCBC-7B40D3DF7E92}"/>
              </a:ext>
            </a:extLst>
          </p:cNvPr>
          <p:cNvSpPr/>
          <p:nvPr/>
        </p:nvSpPr>
        <p:spPr>
          <a:xfrm>
            <a:off x="8950147" y="4430205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36</a:t>
            </a:r>
            <a:endParaRPr lang="en-US" sz="650" dirty="0"/>
          </a:p>
        </p:txBody>
      </p:sp>
      <p:sp>
        <p:nvSpPr>
          <p:cNvPr id="167" name="Shape 89">
            <a:extLst>
              <a:ext uri="{FF2B5EF4-FFF2-40B4-BE49-F238E27FC236}">
                <a16:creationId xmlns:a16="http://schemas.microsoft.com/office/drawing/2014/main" id="{8590922A-1D79-BDED-4E43-6208B1CB54DF}"/>
              </a:ext>
            </a:extLst>
          </p:cNvPr>
          <p:cNvSpPr/>
          <p:nvPr/>
        </p:nvSpPr>
        <p:spPr>
          <a:xfrm>
            <a:off x="7818120" y="4551823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90">
            <a:extLst>
              <a:ext uri="{FF2B5EF4-FFF2-40B4-BE49-F238E27FC236}">
                <a16:creationId xmlns:a16="http://schemas.microsoft.com/office/drawing/2014/main" id="{447DC428-B827-00B7-C1F0-B7B729C7D6CD}"/>
              </a:ext>
            </a:extLst>
          </p:cNvPr>
          <p:cNvSpPr/>
          <p:nvPr/>
        </p:nvSpPr>
        <p:spPr>
          <a:xfrm>
            <a:off x="7818120" y="4551823"/>
            <a:ext cx="603504" cy="97294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1" name="Text 91">
            <a:extLst>
              <a:ext uri="{FF2B5EF4-FFF2-40B4-BE49-F238E27FC236}">
                <a16:creationId xmlns:a16="http://schemas.microsoft.com/office/drawing/2014/main" id="{0E6C1357-3E03-B100-B70A-C5BF7E745B4C}"/>
              </a:ext>
            </a:extLst>
          </p:cNvPr>
          <p:cNvSpPr/>
          <p:nvPr/>
        </p:nvSpPr>
        <p:spPr>
          <a:xfrm>
            <a:off x="8467344" y="4551823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20</a:t>
            </a:r>
            <a:endParaRPr lang="en-US" sz="650" dirty="0"/>
          </a:p>
        </p:txBody>
      </p:sp>
      <p:sp>
        <p:nvSpPr>
          <p:cNvPr id="173" name="Shape 92">
            <a:extLst>
              <a:ext uri="{FF2B5EF4-FFF2-40B4-BE49-F238E27FC236}">
                <a16:creationId xmlns:a16="http://schemas.microsoft.com/office/drawing/2014/main" id="{9401C6B2-04EC-65E2-33A5-88C5962367B1}"/>
              </a:ext>
            </a:extLst>
          </p:cNvPr>
          <p:cNvSpPr/>
          <p:nvPr/>
        </p:nvSpPr>
        <p:spPr>
          <a:xfrm>
            <a:off x="7818120" y="4673441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93">
            <a:extLst>
              <a:ext uri="{FF2B5EF4-FFF2-40B4-BE49-F238E27FC236}">
                <a16:creationId xmlns:a16="http://schemas.microsoft.com/office/drawing/2014/main" id="{005437D4-BE0A-AAF4-035D-C053519C040A}"/>
              </a:ext>
            </a:extLst>
          </p:cNvPr>
          <p:cNvSpPr/>
          <p:nvPr/>
        </p:nvSpPr>
        <p:spPr>
          <a:xfrm>
            <a:off x="7818120" y="4673441"/>
            <a:ext cx="301752" cy="97294"/>
          </a:xfrm>
          <a:prstGeom prst="rect">
            <a:avLst/>
          </a:prstGeom>
          <a:solidFill>
            <a:srgbClr val="9AA5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7" name="Text 94">
            <a:extLst>
              <a:ext uri="{FF2B5EF4-FFF2-40B4-BE49-F238E27FC236}">
                <a16:creationId xmlns:a16="http://schemas.microsoft.com/office/drawing/2014/main" id="{4ED5B948-9C5F-35FE-A982-25AE9EFC405E}"/>
              </a:ext>
            </a:extLst>
          </p:cNvPr>
          <p:cNvSpPr/>
          <p:nvPr/>
        </p:nvSpPr>
        <p:spPr>
          <a:xfrm>
            <a:off x="8165592" y="4673441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10</a:t>
            </a:r>
            <a:endParaRPr lang="en-US" sz="650" dirty="0"/>
          </a:p>
        </p:txBody>
      </p:sp>
      <p:sp>
        <p:nvSpPr>
          <p:cNvPr id="179" name="Text 95">
            <a:extLst>
              <a:ext uri="{FF2B5EF4-FFF2-40B4-BE49-F238E27FC236}">
                <a16:creationId xmlns:a16="http://schemas.microsoft.com/office/drawing/2014/main" id="{CB58AC6C-AFAD-BB0D-7C23-B9847FA51F4A}"/>
              </a:ext>
            </a:extLst>
          </p:cNvPr>
          <p:cNvSpPr/>
          <p:nvPr/>
        </p:nvSpPr>
        <p:spPr>
          <a:xfrm>
            <a:off x="6629400" y="5013970"/>
            <a:ext cx="1170432" cy="243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Trampoline</a:t>
            </a:r>
            <a:endParaRPr lang="en-US" sz="900" dirty="0"/>
          </a:p>
        </p:txBody>
      </p:sp>
      <p:sp>
        <p:nvSpPr>
          <p:cNvPr id="181" name="Shape 96">
            <a:extLst>
              <a:ext uri="{FF2B5EF4-FFF2-40B4-BE49-F238E27FC236}">
                <a16:creationId xmlns:a16="http://schemas.microsoft.com/office/drawing/2014/main" id="{52B02049-152D-DD66-4100-956D5E1BACC7}"/>
              </a:ext>
            </a:extLst>
          </p:cNvPr>
          <p:cNvSpPr/>
          <p:nvPr/>
        </p:nvSpPr>
        <p:spPr>
          <a:xfrm>
            <a:off x="7818120" y="4932892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97">
            <a:extLst>
              <a:ext uri="{FF2B5EF4-FFF2-40B4-BE49-F238E27FC236}">
                <a16:creationId xmlns:a16="http://schemas.microsoft.com/office/drawing/2014/main" id="{D9054C58-10DC-72B8-63BA-F4B27A60694A}"/>
              </a:ext>
            </a:extLst>
          </p:cNvPr>
          <p:cNvSpPr/>
          <p:nvPr/>
        </p:nvSpPr>
        <p:spPr>
          <a:xfrm>
            <a:off x="7818120" y="4932892"/>
            <a:ext cx="1991563" cy="97294"/>
          </a:xfrm>
          <a:prstGeom prst="rect">
            <a:avLst/>
          </a:prstGeom>
          <a:solidFill>
            <a:srgbClr val="5A64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5" name="Text 98">
            <a:extLst>
              <a:ext uri="{FF2B5EF4-FFF2-40B4-BE49-F238E27FC236}">
                <a16:creationId xmlns:a16="http://schemas.microsoft.com/office/drawing/2014/main" id="{5A6355BD-419A-6087-F4A3-19E437D60A25}"/>
              </a:ext>
            </a:extLst>
          </p:cNvPr>
          <p:cNvSpPr/>
          <p:nvPr/>
        </p:nvSpPr>
        <p:spPr>
          <a:xfrm>
            <a:off x="9855403" y="4932892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66</a:t>
            </a:r>
            <a:endParaRPr lang="en-US" sz="650" dirty="0"/>
          </a:p>
        </p:txBody>
      </p:sp>
      <p:sp>
        <p:nvSpPr>
          <p:cNvPr id="187" name="Shape 99">
            <a:extLst>
              <a:ext uri="{FF2B5EF4-FFF2-40B4-BE49-F238E27FC236}">
                <a16:creationId xmlns:a16="http://schemas.microsoft.com/office/drawing/2014/main" id="{663C8748-2B5B-919C-4122-B104737D4B49}"/>
              </a:ext>
            </a:extLst>
          </p:cNvPr>
          <p:cNvSpPr/>
          <p:nvPr/>
        </p:nvSpPr>
        <p:spPr>
          <a:xfrm>
            <a:off x="7818120" y="5054510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00">
            <a:extLst>
              <a:ext uri="{FF2B5EF4-FFF2-40B4-BE49-F238E27FC236}">
                <a16:creationId xmlns:a16="http://schemas.microsoft.com/office/drawing/2014/main" id="{A58E9710-945D-825B-4119-8968A62C6AE5}"/>
              </a:ext>
            </a:extLst>
          </p:cNvPr>
          <p:cNvSpPr/>
          <p:nvPr/>
        </p:nvSpPr>
        <p:spPr>
          <a:xfrm>
            <a:off x="7818120" y="5054510"/>
            <a:ext cx="452628" cy="97294"/>
          </a:xfrm>
          <a:prstGeom prst="rect">
            <a:avLst/>
          </a:prstGeom>
          <a:solidFill>
            <a:srgbClr val="E854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1" name="Text 101">
            <a:extLst>
              <a:ext uri="{FF2B5EF4-FFF2-40B4-BE49-F238E27FC236}">
                <a16:creationId xmlns:a16="http://schemas.microsoft.com/office/drawing/2014/main" id="{A0A74645-55D3-0F38-3201-D5EB6A12880C}"/>
              </a:ext>
            </a:extLst>
          </p:cNvPr>
          <p:cNvSpPr/>
          <p:nvPr/>
        </p:nvSpPr>
        <p:spPr>
          <a:xfrm>
            <a:off x="8316468" y="5054510"/>
            <a:ext cx="41148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15</a:t>
            </a:r>
            <a:endParaRPr lang="en-US" sz="650" dirty="0"/>
          </a:p>
        </p:txBody>
      </p:sp>
      <p:sp>
        <p:nvSpPr>
          <p:cNvPr id="193" name="Shape 102">
            <a:extLst>
              <a:ext uri="{FF2B5EF4-FFF2-40B4-BE49-F238E27FC236}">
                <a16:creationId xmlns:a16="http://schemas.microsoft.com/office/drawing/2014/main" id="{55CD4304-3693-354C-1525-A6F9896EB229}"/>
              </a:ext>
            </a:extLst>
          </p:cNvPr>
          <p:cNvSpPr/>
          <p:nvPr/>
        </p:nvSpPr>
        <p:spPr>
          <a:xfrm>
            <a:off x="7818120" y="5176127"/>
            <a:ext cx="3017520" cy="97294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5" name="Text 103">
            <a:extLst>
              <a:ext uri="{FF2B5EF4-FFF2-40B4-BE49-F238E27FC236}">
                <a16:creationId xmlns:a16="http://schemas.microsoft.com/office/drawing/2014/main" id="{76485E15-196D-4514-B97B-2D0C26DF977A}"/>
              </a:ext>
            </a:extLst>
          </p:cNvPr>
          <p:cNvSpPr/>
          <p:nvPr/>
        </p:nvSpPr>
        <p:spPr>
          <a:xfrm>
            <a:off x="7863840" y="5176127"/>
            <a:ext cx="548640" cy="9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9AA5B4"/>
                </a:solidFill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없음</a:t>
            </a:r>
            <a:endParaRPr lang="en-US" sz="580" dirty="0"/>
          </a:p>
        </p:txBody>
      </p:sp>
      <p:sp>
        <p:nvSpPr>
          <p:cNvPr id="197" name="Shape 104">
            <a:extLst>
              <a:ext uri="{FF2B5EF4-FFF2-40B4-BE49-F238E27FC236}">
                <a16:creationId xmlns:a16="http://schemas.microsoft.com/office/drawing/2014/main" id="{EFC660DC-B34C-FF8D-A8C2-2ABAD5CEFEDB}"/>
              </a:ext>
            </a:extLst>
          </p:cNvPr>
          <p:cNvSpPr/>
          <p:nvPr/>
        </p:nvSpPr>
        <p:spPr>
          <a:xfrm>
            <a:off x="722376" y="5613951"/>
            <a:ext cx="3429000" cy="502687"/>
          </a:xfrm>
          <a:prstGeom prst="roundRect">
            <a:avLst>
              <a:gd name="adj" fmla="val 6452"/>
            </a:avLst>
          </a:prstGeom>
          <a:solidFill>
            <a:srgbClr val="FDF0EC"/>
          </a:solidFill>
          <a:ln w="9525">
            <a:solidFill>
              <a:srgbClr val="F3C4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Text 105">
            <a:extLst>
              <a:ext uri="{FF2B5EF4-FFF2-40B4-BE49-F238E27FC236}">
                <a16:creationId xmlns:a16="http://schemas.microsoft.com/office/drawing/2014/main" id="{B16CDEF9-5F19-133F-DEC9-91320CFAF970}"/>
              </a:ext>
            </a:extLst>
          </p:cNvPr>
          <p:cNvSpPr/>
          <p:nvPr/>
        </p:nvSpPr>
        <p:spPr>
          <a:xfrm>
            <a:off x="868680" y="5727460"/>
            <a:ext cx="3154680" cy="14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퀘스트존은 별내 수준</a:t>
            </a:r>
            <a:endParaRPr lang="en-US" sz="1000" dirty="0"/>
          </a:p>
        </p:txBody>
      </p:sp>
      <p:sp>
        <p:nvSpPr>
          <p:cNvPr id="201" name="Text 106">
            <a:extLst>
              <a:ext uri="{FF2B5EF4-FFF2-40B4-BE49-F238E27FC236}">
                <a16:creationId xmlns:a16="http://schemas.microsoft.com/office/drawing/2014/main" id="{C2CE2307-0761-6143-7CD0-E686ABB007F7}"/>
              </a:ext>
            </a:extLst>
          </p:cNvPr>
          <p:cNvSpPr/>
          <p:nvPr/>
        </p:nvSpPr>
        <p:spPr>
          <a:xfrm>
            <a:off x="868680" y="5904500"/>
            <a:ext cx="2683427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덴버 58평 · 별내 57평 — 세 지점 중 유일하게 규모 차이가 없는 존</a:t>
            </a:r>
            <a:endParaRPr lang="en-US" sz="800" dirty="0"/>
          </a:p>
        </p:txBody>
      </p:sp>
      <p:sp>
        <p:nvSpPr>
          <p:cNvPr id="203" name="Shape 107">
            <a:extLst>
              <a:ext uri="{FF2B5EF4-FFF2-40B4-BE49-F238E27FC236}">
                <a16:creationId xmlns:a16="http://schemas.microsoft.com/office/drawing/2014/main" id="{BAFFEBDE-EBAA-8F5A-67A9-834253A92FAE}"/>
              </a:ext>
            </a:extLst>
          </p:cNvPr>
          <p:cNvSpPr/>
          <p:nvPr/>
        </p:nvSpPr>
        <p:spPr>
          <a:xfrm>
            <a:off x="4334256" y="5613951"/>
            <a:ext cx="3429000" cy="502687"/>
          </a:xfrm>
          <a:prstGeom prst="roundRect">
            <a:avLst>
              <a:gd name="adj" fmla="val 6452"/>
            </a:avLst>
          </a:prstGeom>
          <a:solidFill>
            <a:srgbClr val="FDF0EC"/>
          </a:solidFill>
          <a:ln w="9525">
            <a:solidFill>
              <a:srgbClr val="F3C4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Text 108">
            <a:extLst>
              <a:ext uri="{FF2B5EF4-FFF2-40B4-BE49-F238E27FC236}">
                <a16:creationId xmlns:a16="http://schemas.microsoft.com/office/drawing/2014/main" id="{D25CBFEB-34D9-A938-3F9A-0C36B3F9566E}"/>
              </a:ext>
            </a:extLst>
          </p:cNvPr>
          <p:cNvSpPr/>
          <p:nvPr/>
        </p:nvSpPr>
        <p:spPr>
          <a:xfrm>
            <a:off x="4480560" y="5727460"/>
            <a:ext cx="3154680" cy="14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제주와 유사한 크기의 </a:t>
            </a:r>
            <a:r>
              <a:rPr lang="en-US" altLang="ko-KR" sz="10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Sand</a:t>
            </a:r>
            <a:r>
              <a:rPr lang="ko-KR" altLang="en-US" sz="10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 </a:t>
            </a:r>
            <a:r>
              <a:rPr lang="en-US" altLang="ko-KR" sz="1000" dirty="0">
                <a:solidFill>
                  <a:srgbClr val="E8542F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Beach</a:t>
            </a:r>
            <a:endParaRPr lang="en-US" sz="1000" dirty="0"/>
          </a:p>
        </p:txBody>
      </p:sp>
      <p:sp>
        <p:nvSpPr>
          <p:cNvPr id="207" name="Text 109">
            <a:extLst>
              <a:ext uri="{FF2B5EF4-FFF2-40B4-BE49-F238E27FC236}">
                <a16:creationId xmlns:a16="http://schemas.microsoft.com/office/drawing/2014/main" id="{5C6F2F33-2F8B-5BDC-D258-8AE7B04B5A35}"/>
              </a:ext>
            </a:extLst>
          </p:cNvPr>
          <p:cNvSpPr/>
          <p:nvPr/>
        </p:nvSpPr>
        <p:spPr>
          <a:xfrm>
            <a:off x="4480560" y="5904500"/>
            <a:ext cx="2946319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800" dirty="0" err="1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체험존</a:t>
            </a:r>
            <a:r>
              <a:rPr lang="ko-KR" alt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 전체는 제주 대비 </a:t>
            </a:r>
            <a:r>
              <a:rPr lang="en-US" altLang="ko-KR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57% </a:t>
            </a:r>
            <a:r>
              <a:rPr lang="ko-KR" alt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규모 </a:t>
            </a:r>
            <a:r>
              <a:rPr 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— Sand</a:t>
            </a:r>
            <a:r>
              <a:rPr lang="ko-KR" alt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 </a:t>
            </a:r>
            <a:r>
              <a:rPr lang="en-US" altLang="ko-KR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Beach</a:t>
            </a:r>
            <a:r>
              <a:rPr lang="ko-KR" alt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는 </a:t>
            </a:r>
            <a:r>
              <a:rPr lang="ko-KR" altLang="en-US" sz="800" dirty="0" err="1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규모감</a:t>
            </a:r>
            <a:r>
              <a:rPr lang="ko-KR" alt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 있게 구성</a:t>
            </a:r>
            <a:endParaRPr lang="en-US" sz="800" dirty="0"/>
          </a:p>
        </p:txBody>
      </p:sp>
      <p:sp>
        <p:nvSpPr>
          <p:cNvPr id="209" name="Shape 110">
            <a:extLst>
              <a:ext uri="{FF2B5EF4-FFF2-40B4-BE49-F238E27FC236}">
                <a16:creationId xmlns:a16="http://schemas.microsoft.com/office/drawing/2014/main" id="{A6844950-DADD-8DC3-CA4A-665BD18CB1DD}"/>
              </a:ext>
            </a:extLst>
          </p:cNvPr>
          <p:cNvSpPr/>
          <p:nvPr/>
        </p:nvSpPr>
        <p:spPr>
          <a:xfrm>
            <a:off x="7946136" y="5613951"/>
            <a:ext cx="3429000" cy="502687"/>
          </a:xfrm>
          <a:prstGeom prst="roundRect">
            <a:avLst>
              <a:gd name="adj" fmla="val 6452"/>
            </a:avLst>
          </a:prstGeom>
          <a:solidFill>
            <a:srgbClr val="F4F7FE"/>
          </a:solidFill>
          <a:ln w="9525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Text 111">
            <a:extLst>
              <a:ext uri="{FF2B5EF4-FFF2-40B4-BE49-F238E27FC236}">
                <a16:creationId xmlns:a16="http://schemas.microsoft.com/office/drawing/2014/main" id="{9815D98B-C714-DF48-2984-1EF240D7E80A}"/>
              </a:ext>
            </a:extLst>
          </p:cNvPr>
          <p:cNvSpPr/>
          <p:nvPr/>
        </p:nvSpPr>
        <p:spPr>
          <a:xfrm>
            <a:off x="8092440" y="5727460"/>
            <a:ext cx="3154680" cy="14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3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편의시설 비중이 가장 큼</a:t>
            </a:r>
            <a:endParaRPr lang="en-US" sz="1000" dirty="0"/>
          </a:p>
        </p:txBody>
      </p:sp>
      <p:sp>
        <p:nvSpPr>
          <p:cNvPr id="213" name="Text 112">
            <a:extLst>
              <a:ext uri="{FF2B5EF4-FFF2-40B4-BE49-F238E27FC236}">
                <a16:creationId xmlns:a16="http://schemas.microsoft.com/office/drawing/2014/main" id="{026AC02F-34DC-C7F5-8046-8C351364C6EC}"/>
              </a:ext>
            </a:extLst>
          </p:cNvPr>
          <p:cNvSpPr/>
          <p:nvPr/>
        </p:nvSpPr>
        <p:spPr>
          <a:xfrm>
            <a:off x="8092440" y="5904500"/>
            <a:ext cx="2127185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latin typeface="LINE Seed Sans KR Regular" pitchFamily="34" charset="0"/>
                <a:ea typeface="LINE Seed Sans KR Regular" pitchFamily="34" charset="-122"/>
                <a:cs typeface="LINE Seed Sans KR Regular" pitchFamily="34" charset="-120"/>
              </a:rPr>
              <a:t>전체의 39%(269평) — 제주 47% · 별내 28% 사이</a:t>
            </a:r>
            <a:endParaRPr lang="en-US" sz="800" dirty="0"/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BDD5859B-5147-D2B1-63E8-80148907D4B2}"/>
              </a:ext>
            </a:extLst>
          </p:cNvPr>
          <p:cNvGrpSpPr/>
          <p:nvPr/>
        </p:nvGrpSpPr>
        <p:grpSpPr>
          <a:xfrm>
            <a:off x="8914486" y="2361210"/>
            <a:ext cx="2481067" cy="123111"/>
            <a:chOff x="8732520" y="1922692"/>
            <a:chExt cx="2481067" cy="123111"/>
          </a:xfrm>
        </p:grpSpPr>
        <p:sp>
          <p:nvSpPr>
            <p:cNvPr id="216" name="Shape 4">
              <a:extLst>
                <a:ext uri="{FF2B5EF4-FFF2-40B4-BE49-F238E27FC236}">
                  <a16:creationId xmlns:a16="http://schemas.microsoft.com/office/drawing/2014/main" id="{33573A8F-DEE7-C626-081C-E602F38D955D}"/>
                </a:ext>
              </a:extLst>
            </p:cNvPr>
            <p:cNvSpPr/>
            <p:nvPr/>
          </p:nvSpPr>
          <p:spPr>
            <a:xfrm>
              <a:off x="8732520" y="1938527"/>
              <a:ext cx="91440" cy="91440"/>
            </a:xfrm>
            <a:prstGeom prst="rect">
              <a:avLst/>
            </a:prstGeom>
            <a:solidFill>
              <a:srgbClr val="5A6473"/>
            </a:solidFill>
            <a:ln/>
          </p:spPr>
          <p:txBody>
            <a:bodyPr/>
            <a:lstStyle/>
            <a:p>
              <a:endParaRPr lang="ko-KR" altLang="en-US" sz="800">
                <a:latin typeface="LINE Seed Sans KR Bold" panose="020B0603020203020204" pitchFamily="34" charset="-127"/>
                <a:ea typeface="LINE Seed Sans KR Bold" panose="020B0603020203020204" pitchFamily="34" charset="-127"/>
                <a:cs typeface="LINE Seed Sans KR Bold" panose="020B0603020203020204" pitchFamily="34" charset="-127"/>
              </a:endParaRPr>
            </a:p>
          </p:txBody>
        </p:sp>
        <p:sp>
          <p:nvSpPr>
            <p:cNvPr id="218" name="Text 5">
              <a:extLst>
                <a:ext uri="{FF2B5EF4-FFF2-40B4-BE49-F238E27FC236}">
                  <a16:creationId xmlns:a16="http://schemas.microsoft.com/office/drawing/2014/main" id="{6732E692-E363-676D-FD12-B98E3B3A8B67}"/>
                </a:ext>
              </a:extLst>
            </p:cNvPr>
            <p:cNvSpPr/>
            <p:nvPr/>
          </p:nvSpPr>
          <p:spPr>
            <a:xfrm>
              <a:off x="8860536" y="1922692"/>
              <a:ext cx="205184" cy="1231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7280"/>
                  </a:solidFill>
                  <a:latin typeface="LINE Seed Sans KR Bold" panose="020B0603020203020204" pitchFamily="34" charset="-127"/>
                  <a:ea typeface="LINE Seed Sans KR Bold" panose="020B0603020203020204" pitchFamily="34" charset="-127"/>
                  <a:cs typeface="LINE Seed Sans KR Bold" panose="020B0603020203020204" pitchFamily="34" charset="-127"/>
                </a:rPr>
                <a:t>Jeju</a:t>
              </a:r>
              <a:endParaRPr lang="en-US" sz="800" dirty="0">
                <a:latin typeface="LINE Seed Sans KR Bold" panose="020B0603020203020204" pitchFamily="34" charset="-127"/>
                <a:ea typeface="LINE Seed Sans KR Bold" panose="020B0603020203020204" pitchFamily="34" charset="-127"/>
                <a:cs typeface="LINE Seed Sans KR Bold" panose="020B0603020203020204" pitchFamily="34" charset="-127"/>
              </a:endParaRPr>
            </a:p>
          </p:txBody>
        </p:sp>
        <p:sp>
          <p:nvSpPr>
            <p:cNvPr id="220" name="Shape 6">
              <a:extLst>
                <a:ext uri="{FF2B5EF4-FFF2-40B4-BE49-F238E27FC236}">
                  <a16:creationId xmlns:a16="http://schemas.microsoft.com/office/drawing/2014/main" id="{14D7550A-4270-093E-397E-1FFEF908BEB6}"/>
                </a:ext>
              </a:extLst>
            </p:cNvPr>
            <p:cNvSpPr/>
            <p:nvPr/>
          </p:nvSpPr>
          <p:spPr>
            <a:xfrm>
              <a:off x="9692640" y="1938527"/>
              <a:ext cx="91440" cy="91440"/>
            </a:xfrm>
            <a:prstGeom prst="rect">
              <a:avLst/>
            </a:prstGeom>
            <a:solidFill>
              <a:srgbClr val="E8542F"/>
            </a:solidFill>
            <a:ln/>
          </p:spPr>
          <p:txBody>
            <a:bodyPr/>
            <a:lstStyle/>
            <a:p>
              <a:endParaRPr lang="ko-KR" altLang="en-US" sz="800">
                <a:latin typeface="LINE Seed Sans KR Bold" panose="020B0603020203020204" pitchFamily="34" charset="-127"/>
                <a:ea typeface="LINE Seed Sans KR Bold" panose="020B0603020203020204" pitchFamily="34" charset="-127"/>
                <a:cs typeface="LINE Seed Sans KR Bold" panose="020B0603020203020204" pitchFamily="34" charset="-127"/>
              </a:endParaRPr>
            </a:p>
          </p:txBody>
        </p:sp>
        <p:sp>
          <p:nvSpPr>
            <p:cNvPr id="222" name="Text 7">
              <a:extLst>
                <a:ext uri="{FF2B5EF4-FFF2-40B4-BE49-F238E27FC236}">
                  <a16:creationId xmlns:a16="http://schemas.microsoft.com/office/drawing/2014/main" id="{44282B44-53D2-37C2-853D-55CC99D4AB4B}"/>
                </a:ext>
              </a:extLst>
            </p:cNvPr>
            <p:cNvSpPr/>
            <p:nvPr/>
          </p:nvSpPr>
          <p:spPr>
            <a:xfrm>
              <a:off x="9820656" y="1922692"/>
              <a:ext cx="362279" cy="1231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7280"/>
                  </a:solidFill>
                  <a:latin typeface="LINE Seed Sans KR Bold" panose="020B0603020203020204" pitchFamily="34" charset="-127"/>
                  <a:ea typeface="LINE Seed Sans KR Bold" panose="020B0603020203020204" pitchFamily="34" charset="-127"/>
                  <a:cs typeface="LINE Seed Sans KR Bold" panose="020B0603020203020204" pitchFamily="34" charset="-127"/>
                </a:rPr>
                <a:t>Denver</a:t>
              </a:r>
              <a:endParaRPr lang="en-US" sz="800" dirty="0">
                <a:latin typeface="LINE Seed Sans KR Bold" panose="020B0603020203020204" pitchFamily="34" charset="-127"/>
                <a:ea typeface="LINE Seed Sans KR Bold" panose="020B0603020203020204" pitchFamily="34" charset="-127"/>
                <a:cs typeface="LINE Seed Sans KR Bold" panose="020B0603020203020204" pitchFamily="34" charset="-127"/>
              </a:endParaRPr>
            </a:p>
          </p:txBody>
        </p:sp>
        <p:sp>
          <p:nvSpPr>
            <p:cNvPr id="224" name="Shape 8">
              <a:extLst>
                <a:ext uri="{FF2B5EF4-FFF2-40B4-BE49-F238E27FC236}">
                  <a16:creationId xmlns:a16="http://schemas.microsoft.com/office/drawing/2014/main" id="{C3324C64-E6DA-74B4-9DEA-F50E9AF2CB62}"/>
                </a:ext>
              </a:extLst>
            </p:cNvPr>
            <p:cNvSpPr/>
            <p:nvPr/>
          </p:nvSpPr>
          <p:spPr>
            <a:xfrm>
              <a:off x="10652760" y="1938527"/>
              <a:ext cx="91440" cy="91440"/>
            </a:xfrm>
            <a:prstGeom prst="rect">
              <a:avLst/>
            </a:prstGeom>
            <a:solidFill>
              <a:srgbClr val="9AA5B4"/>
            </a:solidFill>
            <a:ln/>
          </p:spPr>
          <p:txBody>
            <a:bodyPr/>
            <a:lstStyle/>
            <a:p>
              <a:endParaRPr lang="ko-KR" altLang="en-US" sz="800">
                <a:latin typeface="LINE Seed Sans KR Bold" panose="020B0603020203020204" pitchFamily="34" charset="-127"/>
                <a:ea typeface="LINE Seed Sans KR Bold" panose="020B0603020203020204" pitchFamily="34" charset="-127"/>
                <a:cs typeface="LINE Seed Sans KR Bold" panose="020B0603020203020204" pitchFamily="34" charset="-127"/>
              </a:endParaRPr>
            </a:p>
          </p:txBody>
        </p:sp>
        <p:sp>
          <p:nvSpPr>
            <p:cNvPr id="226" name="Text 9">
              <a:extLst>
                <a:ext uri="{FF2B5EF4-FFF2-40B4-BE49-F238E27FC236}">
                  <a16:creationId xmlns:a16="http://schemas.microsoft.com/office/drawing/2014/main" id="{8A97AE51-31D5-6670-BC31-714BDFBF39C1}"/>
                </a:ext>
              </a:extLst>
            </p:cNvPr>
            <p:cNvSpPr/>
            <p:nvPr/>
          </p:nvSpPr>
          <p:spPr>
            <a:xfrm>
              <a:off x="10780776" y="1922692"/>
              <a:ext cx="432811" cy="1231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7280"/>
                  </a:solidFill>
                  <a:latin typeface="LINE Seed Sans KR Bold" panose="020B0603020203020204" pitchFamily="34" charset="-127"/>
                  <a:ea typeface="LINE Seed Sans KR Bold" panose="020B0603020203020204" pitchFamily="34" charset="-127"/>
                  <a:cs typeface="LINE Seed Sans KR Bold" panose="020B0603020203020204" pitchFamily="34" charset="-127"/>
                </a:rPr>
                <a:t>Byeollae</a:t>
              </a:r>
              <a:endParaRPr lang="en-US" sz="800" dirty="0">
                <a:latin typeface="LINE Seed Sans KR Bold" panose="020B0603020203020204" pitchFamily="34" charset="-127"/>
                <a:ea typeface="LINE Seed Sans KR Bold" panose="020B0603020203020204" pitchFamily="34" charset="-127"/>
                <a:cs typeface="LINE Seed Sans KR Bold" panose="020B0603020203020204" pitchFamily="34" charset="-127"/>
              </a:endParaRPr>
            </a:p>
          </p:txBody>
        </p:sp>
      </p:grpSp>
      <p:sp>
        <p:nvSpPr>
          <p:cNvPr id="231" name="object 13">
            <a:extLst>
              <a:ext uri="{FF2B5EF4-FFF2-40B4-BE49-F238E27FC236}">
                <a16:creationId xmlns:a16="http://schemas.microsoft.com/office/drawing/2014/main" id="{E7FB23A1-E198-ADF5-1AD9-1DD5D2DC2D45}"/>
              </a:ext>
            </a:extLst>
          </p:cNvPr>
          <p:cNvSpPr txBox="1"/>
          <p:nvPr/>
        </p:nvSpPr>
        <p:spPr>
          <a:xfrm>
            <a:off x="719665" y="740833"/>
            <a:ext cx="900888" cy="167452"/>
          </a:xfrm>
          <a:prstGeom prst="rect">
            <a:avLst/>
          </a:prstGeom>
          <a:noFill/>
        </p:spPr>
        <p:txBody>
          <a:bodyPr vert="horz" wrap="none" lIns="0" tIns="13433" rIns="0" bIns="0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LINE Seed Sans KR Regular" panose="020B0603020203020204" pitchFamily="34" charset="-127"/>
                <a:ea typeface="LINE Seed Sans KR Regular" panose="020B0603020203020204" pitchFamily="34" charset="-127"/>
                <a:cs typeface="LINE Seed Sans KR Regular" panose="020B0603020203020204" pitchFamily="34" charset="-127"/>
              </a:rPr>
              <a:t>space curation</a:t>
            </a:r>
          </a:p>
        </p:txBody>
      </p:sp>
    </p:spTree>
    <p:extLst>
      <p:ext uri="{BB962C8B-B14F-4D97-AF65-F5344CB8AC3E}">
        <p14:creationId xmlns:p14="http://schemas.microsoft.com/office/powerpoint/2010/main" val="93000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9813-32E5-6A5B-9F25-BDEFA484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E8542F"/>
                </a:solidFill>
                <a:latin typeface="LINE Seed Sans KR Bold"/>
                <a:ea typeface="LINE Seed Sans KR Bold"/>
                <a:cs typeface="LINE Seed Sans KR Bold"/>
              </a:rPr>
              <a:t>OPERATION · 수용 인원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얼마나 들어가야 ‘쾌적’한가 — 최대 운영 인원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LINE Seed Sans KR Regular"/>
                <a:ea typeface="LINE Seed Sans KR Regular"/>
                <a:cs typeface="LINE Seed Sans KR Regular"/>
              </a:rPr>
              <a:t>법정 정원이 아니라 </a:t>
            </a:r>
            <a:r>
              <a:rPr sz="130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실제 쾌적 운영 상한</a:t>
            </a:r>
            <a:r>
              <a:rPr sz="1300" b="0">
                <a:solidFill>
                  <a:srgbClr val="6B7280"/>
                </a:solidFill>
                <a:latin typeface="LINE Seed Sans KR Regular"/>
                <a:ea typeface="LINE Seed Sans KR Regular"/>
                <a:cs typeface="LINE Seed Sans KR Regular"/>
              </a:rPr>
              <a:t>입니다. 제주·별내의 실측 판단값(면적당 인원)으로 SouthGlenn을 보간했습니다. 세 지점 모두 </a:t>
            </a:r>
            <a:r>
              <a:rPr sz="130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실내 총면적(1F+2F) 기준</a:t>
            </a:r>
            <a:r>
              <a:rPr sz="1300" b="0">
                <a:solidFill>
                  <a:srgbClr val="6B7280"/>
                </a:solidFill>
                <a:latin typeface="LINE Seed Sans KR Regular"/>
                <a:ea typeface="LINE Seed Sans KR Regular"/>
                <a:cs typeface="LINE Seed Sans KR Regular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8001000" cy="4023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19202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1938528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제주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5736" y="1938528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8542F"/>
                </a:solidFill>
                <a:latin typeface="LINE Seed Sans KR Bold"/>
                <a:ea typeface="LINE Seed Sans KR Bold"/>
                <a:cs typeface="LINE Seed Sans KR Bold"/>
              </a:rPr>
              <a:t>SouthGlenn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5" y="1938528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별내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340864"/>
            <a:ext cx="1965960" cy="2907792"/>
          </a:xfrm>
          <a:prstGeom prst="rect">
            <a:avLst/>
          </a:prstGeom>
          <a:solidFill>
            <a:srgbClr val="FD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8001000" cy="48463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40864"/>
            <a:ext cx="1920239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실내 총면적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40864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1,215평 / 4,017㎡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340864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3A18"/>
                </a:solidFill>
                <a:latin typeface="LINE Seed Sans KR Bold"/>
                <a:ea typeface="LINE Seed Sans KR Bold"/>
                <a:cs typeface="LINE Seed Sans KR Bold"/>
              </a:rPr>
              <a:t>857평 / 2,834㎡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5" y="2340864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578평 / 1,910㎡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825496"/>
            <a:ext cx="1920239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층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825496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1F 1,055 + 2F 160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825496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3A18"/>
                </a:solidFill>
                <a:latin typeface="LINE Seed Sans KR Bold"/>
                <a:ea typeface="LINE Seed Sans KR Bold"/>
                <a:cs typeface="LINE Seed Sans KR Bold"/>
              </a:rPr>
              <a:t>단층 857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5" y="2825496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1F 241 + 2F 337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10128"/>
            <a:ext cx="8001000" cy="48463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310128"/>
            <a:ext cx="1920239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최대 인원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3310128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900명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310128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E8542F"/>
                </a:solidFill>
                <a:latin typeface="LINE Seed Sans KR Bold"/>
                <a:ea typeface="LINE Seed Sans KR Bold"/>
                <a:cs typeface="LINE Seed Sans KR Bold"/>
              </a:rPr>
              <a:t>615명 (추정)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5" y="3310128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400명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794760"/>
            <a:ext cx="1920239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1인당 면적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9776" y="3794760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1.35평 / 4.46㎡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3794760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3A18"/>
                </a:solidFill>
                <a:latin typeface="LINE Seed Sans KR Bold"/>
                <a:ea typeface="LINE Seed Sans KR Bold"/>
                <a:cs typeface="LINE Seed Sans KR Bold"/>
              </a:rPr>
              <a:t>1.39평 / 4.61㎡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5" y="3794760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1.44평 / 4.78㎡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79392"/>
            <a:ext cx="8001000" cy="484632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279392"/>
            <a:ext cx="1920239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평당 인원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9776" y="4279392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0.74 인/평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5736" y="4279392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3A18"/>
                </a:solidFill>
                <a:latin typeface="LINE Seed Sans KR Bold"/>
                <a:ea typeface="LINE Seed Sans KR Bold"/>
                <a:cs typeface="LINE Seed Sans KR Bold"/>
              </a:rPr>
              <a:t>0.72 인/평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5" y="4279392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0.69 인/평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764024"/>
            <a:ext cx="1920239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산정 근거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9776" y="4764024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실측 판단값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4764024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B03A18"/>
                </a:solidFill>
                <a:latin typeface="LINE Seed Sans KR Bold"/>
                <a:ea typeface="LINE Seed Sans KR Bold"/>
                <a:cs typeface="LINE Seed Sans KR Bold"/>
              </a:rPr>
              <a:t>보간 추정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5" y="4764024"/>
            <a:ext cx="17830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53A45"/>
                </a:solidFill>
                <a:latin typeface="LINE Seed Sans KR Regular"/>
                <a:ea typeface="LINE Seed Sans KR Regular"/>
                <a:cs typeface="LINE Seed Sans KR Regular"/>
              </a:rPr>
              <a:t>실측 판단값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1938528"/>
            <a:ext cx="2423160" cy="21488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21214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120">
                <a:solidFill>
                  <a:srgbClr val="E8542F"/>
                </a:solidFill>
                <a:latin typeface="LINE Seed Sans KR Bold"/>
                <a:ea typeface="LINE Seed Sans KR Bold"/>
                <a:cs typeface="LINE Seed Sans KR Bold"/>
              </a:rPr>
              <a:t>SOUTHGLENN 최대 운영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2441448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615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33101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3511296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4"/>
                </a:solidFill>
                <a:latin typeface="LINE Seed Sans KR Regular"/>
                <a:ea typeface="LINE Seed Sans KR Regular"/>
                <a:cs typeface="LINE Seed Sans KR Regular"/>
              </a:rPr>
              <a:t>정상 목표 520~560명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AA5B4"/>
                </a:solidFill>
                <a:latin typeface="LINE Seed Sans KR Regular"/>
                <a:ea typeface="LINE Seed Sans KR Regular"/>
                <a:cs typeface="LINE Seed Sans KR Regular"/>
              </a:rPr>
              <a:t>절대 상한 660명 (단시간)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22452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E8542F"/>
                </a:solidFill>
                <a:latin typeface="LINE Seed Sans KR Bold"/>
                <a:ea typeface="LINE Seed Sans KR Bold"/>
                <a:cs typeface="LINE Seed Sans KR Bold"/>
              </a:rPr>
              <a:t>보간 결과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B7280"/>
                </a:solidFill>
                <a:latin typeface="LINE Seed Sans KR Regular"/>
                <a:ea typeface="LINE Seed Sans KR Regular"/>
                <a:cs typeface="LINE Seed Sans KR Regular"/>
              </a:rPr>
              <a:t>선형 619 · 멱함수 615 · 평균 614명 → </a:t>
            </a:r>
            <a:r>
              <a:rPr sz="1100" b="1">
                <a:solidFill>
                  <a:srgbClr val="1A1A1A"/>
                </a:solidFill>
                <a:latin typeface="LINE Seed Sans KR Bold"/>
                <a:ea typeface="LINE Seed Sans KR Bold"/>
                <a:cs typeface="LINE Seed Sans KR Bold"/>
              </a:rPr>
              <a:t>615명 수렴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504688"/>
            <a:ext cx="8001000" cy="841248"/>
          </a:xfrm>
          <a:prstGeom prst="rect">
            <a:avLst/>
          </a:prstGeom>
          <a:solidFill>
            <a:srgbClr val="FD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632704"/>
            <a:ext cx="7543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2810"/>
                </a:solidFill>
                <a:latin typeface="LINE Seed Sans KR Bold"/>
                <a:ea typeface="LINE Seed Sans KR Bold"/>
                <a:cs typeface="LINE Seed Sans KR Bold"/>
              </a:rPr>
              <a:t>법정 정원(846명) 대비 73% — 쾌적 한계가 먼저 걸립니다.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8A3A18"/>
                </a:solidFill>
                <a:latin typeface="LINE Seed Sans KR Regular"/>
                <a:ea typeface="LINE Seed Sans KR Regular"/>
                <a:cs typeface="LINE Seed Sans KR Regular"/>
              </a:rPr>
              <a:t>법정 A안 846명 / B안 1,343명 협의는 안전 여유일 뿐, 운영은 615명에서 막으므로 A안 협의로 손해 없음. </a:t>
            </a:r>
            <a:r>
              <a:rPr sz="1150" b="1">
                <a:solidFill>
                  <a:srgbClr val="7A2810"/>
                </a:solidFill>
                <a:latin typeface="LINE Seed Sans KR Bold"/>
                <a:ea typeface="LINE Seed Sans KR Bold"/>
                <a:cs typeface="LINE Seed Sans KR Bold"/>
              </a:rPr>
              <a:t>단, 화장실·공조는 게시 정원(846명) 기준으로 설계.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56539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A5B4"/>
                </a:solidFill>
                <a:latin typeface="LINE Seed Sans KR Regular"/>
                <a:ea typeface="LINE Seed Sans KR Regular"/>
                <a:cs typeface="LINE Seed Sans KR Regular"/>
              </a:rPr>
              <a:t>근거: 제주·별내 도면 실측(그리드 축척 보정) · SouthGlenn 실내 총면적 857평(30,530 SF) · 1인당 면적 보간 · 615명은 개략 추정치, 최종 운영정책으로 확정</a:t>
            </a:r>
          </a:p>
        </p:txBody>
      </p:sp>
    </p:spTree>
    <p:extLst>
      <p:ext uri="{BB962C8B-B14F-4D97-AF65-F5344CB8AC3E}">
        <p14:creationId xmlns:p14="http://schemas.microsoft.com/office/powerpoint/2010/main" val="186391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2">
      <a:majorFont>
        <a:latin typeface="Calibri Light"/>
        <a:ea typeface="LINE Seed Sans KR Regular"/>
        <a:cs typeface=""/>
      </a:majorFont>
      <a:minorFont>
        <a:latin typeface="Calibri"/>
        <a:ea typeface="LINE Seed Sans KR Regular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30234</TotalTime>
  <Words>471</Words>
  <Application>Microsoft Office PowerPoint</Application>
  <PresentationFormat>와이드스크린</PresentationFormat>
  <Paragraphs>130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Calibri Light</vt:lpstr>
      <vt:lpstr>LINE Seed Sans KR Regular</vt:lpstr>
      <vt:lpstr>맑은 고딕</vt:lpstr>
      <vt:lpstr>Arial</vt:lpstr>
      <vt:lpstr>LINE Seed Sans KR Bold</vt:lpstr>
      <vt:lpstr>Calibri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한지연</dc:creator>
  <cp:lastModifiedBy>Su-jeong Lee (DSKR-이수정)</cp:lastModifiedBy>
  <cp:revision>796</cp:revision>
  <dcterms:created xsi:type="dcterms:W3CDTF">2022-05-06T02:30:22Z</dcterms:created>
  <dcterms:modified xsi:type="dcterms:W3CDTF">2026-08-28T08:16:17Z</dcterms:modified>
</cp:coreProperties>
</file>