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3" r:id="rId1"/>
  </p:sldMasterIdLst>
  <p:notesMasterIdLst>
    <p:notesMasterId r:id="rId6"/>
  </p:notesMasterIdLst>
  <p:sldIdLst>
    <p:sldId id="4399" r:id="rId15"/>
  </p:sldIdLst>
  <p:sldSz cx="12192000" cy="6858000"/>
  <p:notesSz cx="6858000" cy="9144000"/>
  <p:embeddedFontLst>
    <p:embeddedFont>
      <p:font typeface="LINE Seed Sans KR Bold" panose="020B0603020203020204" pitchFamily="34" charset="-127"/>
      <p:bold r:id="rId7"/>
    </p:embeddedFont>
    <p:embeddedFont>
      <p:font typeface="LINE Seed Sans KR Regular" panose="020B0603020203020204" pitchFamily="34" charset="-127"/>
      <p:regular r:id="rId8"/>
    </p:embeddedFont>
    <p:embeddedFont>
      <p:font typeface="맑은 고딕" panose="020B0503020000020004" pitchFamily="50" charset="-127"/>
      <p:regular r:id="rId9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1616" userDrawn="1">
          <p15:clr>
            <a:srgbClr val="A4A3A4"/>
          </p15:clr>
        </p15:guide>
        <p15:guide id="12" pos="721" userDrawn="1">
          <p15:clr>
            <a:srgbClr val="A4A3A4"/>
          </p15:clr>
        </p15:guide>
        <p15:guide id="13" pos="6947" userDrawn="1">
          <p15:clr>
            <a:srgbClr val="A4A3A4"/>
          </p15:clr>
        </p15:guide>
        <p15:guide id="16" orient="horz" pos="1139" userDrawn="1">
          <p15:clr>
            <a:srgbClr val="A4A3A4"/>
          </p15:clr>
        </p15:guide>
        <p15:guide id="18" pos="2525" userDrawn="1">
          <p15:clr>
            <a:srgbClr val="A4A3A4"/>
          </p15:clr>
        </p15:guide>
        <p15:guide id="19" orient="horz" pos="20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300"/>
    <a:srgbClr val="0065B2"/>
    <a:srgbClr val="EF560C"/>
    <a:srgbClr val="FBAE40"/>
    <a:srgbClr val="FBFBFB"/>
    <a:srgbClr val="6B7280"/>
    <a:srgbClr val="2F7BEA"/>
    <a:srgbClr val="00AA00"/>
    <a:srgbClr val="FF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88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900" y="102"/>
      </p:cViewPr>
      <p:guideLst>
        <p:guide orient="horz" pos="4065"/>
        <p:guide orient="horz" pos="346"/>
        <p:guide orient="horz" pos="1616"/>
        <p:guide pos="721"/>
        <p:guide pos="6947"/>
        <p:guide orient="horz" pos="1139"/>
        <p:guide pos="2525"/>
        <p:guide orient="horz" pos="200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848"/>
    </p:cViewPr>
  </p:sorter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45B9C-CEC5-46C5-8236-4C42941CDC25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2EBA-5D8A-4E8B-9829-3F57D06613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0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95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32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세로 제목 및 텍스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581889-1FD5-D8BB-64FC-69FE199E98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1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E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7610A44-286A-998E-A774-C0D6A5AFA7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rgbClr val="FFA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B9D3AA9-9B5D-D633-8A12-44FCD40414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4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rgbClr val="005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E441782-31E0-5203-0CD2-AF7B49419F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28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80C905-6D29-9466-BC37-28176ECBB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7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80C905-6D29-9466-BC37-28176ECBB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9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0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35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rgbClr val="D7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38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7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5" r:id="rId2"/>
    <p:sldLayoutId id="2147483679" r:id="rId3"/>
    <p:sldLayoutId id="2147483660" r:id="rId4"/>
    <p:sldLayoutId id="2147483663" r:id="rId5"/>
    <p:sldLayoutId id="2147483664" r:id="rId6"/>
    <p:sldLayoutId id="2147483666" r:id="rId7"/>
    <p:sldLayoutId id="2147483701" r:id="rId8"/>
    <p:sldLayoutId id="2147483682" r:id="rId9"/>
    <p:sldLayoutId id="2147483698" r:id="rId10"/>
    <p:sldLayoutId id="214748370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twinkl.com/news/process-vs-product-art-which-best-suits-children-in-the-eyfs" TargetMode="External"/><Relationship Id="rId3" Type="http://schemas.openxmlformats.org/officeDocument/2006/relationships/hyperlink" Target="https://www.mcny.org/mcny-kids-art-studio" TargetMode="External"/><Relationship Id="rId4" Type="http://schemas.openxmlformats.org/officeDocument/2006/relationships/hyperlink" Target="https://news.utoledo.edu/index.php/12_18_2017/fewer-toys-lead-to-richer-play-experiences-ut-researchers-find" TargetMode="External"/><Relationship Id="rId5" Type="http://schemas.openxmlformats.org/officeDocument/2006/relationships/hyperlink" Target="https://ideas.repec.org/a/oup/jconrs/v37y2010i3p409-425.html" TargetMode="External"/><Relationship Id="rId6" Type="http://schemas.openxmlformats.org/officeDocument/2006/relationships/hyperlink" Target="https://iaorifors.com/paper/37155" TargetMode="External"/><Relationship Id="rId7" Type="http://schemas.openxmlformats.org/officeDocument/2006/relationships/hyperlink" Target="https://www.psychologicalscience.org/news/releases/heavily-decorated-classrooms-disrupt-attention-and-learning-in-young-children.html" TargetMode="External"/><Relationship Id="rId8" Type="http://schemas.openxmlformats.org/officeDocument/2006/relationships/hyperlink" Target="https://pmc.ncbi.nlm.nih.gov/articles/PMC3757288" TargetMode="External"/><Relationship Id="rId9" Type="http://schemas.openxmlformats.org/officeDocument/2006/relationships/hyperlink" Target="https://www.pinnaclepres.org/the-role-of-the-atelierista" TargetMode="External"/><Relationship Id="rId10" Type="http://schemas.openxmlformats.org/officeDocument/2006/relationships/hyperlink" Target="https://scanmagazine.co.uk/lego-house-housing-creativity/" TargetMode="External"/><Relationship Id="rId11" Type="http://schemas.openxmlformats.org/officeDocument/2006/relationships/hyperlink" Target="https://www.commonsense.org/education/app/artsonia-kids-art-museum" TargetMode="External"/><Relationship Id="rId12" Type="http://schemas.openxmlformats.org/officeDocument/2006/relationships/hyperlink" Target="https://www.ecfr.gov/current/title-16/chapter-I/subchapter-C/part-312" TargetMode="Externa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5" name="TextBox 194">
            <a:extLst>
              <a:ext uri="{FF2B5EF4-FFF2-40B4-BE49-F238E27FC236}">
                <a16:creationId xmlns:a16="http://schemas.microsoft.com/office/drawing/2014/main" id="{9F7143B7-4B0E-94D9-5D63-906AAFB0BFE2}"/>
              </a:ext>
            </a:extLst>
          </p:cNvPr>
          <p:cNvSpPr txBox="1"/>
          <p:nvPr/>
        </p:nvSpPr>
        <p:spPr>
          <a:xfrm>
            <a:off x="1134220" y="508796"/>
            <a:ext cx="1154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experience zone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0E1D8AE-FEE1-0621-3A3E-2634DF07B78E}"/>
              </a:ext>
            </a:extLst>
          </p:cNvPr>
          <p:cNvSpPr txBox="1"/>
          <p:nvPr/>
        </p:nvSpPr>
        <p:spPr>
          <a:xfrm>
            <a:off x="1045371" y="1134429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000000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Immersion Design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DCA4294-5BE4-7705-0422-06501C6DC913}"/>
              </a:ext>
            </a:extLst>
          </p:cNvPr>
          <p:cNvSpPr txBox="1"/>
          <p:nvPr/>
        </p:nvSpPr>
        <p:spPr>
          <a:xfrm>
            <a:off x="1047752" y="1704914"/>
            <a:ext cx="960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몰입을 만드는 환경</a:t>
            </a:r>
            <a:r>
              <a:rPr lang="ko-KR" altLang="en-US" sz="1200" dirty="0">
                <a:latin typeface="+mj-ea"/>
                <a:ea typeface="+mj-ea"/>
              </a:rPr>
              <a:t>과 </a:t>
            </a:r>
            <a:r>
              <a:rPr lang="ko-KR" altLang="en-US" sz="1200" dirty="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작품이 남는 구조</a:t>
            </a:r>
            <a:r>
              <a:rPr lang="ko-KR" altLang="en-US" sz="1200" dirty="0">
                <a:latin typeface="+mj-ea"/>
                <a:ea typeface="+mj-ea"/>
              </a:rPr>
              <a:t>(제안 · 현장 시험으로 확인 필요)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22960" y="2103120"/>
            <a:ext cx="525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Immersion Design</a:t>
            </a:r>
            <a:r>
              <a:rPr sz="9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   몰입을 만드는 환경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22960" y="2395727"/>
            <a:ext cx="52578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932688" y="2505456"/>
            <a:ext cx="384048" cy="384048"/>
          </a:xfrm>
          <a:prstGeom prst="ellipse">
            <a:avLst/>
          </a:prstGeom>
          <a:solidFill>
            <a:srgbClr val="006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32688" y="25054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01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444752" y="2450591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끝을 정하지 않기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5239512" y="2468879"/>
            <a:ext cx="731520" cy="182880"/>
          </a:xfrm>
          <a:prstGeom prst="roundRect">
            <a:avLst>
              <a:gd name="adj" fmla="val 3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5239512" y="2468879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근거 약함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444752" y="2670047"/>
            <a:ext cx="4526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정답과 완성 기준 없이 원하는 만큼 확장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32688" y="2916935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73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근거  </a:t>
            </a:r>
            <a:r>
              <a:rPr sz="73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통제 비교 연구는 찾지 못함. 교육 실무 글은 과정 중심을 권하지만, 도구 · 재료를 모르는 아이에게는 제약이 될 수 있어 혼합을 권함  </a:t>
            </a:r>
            <a:r>
              <a:rPr sz="73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2"/>
              </a:rPr>
              <a:t>Twinkl  ·  </a:t>
            </a:r>
            <a:r>
              <a:rPr sz="73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3"/>
              </a:rPr>
              <a:t>MCNY(자유 재료)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822960" y="3346703"/>
            <a:ext cx="52578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2688" y="3456432"/>
            <a:ext cx="384048" cy="384048"/>
          </a:xfrm>
          <a:prstGeom prst="ellipse">
            <a:avLst/>
          </a:prstGeom>
          <a:solidFill>
            <a:srgbClr val="006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32688" y="345643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02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444752" y="340156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재료는 단순하게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5239512" y="3419856"/>
            <a:ext cx="731520" cy="182880"/>
          </a:xfrm>
          <a:prstGeom prst="roundRect">
            <a:avLst>
              <a:gd name="adj" fmla="val 30000"/>
            </a:avLst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239512" y="341985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근거 중간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4752" y="3621023"/>
            <a:ext cx="4526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선택지를 과도하게 늘리지 않아 창작에 집중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932688" y="3867911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73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근거  </a:t>
            </a:r>
            <a:r>
              <a:rPr sz="73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18–30개월 36명 실험: 장난감 4개가 16개보다 놀이의 질이 높음(소규모, 영유아). 선택 과부하 메타분석은 평균 효과 거의 0  </a:t>
            </a:r>
            <a:r>
              <a:rPr sz="73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4"/>
              </a:rPr>
              <a:t>UToledo  ·  </a:t>
            </a:r>
            <a:r>
              <a:rPr sz="73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5"/>
              </a:rPr>
              <a:t>Scheibehenne 2010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22960" y="4297679"/>
            <a:ext cx="52578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32688" y="4407407"/>
            <a:ext cx="384048" cy="384048"/>
          </a:xfrm>
          <a:prstGeom prst="ellipse">
            <a:avLst/>
          </a:prstGeom>
          <a:solidFill>
            <a:srgbClr val="006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932688" y="440740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03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444752" y="4352543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기다림 줄이기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239512" y="4370831"/>
            <a:ext cx="731520" cy="182880"/>
          </a:xfrm>
          <a:prstGeom prst="roundRect">
            <a:avLst>
              <a:gd name="adj" fmla="val 30000"/>
            </a:avLst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5239512" y="4370831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근거 간접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444752" y="4571999"/>
            <a:ext cx="4526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바로 시작하고 이어서 만들 수 있는 운영 구조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32688" y="4818888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73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근거  </a:t>
            </a:r>
            <a:r>
              <a:rPr sz="73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어린이 박물관의 대기와 만족을 직접 본 연구는 찾지 못함. 레저 대기가 이용자 기분 · 만족에 미치는 영향 연구는 있음(아이 · 박물관 대상 아님, 초록만 확인)  </a:t>
            </a:r>
            <a:r>
              <a:rPr sz="73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6"/>
              </a:rPr>
              <a:t>JPRA 2000 초록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822960" y="5248656"/>
            <a:ext cx="52578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32688" y="5358384"/>
            <a:ext cx="384048" cy="384048"/>
          </a:xfrm>
          <a:prstGeom prst="ellipse">
            <a:avLst/>
          </a:prstGeom>
          <a:solidFill>
            <a:srgbClr val="0065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932688" y="53583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04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444752" y="5303520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시선 · 소리 분리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5239512" y="5321808"/>
            <a:ext cx="731520" cy="182880"/>
          </a:xfrm>
          <a:prstGeom prst="roundRect">
            <a:avLst>
              <a:gd name="adj" fmla="val 30000"/>
            </a:avLst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239512" y="532180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근거 중간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444752" y="5522976"/>
            <a:ext cx="4526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주변 자극을 줄여 작업에 머무는 환경 조성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32688" y="5769864"/>
            <a:ext cx="5038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73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근거  </a:t>
            </a:r>
            <a:r>
              <a:rPr sz="73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유치원생 24명 실험: 장식이 많은 교실에서 주의 분산 · 학습 저하. 소음은 아이의 인지 수행을 해친다는 리뷰(효과는 대체로 작음)  </a:t>
            </a:r>
            <a:r>
              <a:rPr sz="73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7"/>
              </a:rPr>
              <a:t>APS 보도자료  ·  </a:t>
            </a:r>
            <a:r>
              <a:rPr sz="73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8"/>
              </a:rPr>
              <a:t>Klatte 외 2013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263640" y="2103120"/>
            <a:ext cx="5074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Archive Design</a:t>
            </a:r>
            <a:r>
              <a:rPr sz="9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   작품이 되는 4단계 · 근거 사례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263640" y="2395727"/>
            <a:ext cx="5074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6355079" y="2487168"/>
            <a:ext cx="320040" cy="320040"/>
          </a:xfrm>
          <a:prstGeom prst="ellipse">
            <a:avLst/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355079" y="248716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1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766559" y="2441447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만든다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8001000" y="2432303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8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자유 창작, 만드는 장면도 사진으로 남김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Reggio: 사진 · 아이의 말 · 작품으로 과정을 기록  </a:t>
            </a:r>
            <a:r>
              <a:rPr sz="7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9"/>
              </a:rPr>
              <a:t>Pinnacle Presbyterian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263640" y="2962656"/>
            <a:ext cx="5074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355079" y="3054096"/>
            <a:ext cx="320040" cy="320040"/>
          </a:xfrm>
          <a:prstGeom prst="ellipse">
            <a:avLst/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79" y="30540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2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766559" y="3008375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작품이 된다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001000" y="299923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8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작품 카드(번호 · QR · 날짜 · 재료)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LEGO House: 입장 때 받은 손목밴드에 창작물 기록  </a:t>
            </a:r>
            <a:r>
              <a:rPr sz="7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0"/>
              </a:rPr>
              <a:t>SCAN Magazine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6263640" y="3529583"/>
            <a:ext cx="5074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355079" y="3621023"/>
            <a:ext cx="320040" cy="320040"/>
          </a:xfrm>
          <a:prstGeom prst="ellipse">
            <a:avLst/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6355079" y="3621023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3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766559" y="3575303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전시 · 선택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001000" y="35661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8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실물은 선반, 디지털은 월. 가져가기 / 두고 가기를 아이가 선택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MCNY: 가져가거나 두고 가서 다른 방문자에게 전시  </a:t>
            </a:r>
            <a:r>
              <a:rPr sz="7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3"/>
              </a:rPr>
              <a:t>MCNY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6263640" y="4096511"/>
            <a:ext cx="5074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6355079" y="4187951"/>
            <a:ext cx="320040" cy="320040"/>
          </a:xfrm>
          <a:prstGeom prst="ellipse">
            <a:avLst/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355079" y="4187951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4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766559" y="4142231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다시 만난다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8001000" y="4133087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8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QR로 기록 확인, 다음 방문에 이어 만들기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Artsonia: 작품이 쌓이는 온라인 아카이브, 가족이 보고 댓글  </a:t>
            </a:r>
            <a:r>
              <a:rPr sz="7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1"/>
              </a:rPr>
              <a:t>Common Sense Education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263640" y="4663440"/>
            <a:ext cx="5074920" cy="566928"/>
          </a:xfrm>
          <a:prstGeom prst="roundRect">
            <a:avLst>
              <a:gd name="adj" fmla="val 5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373368" y="4709159"/>
            <a:ext cx="485546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E41E2E"/>
                </a:solidFill>
                <a:latin typeface="LINE Seed Sans KR Bold"/>
                <a:ea typeface="LINE Seed Sans KR Bold"/>
                <a:cs typeface="LINE Seed Sans KR Bold"/>
              </a:rPr>
              <a:t>＋ 보관 전 동의 </a:t>
            </a:r>
          </a:p>
          <a:p>
            <a:pPr>
              <a:spcAft>
                <a:spcPts val="100"/>
              </a:spcAft>
            </a:pP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미국은 13세 미만 아이의 사진 · 영상 수집에 부모 동의가 필요할 수 있음(COPPA). 현행 조문과 적용 범위는 법무 확인 필요  </a:t>
            </a:r>
            <a:r>
              <a:rPr sz="75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12"/>
              </a:rPr>
              <a:t>16 CFR 312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263640" y="530352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FF8000"/>
                </a:solidFill>
                <a:latin typeface="LINE Seed Sans KR Bold"/>
                <a:ea typeface="LINE Seed Sans KR Bold"/>
                <a:cs typeface="LINE Seed Sans KR Bold"/>
              </a:rPr>
              <a:t>3겹의 보관</a:t>
            </a:r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   제안 구조(근거 사례 없음)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6263640" y="5550408"/>
            <a:ext cx="1618487" cy="475488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336792" y="5577840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8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1겹 · 오늘의 월</a:t>
            </a:r>
          </a:p>
          <a:p>
            <a:pPr>
              <a:spcAft>
                <a:spcPts val="100"/>
              </a:spcAft>
            </a:pPr>
            <a:r>
              <a:rPr sz="73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공동 화면, 하루 한 장 저장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955279" y="5550408"/>
            <a:ext cx="1618487" cy="475488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028431" y="5577840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8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2겹 · 내 도감</a:t>
            </a:r>
          </a:p>
          <a:p>
            <a:pPr>
              <a:spcAft>
                <a:spcPts val="100"/>
              </a:spcAft>
            </a:pPr>
            <a:r>
              <a:rPr sz="73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개인, QR 카드로 모임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9646919" y="5550408"/>
            <a:ext cx="1618487" cy="475488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720072" y="5577840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8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3겹 · 시즌 컬렉션</a:t>
            </a:r>
          </a:p>
          <a:p>
            <a:pPr>
              <a:spcAft>
                <a:spcPts val="100"/>
              </a:spcAft>
            </a:pPr>
            <a:r>
              <a:rPr sz="73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공동, 대형 전시 · 파사드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22960" y="629107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E41E2E"/>
                </a:solidFill>
                <a:latin typeface="LINE Seed Sans KR Bold"/>
                <a:ea typeface="LINE Seed Sans KR Bold"/>
                <a:cs typeface="LINE Seed Sans KR Bold"/>
              </a:rPr>
              <a:t>근거 수준  </a:t>
            </a:r>
            <a:r>
              <a:rPr sz="78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중간 = 아이 대상 통제 실험이 있으나 연령 · 환경이 다름(영유아 · 유치원 · 실험실)  /  간접 · 약함 = 인접 연구 또는 실무 글뿐. 5–10세 창작 공방에서 이 4가지를 직접 검증한 연구는 찾지 못해, 현장 시험(몰입 시간 · 선택 포기율 · 대기 시간 · 이탈 횟수)으로 확인이 필요합니다.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te">
      <a:majorFont>
        <a:latin typeface="LINE Seed Sans KR Regular"/>
        <a:ea typeface="LINE Seed Sans KR Regular"/>
        <a:cs typeface=""/>
      </a:majorFont>
      <a:minorFont>
        <a:latin typeface="LINE Seed Sans KR Regular"/>
        <a:ea typeface="LINE Seed Sans KR Thin"/>
        <a:cs typeface="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F9B17B8-1924-4988-A0C4-97074C3EFB85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18e273cb-12ab-4a62-8d7a-98d5d1316c4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521ED2F-E1D9-433D-AA47-6AC16B2DDA11}">
  <we:reference id="wa200005566" version="3.0.0.3" store="ko-K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77396</TotalTime>
  <Words>1090</Words>
  <Application>Microsoft Office PowerPoint</Application>
  <PresentationFormat>와이드스크린</PresentationFormat>
  <Paragraphs>136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LINE Seed Sans KR Regular</vt:lpstr>
      <vt:lpstr>LINE Seed Sans KR Bold</vt:lpstr>
      <vt:lpstr>맑은 고딕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한지연</dc:creator>
  <cp:lastModifiedBy>Su-jeong Lee (DSKR-이수정)</cp:lastModifiedBy>
  <cp:revision>992</cp:revision>
  <dcterms:created xsi:type="dcterms:W3CDTF">2022-05-06T02:30:22Z</dcterms:created>
  <dcterms:modified xsi:type="dcterms:W3CDTF">2026-10-23T08:26:22Z</dcterms:modified>
</cp:coreProperties>
</file>