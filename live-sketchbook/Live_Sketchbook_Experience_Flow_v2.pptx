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01e800f4-501a-6d53-d5be-7ca192d230f8}">
          <p14:sldIdLst>
            <p14:sldId id="256"/>
          </p14:sldIdLst>
        </p14:section>
        <p14:section name="요약" id="{2f09740e-4862-db1d-5010-ad0e97f44eeb}">
          <p14:sldIdLst>
            <p14:sldId id="257"/>
          </p14:sldIdLst>
        </p14:section>
        <p14:section name="검토" id="{8cf807a2-6bd4-3c94-a7b0-4deb10f30a4d}">
          <p14:sldIdLst>
            <p14:sldId id="258"/>
          </p14:sldIdLst>
        </p14:section>
        <p14:section name="01 Drawing" id="{d58bef77-0a78-7e9e-5f09-cdcb3be36595}">
          <p14:sldIdLst>
            <p14:sldId id="259"/>
          </p14:sldIdLst>
        </p14:section>
        <p14:section name="02 Scan" id="{b27492fa-80dc-d8ef-dbd5-f88947bd746c}">
          <p14:sldIdLst>
            <p14:sldId id="260"/>
          </p14:sldIdLst>
        </p14:section>
        <p14:section name="03 Wall" id="{814844ea-c57c-0036-5de8-5bdb1674b8bd}">
          <p14:sldIdLst>
            <p14:sldId id="261"/>
          </p14:sldIdLst>
        </p14:section>
        <p14:section name="04 Facade" id="{ea868a10-f850-bdb8-0574-d6c36d4c6881}">
          <p14:sldIdLst>
            <p14:sldId id="262"/>
          </p14:sldIdLst>
        </p14:section>
        <p14:section name="05 Archive" id="{51d44acc-2dee-7ff2-7a32-e3559f3bfb66}">
          <p14:sldIdLst>
            <p14:sldId id="263"/>
          </p14:sldIdLst>
        </p14:section>
        <p14:section name="운영" id="{b6394147-4f6c-01cb-0b8a-59ac14483fca}">
          <p14:sldIdLst>
            <p14:sldId id="264"/>
          </p14:sldIdLst>
        </p14:section>
        <p14:section name="다음 단계" id="{41597983-c31e-30e9-1765-23cb5365c690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원안(Live_Sketchbook_Experience_Flow_FIXED.pptx)의 4단계 흐름을 그대로 두고, 각 단계에 발전 제안을 붙였습니다. 수치는 모두 가정입니다.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C안은 처음 요청(도안 없이 자유롭게 그려서 아카이빙)을 지키는 안입니다. A/B는 그리기 어려워하는 아이를 위한 선택지로 남깁니다.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6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5DCDC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DFE6EB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17287"/>
                </a:solidFill>
              </a:rPr>
              <a:t>LIVE SKETCHBOOK  /  EXPERIENCE FLOW v2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96926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6243A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307592"/>
            <a:ext cx="104241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617287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17287"/>
                </a:solidFill>
              </a:rPr>
              <a:t>CONCEPT FLOW · 검토와 발전안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artifact/D1egd98wfpfk7UxL8675ko" TargetMode="External"/><Relationship Id="rId2" Type="http://schemas.openxmlformats.org/officeDocument/2006/relationships/hyperlink" Target="https://claude.ai/artifact/8Ly23dXVmzK4ApvdEsQWh9" TargetMode="External"/><Relationship Id="rId3" Type="http://schemas.openxmlformats.org/officeDocument/2006/relationships/hyperlink" Target="https://claude.ai/artifact/V1VBgNDnCrYZTeZJq4ga5x" TargetMode="Externa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LIVE SKETCHBOOK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5DCDC1"/>
                </a:solidFill>
              </a:rPr>
              <a:t>Experience Flow v2 · 원안 검토와 발전안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FE6EB"/>
                </a:solidFill>
              </a:rPr>
              <a:t>원안 4단계를 유지하고 단계마다 발전 제안을 더함 · 보관 단계 추가 · 2026.10.19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43A"/>
                </a:solidFill>
              </a:rPr>
              <a:t>한눈에 보기 | 원안 4단계 + 보관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30759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17287"/>
                </a:solidFill>
              </a:rPr>
              <a:t>위 줄은 원안, 아래 줄은 이번에 더한 발전 방향</a:t>
            </a:r>
            <a:endParaRPr lang="en-US" sz="1500" dirty="0"/>
          </a:p>
        </p:txBody>
      </p:sp>
      <p:sp>
        <p:nvSpPr>
          <p:cNvPr id="4" name="step-card-01"/>
          <p:cNvSpPr/>
          <p:nvPr/>
        </p:nvSpPr>
        <p:spPr>
          <a:xfrm>
            <a:off x="548640" y="1965960"/>
            <a:ext cx="2011680" cy="40690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031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DCDC1"/>
                </a:solidFill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51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43A"/>
                </a:solidFill>
              </a:rPr>
              <a:t>Drawing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17287"/>
                </a:solidFill>
              </a:rPr>
              <a:t>원안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033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43A"/>
                </a:solidFill>
              </a:rPr>
              <a:t>도안 A/B + 크레용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526280"/>
            <a:ext cx="1645920" cy="0"/>
          </a:xfrm>
          <a:prstGeom prst="line">
            <a:avLst/>
          </a:prstGeom>
          <a:noFill/>
          <a:ln w="12700">
            <a:solidFill>
              <a:srgbClr val="DFE6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8C83"/>
                </a:solidFill>
              </a:rPr>
              <a:t>발전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9377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43A"/>
                </a:solidFill>
              </a:rPr>
              <a:t>자유 그리기 C안 · 카드 번호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>
            <a:off x="2615184" y="3858768"/>
            <a:ext cx="137160" cy="274320"/>
          </a:xfrm>
          <a:prstGeom prst="chevron">
            <a:avLst/>
          </a:prstGeom>
          <a:solidFill>
            <a:srgbClr val="5DCDC1"/>
          </a:solidFill>
          <a:ln w="12700">
            <a:solidFill>
              <a:srgbClr val="5DCDC1"/>
            </a:solidFill>
            <a:prstDash val="solid"/>
          </a:ln>
        </p:spPr>
      </p:sp>
      <p:sp>
        <p:nvSpPr>
          <p:cNvPr id="13" name="step-card-02"/>
          <p:cNvSpPr/>
          <p:nvPr/>
        </p:nvSpPr>
        <p:spPr>
          <a:xfrm>
            <a:off x="2807208" y="1965960"/>
            <a:ext cx="2011680" cy="40690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90088" y="21031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DCDC1"/>
                </a:solidFill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2990088" y="2651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43A"/>
                </a:solidFill>
              </a:rPr>
              <a:t>Scan + α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2990088" y="3429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17287"/>
                </a:solidFill>
              </a:rPr>
              <a:t>원안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990088" y="37033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43A"/>
                </a:solidFill>
              </a:rPr>
              <a:t>2D/3D 변환 + 표정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990088" y="4526280"/>
            <a:ext cx="1645920" cy="0"/>
          </a:xfrm>
          <a:prstGeom prst="line">
            <a:avLst/>
          </a:prstGeom>
          <a:noFill/>
          <a:ln w="12700">
            <a:solidFill>
              <a:srgbClr val="DFE6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90088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8C83"/>
                </a:solidFill>
              </a:rPr>
              <a:t>발전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990088" y="49377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43A"/>
                </a:solidFill>
              </a:rPr>
              <a:t>2D 우선 · 10초 표정 · 직원 확인</a:t>
            </a:r>
            <a:endParaRPr lang="en-US" sz="1400" dirty="0"/>
          </a:p>
        </p:txBody>
      </p:sp>
      <p:sp>
        <p:nvSpPr>
          <p:cNvPr id="21" name="arrow"/>
          <p:cNvSpPr/>
          <p:nvPr/>
        </p:nvSpPr>
        <p:spPr>
          <a:xfrm>
            <a:off x="4873752" y="3858768"/>
            <a:ext cx="137160" cy="274320"/>
          </a:xfrm>
          <a:prstGeom prst="chevron">
            <a:avLst/>
          </a:prstGeom>
          <a:solidFill>
            <a:srgbClr val="5DCDC1"/>
          </a:solidFill>
          <a:ln w="12700">
            <a:solidFill>
              <a:srgbClr val="5DCDC1"/>
            </a:solidFill>
            <a:prstDash val="solid"/>
          </a:ln>
        </p:spPr>
      </p:sp>
      <p:sp>
        <p:nvSpPr>
          <p:cNvPr id="22" name="step-card-03"/>
          <p:cNvSpPr/>
          <p:nvPr/>
        </p:nvSpPr>
        <p:spPr>
          <a:xfrm>
            <a:off x="5065776" y="1965960"/>
            <a:ext cx="2011680" cy="40690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48656" y="21031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DCDC1"/>
                </a:solidFill>
              </a:rPr>
              <a:t>03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5248656" y="2651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43A"/>
                </a:solidFill>
              </a:rPr>
              <a:t>Sketchbook Wall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5248656" y="3429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17287"/>
                </a:solidFill>
              </a:rPr>
              <a:t>원안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248656" y="37033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43A"/>
                </a:solidFill>
              </a:rPr>
              <a:t>등장 + 연못/가든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248656" y="4526280"/>
            <a:ext cx="1645920" cy="0"/>
          </a:xfrm>
          <a:prstGeom prst="line">
            <a:avLst/>
          </a:prstGeom>
          <a:noFill/>
          <a:ln w="12700">
            <a:solidFill>
              <a:srgbClr val="DFE6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248656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8C83"/>
                </a:solidFill>
              </a:rPr>
              <a:t>발전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248656" y="49377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43A"/>
                </a:solidFill>
              </a:rPr>
              <a:t>배경에 붙는 방식 · 내 그림 찾기</a:t>
            </a:r>
            <a:endParaRPr lang="en-US" sz="1400" dirty="0"/>
          </a:p>
        </p:txBody>
      </p:sp>
      <p:sp>
        <p:nvSpPr>
          <p:cNvPr id="30" name="arrow"/>
          <p:cNvSpPr/>
          <p:nvPr/>
        </p:nvSpPr>
        <p:spPr>
          <a:xfrm>
            <a:off x="7132320" y="3858768"/>
            <a:ext cx="137160" cy="274320"/>
          </a:xfrm>
          <a:prstGeom prst="chevron">
            <a:avLst/>
          </a:prstGeom>
          <a:solidFill>
            <a:srgbClr val="5DCDC1"/>
          </a:solidFill>
          <a:ln w="12700">
            <a:solidFill>
              <a:srgbClr val="5DCDC1"/>
            </a:solidFill>
            <a:prstDash val="solid"/>
          </a:ln>
        </p:spPr>
      </p:sp>
      <p:sp>
        <p:nvSpPr>
          <p:cNvPr id="31" name="step-card-04"/>
          <p:cNvSpPr/>
          <p:nvPr/>
        </p:nvSpPr>
        <p:spPr>
          <a:xfrm>
            <a:off x="7324344" y="1965960"/>
            <a:ext cx="2011680" cy="40690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507224" y="21031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DCDC1"/>
                </a:solidFill>
              </a:rPr>
              <a:t>04</a:t>
            </a:r>
            <a:endParaRPr lang="en-US" sz="2600" dirty="0"/>
          </a:p>
        </p:txBody>
      </p:sp>
      <p:sp>
        <p:nvSpPr>
          <p:cNvPr id="33" name="Text 31"/>
          <p:cNvSpPr txBox="1"/>
          <p:nvPr/>
        </p:nvSpPr>
        <p:spPr>
          <a:xfrm>
            <a:off x="7507224" y="2651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43A"/>
                </a:solidFill>
              </a:rPr>
              <a:t>Main Facade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7507224" y="3429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17287"/>
                </a:solidFill>
              </a:rPr>
              <a:t>원안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507224" y="37033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43A"/>
                </a:solidFill>
              </a:rPr>
              <a:t>퍼레이드 · Art/Logo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507224" y="4526280"/>
            <a:ext cx="1645920" cy="0"/>
          </a:xfrm>
          <a:prstGeom prst="line">
            <a:avLst/>
          </a:prstGeom>
          <a:noFill/>
          <a:ln w="12700">
            <a:solidFill>
              <a:srgbClr val="DFE6E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507224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8C83"/>
                </a:solidFill>
              </a:rPr>
              <a:t>발전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507224" y="49377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43A"/>
                </a:solidFill>
              </a:rPr>
              <a:t>정시 퍼레이드 + 상시 합류</a:t>
            </a:r>
            <a:endParaRPr lang="en-US" sz="1400" dirty="0"/>
          </a:p>
        </p:txBody>
      </p:sp>
      <p:sp>
        <p:nvSpPr>
          <p:cNvPr id="39" name="arrow"/>
          <p:cNvSpPr/>
          <p:nvPr/>
        </p:nvSpPr>
        <p:spPr>
          <a:xfrm>
            <a:off x="9390888" y="3858768"/>
            <a:ext cx="137160" cy="274320"/>
          </a:xfrm>
          <a:prstGeom prst="chevron">
            <a:avLst/>
          </a:prstGeom>
          <a:solidFill>
            <a:srgbClr val="5DCDC1"/>
          </a:solidFill>
          <a:ln w="12700">
            <a:solidFill>
              <a:srgbClr val="5DCDC1"/>
            </a:solidFill>
            <a:prstDash val="solid"/>
          </a:ln>
        </p:spPr>
      </p:sp>
      <p:sp>
        <p:nvSpPr>
          <p:cNvPr id="40" name="step-card-05"/>
          <p:cNvSpPr/>
          <p:nvPr/>
        </p:nvSpPr>
        <p:spPr>
          <a:xfrm>
            <a:off x="9582912" y="1965960"/>
            <a:ext cx="2011680" cy="4069080"/>
          </a:xfrm>
          <a:prstGeom prst="roundRect">
            <a:avLst>
              <a:gd name="adj" fmla="val 5455"/>
            </a:avLst>
          </a:prstGeom>
          <a:solidFill>
            <a:srgbClr val="EAF5F1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765792" y="21031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DCDC1"/>
                </a:solidFill>
              </a:rPr>
              <a:t>05</a:t>
            </a:r>
            <a:endParaRPr lang="en-US" sz="2600" dirty="0"/>
          </a:p>
        </p:txBody>
      </p:sp>
      <p:sp>
        <p:nvSpPr>
          <p:cNvPr id="42" name="chip-NEW"/>
          <p:cNvSpPr txBox="1"/>
          <p:nvPr/>
        </p:nvSpPr>
        <p:spPr>
          <a:xfrm>
            <a:off x="10817352" y="2194560"/>
            <a:ext cx="594360" cy="292608"/>
          </a:xfrm>
          <a:prstGeom prst="roundRect">
            <a:avLst>
              <a:gd name="adj" fmla="val 25000"/>
            </a:avLst>
          </a:prstGeom>
          <a:solidFill>
            <a:srgbClr val="5DCDC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3A"/>
                </a:solidFill>
              </a:rPr>
              <a:t>NEW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9765792" y="2651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43A"/>
                </a:solidFill>
              </a:rPr>
              <a:t>Archive</a:t>
            </a:r>
            <a:endParaRPr lang="en-US" sz="1700" dirty="0"/>
          </a:p>
        </p:txBody>
      </p:sp>
      <p:sp>
        <p:nvSpPr>
          <p:cNvPr id="44" name="Text 42"/>
          <p:cNvSpPr txBox="1"/>
          <p:nvPr/>
        </p:nvSpPr>
        <p:spPr>
          <a:xfrm>
            <a:off x="9765792" y="3429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17287"/>
                </a:solidFill>
              </a:rPr>
              <a:t>원안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9765792" y="37033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17287"/>
                </a:solidFill>
              </a:rPr>
              <a:t>원안에 없음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9765792" y="4526280"/>
            <a:ext cx="1645920" cy="0"/>
          </a:xfrm>
          <a:prstGeom prst="line">
            <a:avLst/>
          </a:prstGeom>
          <a:noFill/>
          <a:ln w="12700">
            <a:solidFill>
              <a:srgbClr val="DFE6E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765792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8C83"/>
                </a:solidFill>
              </a:rPr>
              <a:t>발전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765792" y="49377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43A"/>
                </a:solidFill>
              </a:rPr>
              <a:t>QR 보관함 · 하루 한 장 · 굿즈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43A"/>
                </a:solidFill>
              </a:rPr>
              <a:t>원안 검토 | 흐름은 명확, 비어 있는 곳 5가지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30759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17287"/>
                </a:solidFill>
              </a:rPr>
              <a:t>탄생 → 등장 → 확장의 감정선은 좋고, 운영과 보관에 빈칸이 있음</a:t>
            </a:r>
            <a:endParaRPr lang="en-US" sz="1500" dirty="0"/>
          </a:p>
        </p:txBody>
      </p:sp>
      <p:sp>
        <p:nvSpPr>
          <p:cNvPr id="4" name="good"/>
          <p:cNvSpPr/>
          <p:nvPr/>
        </p:nvSpPr>
        <p:spPr>
          <a:xfrm>
            <a:off x="548640" y="1965960"/>
            <a:ext cx="420624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A"/>
                </a:solidFill>
              </a:rPr>
              <a:t>좋은 점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3703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43A"/>
                </a:solidFill>
              </a:rPr>
              <a:t>4단계로 단순해 아이 · 보호자 모두 흐름을 이해하기 쉬움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43A"/>
                </a:solidFill>
              </a:rPr>
              <a:t>내 그림이 벽 → 광장으로 커지는 성취감의 흐름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43A"/>
                </a:solidFill>
              </a:rPr>
              <a:t>기존 파사드 콘텐츠(Art · Logo)와 바로 연결</a:t>
            </a:r>
            <a:endParaRPr lang="en-US" sz="1400" dirty="0"/>
          </a:p>
        </p:txBody>
      </p:sp>
      <p:sp>
        <p:nvSpPr>
          <p:cNvPr id="7" name="gap-0"/>
          <p:cNvSpPr/>
          <p:nvPr/>
        </p:nvSpPr>
        <p:spPr>
          <a:xfrm>
            <a:off x="5029200" y="1965960"/>
            <a:ext cx="65836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12080" y="2121408"/>
            <a:ext cx="402336" cy="402336"/>
          </a:xfrm>
          <a:prstGeom prst="ellipse">
            <a:avLst/>
          </a:prstGeom>
          <a:solidFill>
            <a:srgbClr val="E861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205740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처음 방향과 충돌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321040" y="205740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7287"/>
                </a:solidFill>
              </a:rPr>
              <a:t>“도안 없이 자유롭게”였는데 A/B 모두 가이드 도안</a:t>
            </a:r>
            <a:endParaRPr lang="en-US" sz="1300" dirty="0"/>
          </a:p>
        </p:txBody>
      </p:sp>
      <p:sp>
        <p:nvSpPr>
          <p:cNvPr id="11" name="gap-1"/>
          <p:cNvSpPr/>
          <p:nvPr/>
        </p:nvSpPr>
        <p:spPr>
          <a:xfrm>
            <a:off x="5029200" y="2788920"/>
            <a:ext cx="65836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2944368"/>
            <a:ext cx="402336" cy="402336"/>
          </a:xfrm>
          <a:prstGeom prst="ellipse">
            <a:avLst/>
          </a:prstGeom>
          <a:solidFill>
            <a:srgbClr val="E861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288036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보관 단계가 없음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88036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7287"/>
                </a:solidFill>
              </a:rPr>
              <a:t>파사드 이후 그림이 어디에 남는지 정해지지 않음</a:t>
            </a:r>
            <a:endParaRPr lang="en-US" sz="1300" dirty="0"/>
          </a:p>
        </p:txBody>
      </p:sp>
      <p:sp>
        <p:nvSpPr>
          <p:cNvPr id="15" name="gap-2"/>
          <p:cNvSpPr/>
          <p:nvPr/>
        </p:nvSpPr>
        <p:spPr>
          <a:xfrm>
            <a:off x="5029200" y="3611880"/>
            <a:ext cx="65836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12080" y="3767328"/>
            <a:ext cx="402336" cy="402336"/>
          </a:xfrm>
          <a:prstGeom prst="ellipse">
            <a:avLst/>
          </a:prstGeom>
          <a:solidFill>
            <a:srgbClr val="E861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370332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내 그림 찾기 장치 없음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70332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7287"/>
                </a:solidFill>
              </a:rPr>
              <a:t>벽 · 파사드에서 내 캐릭터를 알아볼 방법</a:t>
            </a:r>
            <a:endParaRPr lang="en-US" sz="1300" dirty="0"/>
          </a:p>
        </p:txBody>
      </p:sp>
      <p:sp>
        <p:nvSpPr>
          <p:cNvPr id="19" name="gap-3"/>
          <p:cNvSpPr/>
          <p:nvPr/>
        </p:nvSpPr>
        <p:spPr>
          <a:xfrm>
            <a:off x="5029200" y="4434840"/>
            <a:ext cx="65836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0" y="4590288"/>
            <a:ext cx="402336" cy="402336"/>
          </a:xfrm>
          <a:prstGeom prst="ellipse">
            <a:avLst/>
          </a:prstGeom>
          <a:solidFill>
            <a:srgbClr val="E861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452628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대기 · 처리 시간 기준 없음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452628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7287"/>
                </a:solidFill>
              </a:rPr>
              <a:t>드로잉 시간, 스캐너 수, 등장까지 걸리는 시간</a:t>
            </a:r>
            <a:endParaRPr lang="en-US" sz="1300" dirty="0"/>
          </a:p>
        </p:txBody>
      </p:sp>
      <p:sp>
        <p:nvSpPr>
          <p:cNvPr id="23" name="gap-4"/>
          <p:cNvSpPr/>
          <p:nvPr/>
        </p:nvSpPr>
        <p:spPr>
          <a:xfrm>
            <a:off x="5029200" y="5257800"/>
            <a:ext cx="65836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12080" y="5413248"/>
            <a:ext cx="402336" cy="402336"/>
          </a:xfrm>
          <a:prstGeom prst="ellipse">
            <a:avLst/>
          </a:prstGeom>
          <a:solidFill>
            <a:srgbClr val="E861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806440" y="534924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공개 전 확인 없음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534924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7287"/>
                </a:solidFill>
              </a:rPr>
              <a:t>파사드에 나가기 전 직원 확인 단계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43A"/>
                </a:solidFill>
              </a:rPr>
              <a:t>Drawing | 나만의 캐릭터 만들기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30759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17287"/>
                </a:solidFill>
              </a:rPr>
              <a:t>아이의 상상력에 따라 세상에 하나뿐인 캐릭터 탄생</a:t>
            </a:r>
            <a:endParaRPr lang="en-US" sz="1500" dirty="0"/>
          </a:p>
        </p:txBody>
      </p:sp>
      <p:sp>
        <p:nvSpPr>
          <p:cNvPr id="4" name="step-number"/>
          <p:cNvSpPr txBox="1"/>
          <p:nvPr/>
        </p:nvSpPr>
        <p:spPr>
          <a:xfrm>
            <a:off x="10332720" y="502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5DCDC1"/>
                </a:solidFill>
              </a:rPr>
              <a:t>01</a:t>
            </a:r>
            <a:endParaRPr lang="en-US" sz="3600" dirty="0"/>
          </a:p>
        </p:txBody>
      </p:sp>
      <p:sp>
        <p:nvSpPr>
          <p:cNvPr id="5" name="original"/>
          <p:cNvSpPr/>
          <p:nvPr/>
        </p:nvSpPr>
        <p:spPr>
          <a:xfrm>
            <a:off x="548640" y="1965960"/>
            <a:ext cx="420624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21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17287"/>
                </a:solidFill>
              </a:rPr>
              <a:t>원안</a:t>
            </a:r>
            <a:endParaRPr lang="en-US" sz="1700" dirty="0"/>
          </a:p>
        </p:txBody>
      </p:sp>
      <p:sp>
        <p:nvSpPr>
          <p:cNvPr id="7" name="chip-1-1"/>
          <p:cNvSpPr txBox="1"/>
          <p:nvPr/>
        </p:nvSpPr>
        <p:spPr>
          <a:xfrm>
            <a:off x="822960" y="2651760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FDE6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3A"/>
                </a:solidFill>
              </a:rPr>
              <a:t>1-1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6151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체험 방식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6324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17287"/>
                </a:solidFill>
              </a:rPr>
              <a:t>종이 + 크레용 드로잉 / 점토를 활용한 유료 체험 옵션</a:t>
            </a:r>
            <a:endParaRPr lang="en-US" sz="1300" dirty="0"/>
          </a:p>
        </p:txBody>
      </p:sp>
      <p:sp>
        <p:nvSpPr>
          <p:cNvPr id="10" name="chip-1-2"/>
          <p:cNvSpPr txBox="1"/>
          <p:nvPr/>
        </p:nvSpPr>
        <p:spPr>
          <a:xfrm>
            <a:off x="822960" y="4160520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D5EE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3A"/>
                </a:solidFill>
              </a:rPr>
              <a:t>1-2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41239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Draw Me! 도안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57200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17287"/>
                </a:solidFill>
              </a:rPr>
              <a:t>A4 가이드 도안 · A안 얼굴 · 몸통 · 팔 · 다리 영역 가이드 · B안 얼굴만 그리는 심플 옵션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8C83"/>
                </a:solidFill>
              </a:rPr>
              <a:t>발전 제안</a:t>
            </a:r>
            <a:endParaRPr lang="en-US" sz="1700" dirty="0"/>
          </a:p>
        </p:txBody>
      </p:sp>
      <p:sp>
        <p:nvSpPr>
          <p:cNvPr id="14" name="prop-0"/>
          <p:cNvSpPr/>
          <p:nvPr/>
        </p:nvSpPr>
        <p:spPr>
          <a:xfrm>
            <a:off x="5029200" y="2423160"/>
            <a:ext cx="6583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15" name="chip-체험"/>
          <p:cNvSpPr txBox="1"/>
          <p:nvPr/>
        </p:nvSpPr>
        <p:spPr>
          <a:xfrm>
            <a:off x="5212080" y="2651760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FDE6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3A"/>
                </a:solidFill>
              </a:rPr>
              <a:t>체험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249631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자유 그리기 C안 추가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2807208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287"/>
                </a:solidFill>
              </a:rPr>
              <a:t>테두리와 스캔 표시만 있는 빈 카드. “도안 없이 자유롭게” 방향을 살림</a:t>
            </a:r>
            <a:endParaRPr lang="en-US" sz="1200" dirty="0"/>
          </a:p>
        </p:txBody>
      </p:sp>
      <p:sp>
        <p:nvSpPr>
          <p:cNvPr id="18" name="prop-1"/>
          <p:cNvSpPr/>
          <p:nvPr/>
        </p:nvSpPr>
        <p:spPr>
          <a:xfrm>
            <a:off x="5029200" y="3264408"/>
            <a:ext cx="6583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19" name="chip-체험"/>
          <p:cNvSpPr txBox="1"/>
          <p:nvPr/>
        </p:nvSpPr>
        <p:spPr>
          <a:xfrm>
            <a:off x="5212080" y="3493008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FDE6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3A"/>
                </a:solidFill>
              </a:rPr>
              <a:t>체험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3337560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‘사는 곳’ 고르기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3648456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287"/>
                </a:solidFill>
              </a:rPr>
              <a:t>물 · 풀 · 하늘 스티커 하나를 붙이면 벽에서 그 자리로 감</a:t>
            </a:r>
            <a:endParaRPr lang="en-US" sz="1200" dirty="0"/>
          </a:p>
        </p:txBody>
      </p:sp>
      <p:sp>
        <p:nvSpPr>
          <p:cNvPr id="22" name="prop-2"/>
          <p:cNvSpPr/>
          <p:nvPr/>
        </p:nvSpPr>
        <p:spPr>
          <a:xfrm>
            <a:off x="5029200" y="4105656"/>
            <a:ext cx="6583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23" name="chip-운영"/>
          <p:cNvSpPr txBox="1"/>
          <p:nvPr/>
        </p:nvSpPr>
        <p:spPr>
          <a:xfrm>
            <a:off x="5212080" y="4334256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DCEE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3A"/>
                </a:solidFill>
              </a:rPr>
              <a:t>운영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4178808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카드에 번호 · QR 인쇄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0" y="4489704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287"/>
                </a:solidFill>
              </a:rPr>
              <a:t>내 그림 찾기와 보관함을 한 장으로 연결</a:t>
            </a:r>
            <a:endParaRPr lang="en-US" sz="1200" dirty="0"/>
          </a:p>
        </p:txBody>
      </p:sp>
      <p:sp>
        <p:nvSpPr>
          <p:cNvPr id="26" name="prop-3"/>
          <p:cNvSpPr/>
          <p:nvPr/>
        </p:nvSpPr>
        <p:spPr>
          <a:xfrm>
            <a:off x="5029200" y="4946904"/>
            <a:ext cx="6583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27" name="chip-운영"/>
          <p:cNvSpPr txBox="1"/>
          <p:nvPr/>
        </p:nvSpPr>
        <p:spPr>
          <a:xfrm>
            <a:off x="5212080" y="5175504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DCEE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3A"/>
                </a:solidFill>
              </a:rPr>
              <a:t>운영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0" y="5020056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점토는 2차 옵션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0" y="533095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287"/>
                </a:solidFill>
              </a:rPr>
              <a:t>3D 스캔 비용 · 처리 시간을 확인한 뒤 결정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14D"/>
                </a:solidFill>
              </a:rPr>
              <a:t>확인할 것  </a:t>
            </a:r>
            <a:pPr indent="0" marL="0">
              <a:buNone/>
            </a:pPr>
            <a:r>
              <a:rPr lang="en-US" sz="1300" dirty="0">
                <a:solidFill>
                  <a:srgbClr val="16243A"/>
                </a:solidFill>
              </a:rPr>
              <a:t>테이블 좌석 수 · 드로잉 시간(가정 3–5분) · A/B/C 중 기본안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43A"/>
                </a:solidFill>
              </a:rPr>
              <a:t>Scan | 그림 스캔하기 + α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30759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17287"/>
                </a:solidFill>
              </a:rPr>
              <a:t>평면의 그림이 살아 움직이는 캐릭터로 변화하는 시각적 놀라움</a:t>
            </a:r>
            <a:endParaRPr lang="en-US" sz="1500" dirty="0"/>
          </a:p>
        </p:txBody>
      </p:sp>
      <p:sp>
        <p:nvSpPr>
          <p:cNvPr id="4" name="step-number"/>
          <p:cNvSpPr txBox="1"/>
          <p:nvPr/>
        </p:nvSpPr>
        <p:spPr>
          <a:xfrm>
            <a:off x="10332720" y="502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5DCDC1"/>
                </a:solidFill>
              </a:rPr>
              <a:t>02</a:t>
            </a:r>
            <a:endParaRPr lang="en-US" sz="3600" dirty="0"/>
          </a:p>
        </p:txBody>
      </p:sp>
      <p:sp>
        <p:nvSpPr>
          <p:cNvPr id="5" name="original"/>
          <p:cNvSpPr/>
          <p:nvPr/>
        </p:nvSpPr>
        <p:spPr>
          <a:xfrm>
            <a:off x="548640" y="1965960"/>
            <a:ext cx="420624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21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17287"/>
                </a:solidFill>
              </a:rPr>
              <a:t>원안</a:t>
            </a:r>
            <a:endParaRPr lang="en-US" sz="1700" dirty="0"/>
          </a:p>
        </p:txBody>
      </p:sp>
      <p:sp>
        <p:nvSpPr>
          <p:cNvPr id="7" name="chip-2-1"/>
          <p:cNvSpPr txBox="1"/>
          <p:nvPr/>
        </p:nvSpPr>
        <p:spPr>
          <a:xfrm>
            <a:off x="822960" y="2651760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FDE6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3A"/>
                </a:solidFill>
              </a:rPr>
              <a:t>2-1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6151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스캔 · 캐릭터 변환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6324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17287"/>
                </a:solidFill>
              </a:rPr>
              <a:t>완성된 그림을 스캔하여 2D 또는 3D 캐릭터로 변환</a:t>
            </a:r>
            <a:endParaRPr lang="en-US" sz="1300" dirty="0"/>
          </a:p>
        </p:txBody>
      </p:sp>
      <p:sp>
        <p:nvSpPr>
          <p:cNvPr id="10" name="chip-2-2"/>
          <p:cNvSpPr txBox="1"/>
          <p:nvPr/>
        </p:nvSpPr>
        <p:spPr>
          <a:xfrm>
            <a:off x="822960" y="4160520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D5EE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3A"/>
                </a:solidFill>
              </a:rPr>
              <a:t>2-2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41239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+ α 표정 커스터마이징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57200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17287"/>
                </a:solidFill>
              </a:rPr>
              <a:t>터치 모니터에서 눈 · 코 · 입 등 표정 요소를 선택하거나 보정하는 방식 검토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8C83"/>
                </a:solidFill>
              </a:rPr>
              <a:t>발전 제안</a:t>
            </a:r>
            <a:endParaRPr lang="en-US" sz="1700" dirty="0"/>
          </a:p>
        </p:txBody>
      </p:sp>
      <p:sp>
        <p:nvSpPr>
          <p:cNvPr id="14" name="prop-0"/>
          <p:cNvSpPr/>
          <p:nvPr/>
        </p:nvSpPr>
        <p:spPr>
          <a:xfrm>
            <a:off x="5029200" y="2423160"/>
            <a:ext cx="6583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15" name="chip-연출"/>
          <p:cNvSpPr txBox="1"/>
          <p:nvPr/>
        </p:nvSpPr>
        <p:spPr>
          <a:xfrm>
            <a:off x="5212080" y="2651760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F7DD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3A"/>
                </a:solidFill>
              </a:rPr>
              <a:t>연출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249631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2D 우선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2807208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287"/>
                </a:solidFill>
              </a:rPr>
              <a:t>그림 모양 그대로 휘고 흔드는 움직임. 3D 변환은 품질 · 시간 검증 뒤</a:t>
            </a:r>
            <a:endParaRPr lang="en-US" sz="1200" dirty="0"/>
          </a:p>
        </p:txBody>
      </p:sp>
      <p:sp>
        <p:nvSpPr>
          <p:cNvPr id="18" name="prop-1"/>
          <p:cNvSpPr/>
          <p:nvPr/>
        </p:nvSpPr>
        <p:spPr>
          <a:xfrm>
            <a:off x="5029200" y="3264408"/>
            <a:ext cx="6583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19" name="chip-체험"/>
          <p:cNvSpPr txBox="1"/>
          <p:nvPr/>
        </p:nvSpPr>
        <p:spPr>
          <a:xfrm>
            <a:off x="5212080" y="3493008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FDE6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3A"/>
                </a:solidFill>
              </a:rPr>
              <a:t>체험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3337560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표정은 큰 버튼 3–4개 · 10초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3648456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287"/>
                </a:solidFill>
              </a:rPr>
              <a:t>건너뛰어도 기본 표정으로 진행해 줄이 길어지지 않게</a:t>
            </a:r>
            <a:endParaRPr lang="en-US" sz="1200" dirty="0"/>
          </a:p>
        </p:txBody>
      </p:sp>
      <p:sp>
        <p:nvSpPr>
          <p:cNvPr id="22" name="prop-2"/>
          <p:cNvSpPr/>
          <p:nvPr/>
        </p:nvSpPr>
        <p:spPr>
          <a:xfrm>
            <a:off x="5029200" y="4105656"/>
            <a:ext cx="6583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23" name="chip-운영"/>
          <p:cNvSpPr txBox="1"/>
          <p:nvPr/>
        </p:nvSpPr>
        <p:spPr>
          <a:xfrm>
            <a:off x="5212080" y="4334256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DCEE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3A"/>
                </a:solidFill>
              </a:rPr>
              <a:t>운영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4178808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공개 전 직원 확인 한 번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0" y="4489704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287"/>
                </a:solidFill>
              </a:rPr>
              <a:t>파사드에 나가기 전 부적절한 그림 · 빈 종이 거르기</a:t>
            </a:r>
            <a:endParaRPr lang="en-US" sz="1200" dirty="0"/>
          </a:p>
        </p:txBody>
      </p:sp>
      <p:sp>
        <p:nvSpPr>
          <p:cNvPr id="26" name="prop-3"/>
          <p:cNvSpPr/>
          <p:nvPr/>
        </p:nvSpPr>
        <p:spPr>
          <a:xfrm>
            <a:off x="5029200" y="4946904"/>
            <a:ext cx="6583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27" name="chip-연출"/>
          <p:cNvSpPr txBox="1"/>
          <p:nvPr/>
        </p:nvSpPr>
        <p:spPr>
          <a:xfrm>
            <a:off x="5212080" y="5175504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F7DD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3A"/>
                </a:solidFill>
              </a:rPr>
              <a:t>연출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0" y="5020056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스캔 순간 3초 미리보기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0" y="533095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287"/>
                </a:solidFill>
              </a:rPr>
              <a:t>스캐너 옆 화면에서 그림이 ‘일어나는’ 모습을 먼저 보여 줌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14D"/>
                </a:solidFill>
              </a:rPr>
              <a:t>확인할 것  </a:t>
            </a:r>
            <a:pPr indent="0" marL="0">
              <a:buNone/>
            </a:pPr>
            <a:r>
              <a:rPr lang="en-US" sz="1300" dirty="0">
                <a:solidFill>
                  <a:srgbClr val="16243A"/>
                </a:solidFill>
              </a:rPr>
              <a:t>스캐너 대수 · 스캔부터 벽 등장까지 시간(가정 10초 이내) · 3D 변환 방식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43A"/>
                </a:solidFill>
              </a:rPr>
              <a:t>Sketchbook Wall | 살아 움직이는 캐릭터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30759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17287"/>
                </a:solidFill>
              </a:rPr>
              <a:t>내 캐릭터를 찾아보고, 다른 캐릭터와 어울리는 모습 관찰</a:t>
            </a:r>
            <a:endParaRPr lang="en-US" sz="1500" dirty="0"/>
          </a:p>
        </p:txBody>
      </p:sp>
      <p:sp>
        <p:nvSpPr>
          <p:cNvPr id="4" name="step-number"/>
          <p:cNvSpPr txBox="1"/>
          <p:nvPr/>
        </p:nvSpPr>
        <p:spPr>
          <a:xfrm>
            <a:off x="10332720" y="502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5DCDC1"/>
                </a:solidFill>
              </a:rPr>
              <a:t>03</a:t>
            </a:r>
            <a:endParaRPr lang="en-US" sz="3600" dirty="0"/>
          </a:p>
        </p:txBody>
      </p:sp>
      <p:sp>
        <p:nvSpPr>
          <p:cNvPr id="5" name="original"/>
          <p:cNvSpPr/>
          <p:nvPr/>
        </p:nvSpPr>
        <p:spPr>
          <a:xfrm>
            <a:off x="548640" y="1965960"/>
            <a:ext cx="420624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21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17287"/>
                </a:solidFill>
              </a:rPr>
              <a:t>원안</a:t>
            </a:r>
            <a:endParaRPr lang="en-US" sz="1700" dirty="0"/>
          </a:p>
        </p:txBody>
      </p:sp>
      <p:sp>
        <p:nvSpPr>
          <p:cNvPr id="7" name="chip-3-1"/>
          <p:cNvSpPr txBox="1"/>
          <p:nvPr/>
        </p:nvSpPr>
        <p:spPr>
          <a:xfrm>
            <a:off x="822960" y="2651760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FDE6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3A"/>
                </a:solidFill>
              </a:rPr>
              <a:t>3-1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6151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등장 이벤트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6324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17287"/>
                </a:solidFill>
              </a:rPr>
              <a:t>WELCOME! 스캔 완료 시 메인 월에 캐릭터가 크게 등장하여 춤추거나 인사</a:t>
            </a:r>
            <a:endParaRPr lang="en-US" sz="1300" dirty="0"/>
          </a:p>
        </p:txBody>
      </p:sp>
      <p:sp>
        <p:nvSpPr>
          <p:cNvPr id="10" name="chip-3-2"/>
          <p:cNvSpPr txBox="1"/>
          <p:nvPr/>
        </p:nvSpPr>
        <p:spPr>
          <a:xfrm>
            <a:off x="822960" y="4160520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D5EE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3A"/>
                </a:solidFill>
              </a:rPr>
              <a:t>3-2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41239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연못 / 가든 인터랙션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57200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17287"/>
                </a:solidFill>
              </a:rPr>
              <a:t>다른 아이들의 캐릭터와 함께 자유롭게 이동 · 터치에 반응하는 방식 검토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8C83"/>
                </a:solidFill>
              </a:rPr>
              <a:t>발전 제안</a:t>
            </a:r>
            <a:endParaRPr lang="en-US" sz="1700" dirty="0"/>
          </a:p>
        </p:txBody>
      </p:sp>
      <p:sp>
        <p:nvSpPr>
          <p:cNvPr id="14" name="prop-0"/>
          <p:cNvSpPr/>
          <p:nvPr/>
        </p:nvSpPr>
        <p:spPr>
          <a:xfrm>
            <a:off x="5029200" y="2423160"/>
            <a:ext cx="6583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15" name="chip-연출"/>
          <p:cNvSpPr txBox="1"/>
          <p:nvPr/>
        </p:nvSpPr>
        <p:spPr>
          <a:xfrm>
            <a:off x="5212080" y="2651760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F7DD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3A"/>
                </a:solidFill>
              </a:rPr>
              <a:t>연출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249631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배경에 붙는 방식 정하기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2807208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287"/>
                </a:solidFill>
              </a:rPr>
              <a:t>톤 통일 · 빈칸 채우기 · 자라나는 배경 등에서 선택(배경 아이데이션 B1–B6)</a:t>
            </a:r>
            <a:endParaRPr lang="en-US" sz="1200" dirty="0"/>
          </a:p>
        </p:txBody>
      </p:sp>
      <p:sp>
        <p:nvSpPr>
          <p:cNvPr id="18" name="prop-1"/>
          <p:cNvSpPr/>
          <p:nvPr/>
        </p:nvSpPr>
        <p:spPr>
          <a:xfrm>
            <a:off x="5029200" y="3264408"/>
            <a:ext cx="6583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19" name="chip-체험"/>
          <p:cNvSpPr txBox="1"/>
          <p:nvPr/>
        </p:nvSpPr>
        <p:spPr>
          <a:xfrm>
            <a:off x="5212080" y="3493008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FDE6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3A"/>
                </a:solidFill>
              </a:rPr>
              <a:t>체험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3337560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내 그림 찾기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3648456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287"/>
                </a:solidFill>
              </a:rPr>
              <a:t>등장할 때 카드 번호를 3초 표시, 이후 번호 · QR로 다시 부르기</a:t>
            </a:r>
            <a:endParaRPr lang="en-US" sz="1200" dirty="0"/>
          </a:p>
        </p:txBody>
      </p:sp>
      <p:sp>
        <p:nvSpPr>
          <p:cNvPr id="22" name="prop-2"/>
          <p:cNvSpPr/>
          <p:nvPr/>
        </p:nvSpPr>
        <p:spPr>
          <a:xfrm>
            <a:off x="5029200" y="4105656"/>
            <a:ext cx="6583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23" name="chip-체험"/>
          <p:cNvSpPr txBox="1"/>
          <p:nvPr/>
        </p:nvSpPr>
        <p:spPr>
          <a:xfrm>
            <a:off x="5212080" y="4334256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FDE6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3A"/>
                </a:solidFill>
              </a:rPr>
              <a:t>체험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4178808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터치 규칙은 하나만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0" y="4489704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287"/>
                </a:solidFill>
              </a:rPr>
              <a:t>누르면 점프 + 소리, 여러 명이 함께 누르면 다 같이 춤</a:t>
            </a:r>
            <a:endParaRPr lang="en-US" sz="1200" dirty="0"/>
          </a:p>
        </p:txBody>
      </p:sp>
      <p:sp>
        <p:nvSpPr>
          <p:cNvPr id="26" name="prop-3"/>
          <p:cNvSpPr/>
          <p:nvPr/>
        </p:nvSpPr>
        <p:spPr>
          <a:xfrm>
            <a:off x="5029200" y="4946904"/>
            <a:ext cx="6583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27" name="chip-운영"/>
          <p:cNvSpPr txBox="1"/>
          <p:nvPr/>
        </p:nvSpPr>
        <p:spPr>
          <a:xfrm>
            <a:off x="5212080" y="5175504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DCEE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3A"/>
                </a:solidFill>
              </a:rPr>
              <a:t>운영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0" y="5020056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화면 밀도 관리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0" y="533095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287"/>
                </a:solidFill>
              </a:rPr>
              <a:t>동시 최대 수를 넘으면 오래된 그림은 아카이브로 이동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14D"/>
                </a:solidFill>
              </a:rPr>
              <a:t>확인할 것  </a:t>
            </a:r>
            <a:pPr indent="0" marL="0">
              <a:buNone/>
            </a:pPr>
            <a:r>
              <a:rPr lang="en-US" sz="1300" dirty="0">
                <a:solidFill>
                  <a:srgbClr val="16243A"/>
                </a:solidFill>
              </a:rPr>
              <a:t>벽 크기 · 해상도 · 터치 센서 방식 · 동시 캐릭터 수(가정 30–40)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43A"/>
                </a:solidFill>
              </a:rPr>
              <a:t>Main Facade | 광장으로 확장되는 이야기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30759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17287"/>
                </a:solidFill>
              </a:rPr>
              <a:t>스케치북에서 탄생한 캐릭터가 대형 파사드에 등장하는 성취감과 확장감</a:t>
            </a:r>
            <a:endParaRPr lang="en-US" sz="1500" dirty="0"/>
          </a:p>
        </p:txBody>
      </p:sp>
      <p:sp>
        <p:nvSpPr>
          <p:cNvPr id="4" name="step-number"/>
          <p:cNvSpPr txBox="1"/>
          <p:nvPr/>
        </p:nvSpPr>
        <p:spPr>
          <a:xfrm>
            <a:off x="10332720" y="502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5DCDC1"/>
                </a:solidFill>
              </a:rPr>
              <a:t>04</a:t>
            </a:r>
            <a:endParaRPr lang="en-US" sz="3600" dirty="0"/>
          </a:p>
        </p:txBody>
      </p:sp>
      <p:sp>
        <p:nvSpPr>
          <p:cNvPr id="5" name="original"/>
          <p:cNvSpPr/>
          <p:nvPr/>
        </p:nvSpPr>
        <p:spPr>
          <a:xfrm>
            <a:off x="548640" y="1965960"/>
            <a:ext cx="420624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21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17287"/>
                </a:solidFill>
              </a:rPr>
              <a:t>원안</a:t>
            </a:r>
            <a:endParaRPr lang="en-US" sz="1700" dirty="0"/>
          </a:p>
        </p:txBody>
      </p:sp>
      <p:sp>
        <p:nvSpPr>
          <p:cNvPr id="7" name="chip-4-1"/>
          <p:cNvSpPr txBox="1"/>
          <p:nvPr/>
        </p:nvSpPr>
        <p:spPr>
          <a:xfrm>
            <a:off x="822960" y="2651760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FDE6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3A"/>
                </a:solidFill>
              </a:rPr>
              <a:t>4-1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6151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퍼레이드 이벤트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6324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17287"/>
                </a:solidFill>
              </a:rPr>
              <a:t>아이들이 만든 캐릭터들이 광장을 둘러 행진</a:t>
            </a:r>
            <a:endParaRPr lang="en-US" sz="1300" dirty="0"/>
          </a:p>
        </p:txBody>
      </p:sp>
      <p:sp>
        <p:nvSpPr>
          <p:cNvPr id="10" name="chip-4-2"/>
          <p:cNvSpPr txBox="1"/>
          <p:nvPr/>
        </p:nvSpPr>
        <p:spPr>
          <a:xfrm>
            <a:off x="822960" y="4160520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D5EE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3A"/>
                </a:solidFill>
              </a:rPr>
              <a:t>4-2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41239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기존 콘텐츠 연계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57200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17287"/>
                </a:solidFill>
              </a:rPr>
              <a:t>Art Mode: 미디어아트 배경 앞을 지나가며 합류 · Logo Mode: 도형 위에 올라타거나 도형 사이를 이동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8C83"/>
                </a:solidFill>
              </a:rPr>
              <a:t>발전 제안</a:t>
            </a:r>
            <a:endParaRPr lang="en-US" sz="1700" dirty="0"/>
          </a:p>
        </p:txBody>
      </p:sp>
      <p:sp>
        <p:nvSpPr>
          <p:cNvPr id="14" name="prop-0"/>
          <p:cNvSpPr/>
          <p:nvPr/>
        </p:nvSpPr>
        <p:spPr>
          <a:xfrm>
            <a:off x="5029200" y="2423160"/>
            <a:ext cx="6583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15" name="chip-연출"/>
          <p:cNvSpPr txBox="1"/>
          <p:nvPr/>
        </p:nvSpPr>
        <p:spPr>
          <a:xfrm>
            <a:off x="5212080" y="2651760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F7DD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3A"/>
                </a:solidFill>
              </a:rPr>
              <a:t>연출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249631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정시 퍼레이드 + 상시 합류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2807208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287"/>
                </a:solidFill>
              </a:rPr>
              <a:t>평소엔 몇 명씩 합류, 정해진 시각에 모두 행진(예: 30분마다)</a:t>
            </a:r>
            <a:endParaRPr lang="en-US" sz="1200" dirty="0"/>
          </a:p>
        </p:txBody>
      </p:sp>
      <p:sp>
        <p:nvSpPr>
          <p:cNvPr id="18" name="prop-1"/>
          <p:cNvSpPr/>
          <p:nvPr/>
        </p:nvSpPr>
        <p:spPr>
          <a:xfrm>
            <a:off x="5029200" y="3264408"/>
            <a:ext cx="6583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19" name="chip-연출"/>
          <p:cNvSpPr txBox="1"/>
          <p:nvPr/>
        </p:nvSpPr>
        <p:spPr>
          <a:xfrm>
            <a:off x="5212080" y="3493008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F7DD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3A"/>
                </a:solidFill>
              </a:rPr>
              <a:t>연출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3337560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Art Mode: 창 속 장면으로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3648456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287"/>
                </a:solidFill>
              </a:rPr>
              <a:t>동그란 창에 내 그림이 먼저 보이고, 장면에 맞는 물건이 되어 들어감</a:t>
            </a:r>
            <a:endParaRPr lang="en-US" sz="1200" dirty="0"/>
          </a:p>
        </p:txBody>
      </p:sp>
      <p:sp>
        <p:nvSpPr>
          <p:cNvPr id="22" name="prop-2"/>
          <p:cNvSpPr/>
          <p:nvPr/>
        </p:nvSpPr>
        <p:spPr>
          <a:xfrm>
            <a:off x="5029200" y="4105656"/>
            <a:ext cx="6583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23" name="chip-연출"/>
          <p:cNvSpPr txBox="1"/>
          <p:nvPr/>
        </p:nvSpPr>
        <p:spPr>
          <a:xfrm>
            <a:off x="5212080" y="4334256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F7DD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3A"/>
                </a:solidFill>
              </a:rPr>
              <a:t>연출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4178808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Logo Mode: 패턴 조각이 됨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0" y="4489704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287"/>
                </a:solidFill>
              </a:rPr>
              <a:t>혜성을 타고 날아와 내려앉고, 오래된 그림은 별로 바뀜</a:t>
            </a:r>
            <a:endParaRPr lang="en-US" sz="1200" dirty="0"/>
          </a:p>
        </p:txBody>
      </p:sp>
      <p:sp>
        <p:nvSpPr>
          <p:cNvPr id="26" name="prop-3"/>
          <p:cNvSpPr/>
          <p:nvPr/>
        </p:nvSpPr>
        <p:spPr>
          <a:xfrm>
            <a:off x="5029200" y="4946904"/>
            <a:ext cx="6583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27" name="chip-운영"/>
          <p:cNvSpPr txBox="1"/>
          <p:nvPr/>
        </p:nvSpPr>
        <p:spPr>
          <a:xfrm>
            <a:off x="5212080" y="5175504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DCEE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3A"/>
                </a:solidFill>
              </a:rPr>
              <a:t>운영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0" y="5020056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스케치북 → 광장 안내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0" y="533095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287"/>
                </a:solidFill>
              </a:rPr>
              <a:t>“○시에 광장에서 만나요”를 카드 · 사이니지로 안내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14D"/>
                </a:solidFill>
              </a:rPr>
              <a:t>확인할 것  </a:t>
            </a:r>
            <a:pPr indent="0" marL="0">
              <a:buNone/>
            </a:pPr>
            <a:r>
              <a:rPr lang="en-US" sz="1300" dirty="0">
                <a:solidFill>
                  <a:srgbClr val="16243A"/>
                </a:solidFill>
              </a:rPr>
              <a:t>파사드 해상도 · 비율 · 기존 영상 원본 형식(실시간 합성 가능 여부)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43A"/>
                </a:solidFill>
              </a:rPr>
              <a:t>Archive | 체험 뒤에도 남는 내 캐릭터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30759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17287"/>
                </a:solidFill>
              </a:rPr>
              <a:t>파사드 이후 비어 있던 단계를 새로 제안</a:t>
            </a:r>
            <a:endParaRPr lang="en-US" sz="1500" dirty="0"/>
          </a:p>
        </p:txBody>
      </p:sp>
      <p:sp>
        <p:nvSpPr>
          <p:cNvPr id="4" name="step-number"/>
          <p:cNvSpPr txBox="1"/>
          <p:nvPr/>
        </p:nvSpPr>
        <p:spPr>
          <a:xfrm>
            <a:off x="10332720" y="502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5DCDC1"/>
                </a:solidFill>
              </a:rPr>
              <a:t>05</a:t>
            </a:r>
            <a:endParaRPr lang="en-US" sz="3600" dirty="0"/>
          </a:p>
        </p:txBody>
      </p:sp>
      <p:sp>
        <p:nvSpPr>
          <p:cNvPr id="5" name="original"/>
          <p:cNvSpPr/>
          <p:nvPr/>
        </p:nvSpPr>
        <p:spPr>
          <a:xfrm>
            <a:off x="548640" y="1965960"/>
            <a:ext cx="420624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21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17287"/>
                </a:solidFill>
              </a:rPr>
              <a:t>원안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3703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17287"/>
                </a:solidFill>
              </a:rPr>
              <a:t>원안에는 파사드 이후 단계가 없습니다. 그림이 체험 뒤에 어디에 남는지를 새 단계로 제안합니다.</a:t>
            </a:r>
            <a:endParaRPr lang="en-US" sz="1500" dirty="0"/>
          </a:p>
        </p:txBody>
      </p:sp>
      <p:sp>
        <p:nvSpPr>
          <p:cNvPr id="8" name="chip-NEW"/>
          <p:cNvSpPr txBox="1"/>
          <p:nvPr/>
        </p:nvSpPr>
        <p:spPr>
          <a:xfrm>
            <a:off x="822960" y="4297680"/>
            <a:ext cx="594360" cy="292608"/>
          </a:xfrm>
          <a:prstGeom prst="roundRect">
            <a:avLst>
              <a:gd name="adj" fmla="val 25000"/>
            </a:avLst>
          </a:prstGeom>
          <a:solidFill>
            <a:srgbClr val="5DCDC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3A"/>
                </a:solidFill>
              </a:rPr>
              <a:t>NEW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8C83"/>
                </a:solidFill>
              </a:rPr>
              <a:t>발전 제안</a:t>
            </a:r>
            <a:endParaRPr lang="en-US" sz="1700" dirty="0"/>
          </a:p>
        </p:txBody>
      </p:sp>
      <p:sp>
        <p:nvSpPr>
          <p:cNvPr id="10" name="prop-0"/>
          <p:cNvSpPr/>
          <p:nvPr/>
        </p:nvSpPr>
        <p:spPr>
          <a:xfrm>
            <a:off x="5029200" y="2423160"/>
            <a:ext cx="6583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11" name="chip-체험"/>
          <p:cNvSpPr txBox="1"/>
          <p:nvPr/>
        </p:nvSpPr>
        <p:spPr>
          <a:xfrm>
            <a:off x="5212080" y="2651760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FDE6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3A"/>
                </a:solidFill>
              </a:rPr>
              <a:t>체험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49631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QR 개인 보관함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2807208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287"/>
                </a:solidFill>
              </a:rPr>
              <a:t>카드 QR로 내 캐릭터가 움직이는 영상 · 이미지 받기</a:t>
            </a:r>
            <a:endParaRPr lang="en-US" sz="1200" dirty="0"/>
          </a:p>
        </p:txBody>
      </p:sp>
      <p:sp>
        <p:nvSpPr>
          <p:cNvPr id="14" name="prop-1"/>
          <p:cNvSpPr/>
          <p:nvPr/>
        </p:nvSpPr>
        <p:spPr>
          <a:xfrm>
            <a:off x="5029200" y="3264408"/>
            <a:ext cx="6583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15" name="chip-연출"/>
          <p:cNvSpPr txBox="1"/>
          <p:nvPr/>
        </p:nvSpPr>
        <p:spPr>
          <a:xfrm>
            <a:off x="5212080" y="3493008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F7DD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3A"/>
                </a:solidFill>
              </a:rPr>
              <a:t>연출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3337560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하루 한 장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3648456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287"/>
                </a:solidFill>
              </a:rPr>
              <a:t>그날 그림이 모인 벽을 시간대별로 한 장씩 보관, 날짜 포스터로</a:t>
            </a:r>
            <a:endParaRPr lang="en-US" sz="1200" dirty="0"/>
          </a:p>
        </p:txBody>
      </p:sp>
      <p:sp>
        <p:nvSpPr>
          <p:cNvPr id="18" name="prop-2"/>
          <p:cNvSpPr/>
          <p:nvPr/>
        </p:nvSpPr>
        <p:spPr>
          <a:xfrm>
            <a:off x="5029200" y="4105656"/>
            <a:ext cx="6583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19" name="chip-체험"/>
          <p:cNvSpPr txBox="1"/>
          <p:nvPr/>
        </p:nvSpPr>
        <p:spPr>
          <a:xfrm>
            <a:off x="5212080" y="4334256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FDE6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3A"/>
                </a:solidFill>
              </a:rPr>
              <a:t>체험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4178808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굿즈 옵션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4489704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287"/>
                </a:solidFill>
              </a:rPr>
              <a:t>뱃지 · 티셔츠 등 유료 현장 출력</a:t>
            </a:r>
            <a:endParaRPr lang="en-US" sz="1200" dirty="0"/>
          </a:p>
        </p:txBody>
      </p:sp>
      <p:sp>
        <p:nvSpPr>
          <p:cNvPr id="22" name="prop-3"/>
          <p:cNvSpPr/>
          <p:nvPr/>
        </p:nvSpPr>
        <p:spPr>
          <a:xfrm>
            <a:off x="5029200" y="4946904"/>
            <a:ext cx="6583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23" name="chip-운영"/>
          <p:cNvSpPr txBox="1"/>
          <p:nvPr/>
        </p:nvSpPr>
        <p:spPr>
          <a:xfrm>
            <a:off x="5212080" y="5175504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DCEE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3A"/>
                </a:solidFill>
              </a:rPr>
              <a:t>운영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5020056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보관 기간 · 개인정보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0" y="533095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287"/>
                </a:solidFill>
              </a:rPr>
              <a:t>이름 없이 번호로 관리, 보관 기간(가정 30일) 정하기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14D"/>
                </a:solidFill>
              </a:rPr>
              <a:t>확인할 것  </a:t>
            </a:r>
            <a:pPr indent="0" marL="0">
              <a:buNone/>
            </a:pPr>
            <a:r>
              <a:rPr lang="en-US" sz="1300" dirty="0">
                <a:solidFill>
                  <a:srgbClr val="16243A"/>
                </a:solidFill>
              </a:rPr>
              <a:t>QR 보관함 플랫폼 · 출력 장비 · 개인정보 처리 기준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43A"/>
                </a:solidFill>
              </a:rPr>
              <a:t>운영 기준 | 정해야 할 숫자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30759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17287"/>
                </a:solidFill>
              </a:rPr>
              <a:t>아래 값은 모두 가정이며 현장 테스트로 정해야 합니다</a:t>
            </a:r>
            <a:endParaRPr lang="en-US" sz="1500" dirty="0"/>
          </a:p>
        </p:txBody>
      </p:sp>
      <p:graphicFrame>
        <p:nvGraphicFramePr>
          <p:cNvPr id="10" name="op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5212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제안 기준(가정)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왜 필요한가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6243A"/>
                          </a:solidFill>
                        </a:rPr>
                        <a:t>드로잉 시간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243A"/>
                          </a:solidFill>
                        </a:rPr>
                        <a:t>3–5분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243A"/>
                          </a:solidFill>
                        </a:rPr>
                        <a:t>테이블 회전율과 대기 줄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6243A"/>
                          </a:solidFill>
                        </a:rPr>
                        <a:t>스캔 → 벽 등장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243A"/>
                          </a:solidFill>
                        </a:rPr>
                        <a:t>10초 이내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243A"/>
                          </a:solidFill>
                        </a:rPr>
                        <a:t>기다리는 동안 흥미가 떨어지지 않게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6243A"/>
                          </a:solidFill>
                        </a:rPr>
                        <a:t>벽 동시 캐릭터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243A"/>
                          </a:solidFill>
                        </a:rPr>
                        <a:t>30–40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243A"/>
                          </a:solidFill>
                        </a:rPr>
                        <a:t>내 그림을 찾을 수 있는 밀도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6243A"/>
                          </a:solidFill>
                        </a:rPr>
                        <a:t>퍼레이드 주기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243A"/>
                          </a:solidFill>
                        </a:rPr>
                        <a:t>30분마다 3–5분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243A"/>
                          </a:solidFill>
                        </a:rPr>
                        <a:t>광장으로 이동할 이유와 시간 약속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6243A"/>
                          </a:solidFill>
                        </a:rPr>
                        <a:t>보관함 보관 기간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243A"/>
                          </a:solidFill>
                        </a:rPr>
                        <a:t>30일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243A"/>
                          </a:solidFill>
                        </a:rPr>
                        <a:t>개인정보 · 저장 비용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ps-example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17287"/>
                </a:solidFill>
              </a:rPr>
              <a:t>예: 테이블 8석 × 4분이면 시간당 약 120장. 스캐너 1대가 장당 30초면 시간당 120장으로 맞물림(모두 가정 계산).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43A"/>
                </a:solidFill>
              </a:rPr>
              <a:t>결정이 필요한 것 5가지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30759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17287"/>
                </a:solidFill>
              </a:rPr>
              <a:t>결정 순서대로 정리. 앞의 결정이 뒤의 하드웨어 · 콘텐츠 범위를 정함</a:t>
            </a:r>
            <a:endParaRPr lang="en-US" sz="1500" dirty="0"/>
          </a:p>
        </p:txBody>
      </p:sp>
      <p:sp>
        <p:nvSpPr>
          <p:cNvPr id="4" name="decision-0"/>
          <p:cNvSpPr/>
          <p:nvPr/>
        </p:nvSpPr>
        <p:spPr>
          <a:xfrm>
            <a:off x="548640" y="196596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94560"/>
            <a:ext cx="457200" cy="457200"/>
          </a:xfrm>
          <a:prstGeom prst="ellipse">
            <a:avLst/>
          </a:prstGeom>
          <a:solidFill>
            <a:srgbClr val="5DCDC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43A"/>
                </a:solidFill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3A"/>
                </a:solidFill>
              </a:rPr>
              <a:t>기본 도안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17287"/>
                </a:solidFill>
              </a:rPr>
              <a:t>A · B · 자유 그리기 C 중 무엇을 기본으로</a:t>
            </a:r>
            <a:endParaRPr lang="en-US" sz="1400" dirty="0"/>
          </a:p>
        </p:txBody>
      </p:sp>
      <p:sp>
        <p:nvSpPr>
          <p:cNvPr id="8" name="decision-1"/>
          <p:cNvSpPr/>
          <p:nvPr/>
        </p:nvSpPr>
        <p:spPr>
          <a:xfrm>
            <a:off x="4297680" y="196596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2194560"/>
            <a:ext cx="457200" cy="457200"/>
          </a:xfrm>
          <a:prstGeom prst="ellipse">
            <a:avLst/>
          </a:prstGeom>
          <a:solidFill>
            <a:srgbClr val="5DCDC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43A"/>
                </a:solidFill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3A"/>
                </a:solidFill>
              </a:rPr>
              <a:t>캐릭터 방식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834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17287"/>
                </a:solidFill>
              </a:rPr>
              <a:t>2D 휘기 vs 3D 변환</a:t>
            </a:r>
            <a:endParaRPr lang="en-US" sz="1400" dirty="0"/>
          </a:p>
        </p:txBody>
      </p:sp>
      <p:sp>
        <p:nvSpPr>
          <p:cNvPr id="12" name="decision-2"/>
          <p:cNvSpPr/>
          <p:nvPr/>
        </p:nvSpPr>
        <p:spPr>
          <a:xfrm>
            <a:off x="8046720" y="196596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2194560"/>
            <a:ext cx="457200" cy="457200"/>
          </a:xfrm>
          <a:prstGeom prst="ellipse">
            <a:avLst/>
          </a:prstGeom>
          <a:solidFill>
            <a:srgbClr val="5DCDC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43A"/>
                </a:solidFill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3A"/>
                </a:solidFill>
              </a:rPr>
              <a:t>배경 방식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834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17287"/>
                </a:solidFill>
              </a:rPr>
              <a:t>벽에서 그림이 배경에 붙는 방식(B1–B6 중)</a:t>
            </a:r>
            <a:endParaRPr lang="en-US" sz="1400" dirty="0"/>
          </a:p>
        </p:txBody>
      </p:sp>
      <p:sp>
        <p:nvSpPr>
          <p:cNvPr id="16" name="decision-3"/>
          <p:cNvSpPr/>
          <p:nvPr/>
        </p:nvSpPr>
        <p:spPr>
          <a:xfrm>
            <a:off x="548640" y="402336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5DCDC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43A"/>
                </a:solidFill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251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3A"/>
                </a:solidFill>
              </a:rPr>
              <a:t>퍼레이드 운영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8920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17287"/>
                </a:solidFill>
              </a:rPr>
              <a:t>정시 주기와 길이, Art/Logo 모드 비율</a:t>
            </a:r>
            <a:endParaRPr lang="en-US" sz="1400" dirty="0"/>
          </a:p>
        </p:txBody>
      </p:sp>
      <p:sp>
        <p:nvSpPr>
          <p:cNvPr id="20" name="decision-4"/>
          <p:cNvSpPr/>
          <p:nvPr/>
        </p:nvSpPr>
        <p:spPr>
          <a:xfrm>
            <a:off x="4297680" y="402336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26280" y="4251960"/>
            <a:ext cx="457200" cy="457200"/>
          </a:xfrm>
          <a:prstGeom prst="ellipse">
            <a:avLst/>
          </a:prstGeom>
          <a:solidFill>
            <a:srgbClr val="5DCDC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43A"/>
                </a:solidFill>
              </a:rPr>
              <a:t>5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166360" y="4251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3A"/>
                </a:solidFill>
              </a:rPr>
              <a:t>보관 방식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48920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17287"/>
                </a:solidFill>
              </a:rPr>
              <a:t>QR 보관함 · 하루 한 장 · 굿즈 범위</a:t>
            </a:r>
            <a:endParaRPr lang="en-US" sz="1400" dirty="0"/>
          </a:p>
        </p:txBody>
      </p:sp>
      <p:sp>
        <p:nvSpPr>
          <p:cNvPr id="24" name="refs"/>
          <p:cNvSpPr/>
          <p:nvPr/>
        </p:nvSpPr>
        <p:spPr>
          <a:xfrm>
            <a:off x="8046720" y="402336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EAF5F1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3880" y="4206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</a:rPr>
              <a:t>참고 프로토타입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18388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u="sng" dirty="0">
                <a:solidFill>
                  <a:srgbClr val="2B8C83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배경 아이데이션 B1–B6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u="sng" dirty="0">
                <a:solidFill>
                  <a:srgbClr val="2B8C83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기존 콘텐츠 연계(Art · Logo)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u="sng" dirty="0">
                <a:solidFill>
                  <a:srgbClr val="2B8C83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쌓이는 그림 아카이브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ve Sketchbook Flow">
  <a:themeElements>
    <a:clrScheme name="Live Sketchbook Flow">
      <a:dk1>
        <a:srgbClr val="16243A"/>
      </a:dk1>
      <a:lt1>
        <a:srgbClr val="FFFFFF"/>
      </a:lt1>
      <a:dk2>
        <a:srgbClr val="617287"/>
      </a:dk2>
      <a:lt2>
        <a:srgbClr val="F7F8F6"/>
      </a:lt2>
      <a:accent1>
        <a:srgbClr val="5DCDC1"/>
      </a:accent1>
      <a:accent2>
        <a:srgbClr val="FDE6A5"/>
      </a:accent2>
      <a:accent3>
        <a:srgbClr val="F7DDE5"/>
      </a:accent3>
      <a:accent4>
        <a:srgbClr val="D5EEDB"/>
      </a:accent4>
      <a:accent5>
        <a:srgbClr val="DCEEF7"/>
      </a:accent5>
      <a:accent6>
        <a:srgbClr val="E8614D"/>
      </a:accent6>
      <a:hlink>
        <a:srgbClr val="2B8C83"/>
      </a:hlink>
      <a:folHlink>
        <a:srgbClr val="617287"/>
      </a:folHlink>
    </a:clrScheme>
    <a:fontScheme name="Live Sketchbook Flow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Live Sketchbook Experience Flow v2</dc:title>
  <dc:subject>PptxGenJS Presentation</dc:subject>
  <dc:creator>PptxGenJS</dc:creator>
  <cp:lastModifiedBy>PptxGenJS</cp:lastModifiedBy>
  <cp:revision>1</cp:revision>
  <dcterms:created xsi:type="dcterms:W3CDTF">2026-10-19T04:51:48Z</dcterms:created>
  <dcterms:modified xsi:type="dcterms:W3CDTF">2026-10-19T04:51:48Z</dcterms:modified>
</cp:coreProperties>
</file>