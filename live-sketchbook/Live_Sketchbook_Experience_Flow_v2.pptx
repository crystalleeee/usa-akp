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76c74ea-d720-7e96-0a1b-99a693da1e47}">
          <p14:sldIdLst>
            <p14:sldId id="256"/>
          </p14:sldIdLst>
        </p14:section>
        <p14:section name="요약" id="{400db71c-2b8d-dcf7-5cfb-4b13708f6ae5}">
          <p14:sldIdLst>
            <p14:sldId id="257"/>
          </p14:sldIdLst>
        </p14:section>
        <p14:section name="검토" id="{8f865caa-9ef9-6309-a413-348247349bc8}">
          <p14:sldIdLst>
            <p14:sldId id="258"/>
          </p14:sldIdLst>
        </p14:section>
        <p14:section name="01 Drawing" id="{256cfaf5-52fe-96fd-dd23-a6815a3cc326}">
          <p14:sldIdLst>
            <p14:sldId id="259"/>
          </p14:sldIdLst>
        </p14:section>
        <p14:section name="02 Scan" id="{c16c5e3c-391c-2f52-37da-77d63b64db5b}">
          <p14:sldIdLst>
            <p14:sldId id="260"/>
          </p14:sldIdLst>
        </p14:section>
        <p14:section name="03 Wall" id="{4ecd423d-81eb-4044-bfe7-bb5432d140ef}">
          <p14:sldIdLst>
            <p14:sldId id="261"/>
          </p14:sldIdLst>
        </p14:section>
        <p14:section name="04 Facade" id="{933e1998-4c88-aea7-8d1e-7731aaeccd51}">
          <p14:sldIdLst>
            <p14:sldId id="262"/>
          </p14:sldIdLst>
        </p14:section>
        <p14:section name="05 Archive" id="{6e44a2bd-8a70-a728-2d1e-74502afb8256}">
          <p14:sldIdLst>
            <p14:sldId id="263"/>
          </p14:sldIdLst>
        </p14:section>
        <p14:section name="운영" id="{f43e9d50-cc34-16d5-63a4-22bbe387dd8b}">
          <p14:sldIdLst>
            <p14:sldId id="264"/>
          </p14:sldIdLst>
        </p14:section>
        <p14:section name="다음 단계" id="{d104a2f8-651c-c197-dc4c-7759ece4613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원안(Live_Sketchbook_Experience_Flow_FIXED.pptx)의 4단계 흐름을 그대로 두고, 각 단계에 발전 제안을 붙였습니다. 수치는 모두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C안은 처음 요청(도안 없이 자유롭게 그려서 아카이빙)을 지키는 안입니다. A/B는 그리기 어려워하는 아이를 위한 선택지로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제안안 근거: ① 처음 요청(도안 없이 자유롭게) ② 처리 시간과 제작 범위 ③ 배경 아이데이션 추천 조합 ④ 광장 이동 동기 + 평소 볼거리 ⑤ 하루 기록이 파사드 마감 쇼와 연결됨. 참고: 배경 아이데이션 https://claude.ai/artifact/D1egd98wfpfk7UxL8675ko · 기존 콘텐츠 연계 https://claude.ai/artifact/8Ly23dXVmzK4ApvdEsQWh9 · 쌓이는 그림 아카이브 https://claude.ai/artifact/V1VBgNDnCrYZTeZJq4ga5x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5DCDC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DFE6E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17287"/>
                </a:solidFill>
              </a:rPr>
              <a:t>LIVE SKETCHBOOK  /  EXPERIENCE FLOW v2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43A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617287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17287"/>
                </a:solidFill>
              </a:rPr>
              <a:t>CONCEPT FLOW · 검토와 발전안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SKETCHBOOK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5DCDC1"/>
                </a:solidFill>
              </a:rPr>
              <a:t>Experience Flow v2 · 원안 검토와 발전안</a:t>
            </a:r>
            <a:endParaRPr lang="en-US" sz="22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6EB"/>
                </a:solidFill>
              </a:rPr>
              <a:t>원안 4단계를 유지하고 단계마다 발전 제안을 더함 · 보관 단계 추가 · 2026.10.19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한눈에 보기 | 원안 4단계 + 보관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위 줄은 원안, 아래 줄은 발전 방향 · 빨간 표시는 결정이 필요한 단계</a:t>
            </a:r>
            <a:endParaRPr lang="en-US" sz="1500" dirty="0"/>
          </a:p>
        </p:txBody>
      </p:sp>
      <p:sp>
        <p:nvSpPr>
          <p:cNvPr id="5" name="step-card-01"/>
          <p:cNvSpPr/>
          <p:nvPr/>
        </p:nvSpPr>
        <p:spPr>
          <a:xfrm>
            <a:off x="548640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Drawing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도안 A/B + 크레용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자유 그리기 C안 · 카드 번호</a:t>
            </a:r>
            <a:endParaRPr lang="en-US" sz="1400" dirty="0"/>
          </a:p>
        </p:txBody>
      </p:sp>
      <p:sp>
        <p:nvSpPr>
          <p:cNvPr id="13" name="decision-badge"/>
          <p:cNvSpPr txBox="1"/>
          <p:nvPr/>
        </p:nvSpPr>
        <p:spPr>
          <a:xfrm>
            <a:off x="731520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①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2615184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15" name="step-card-02"/>
          <p:cNvSpPr/>
          <p:nvPr/>
        </p:nvSpPr>
        <p:spPr>
          <a:xfrm>
            <a:off x="2807208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90088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2990088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Scan + α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99008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990088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2D/3D 변환 + 표정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990088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90088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990088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2D 우선 · 10초 표정 · 직원 확인</a:t>
            </a:r>
            <a:endParaRPr lang="en-US" sz="1400" dirty="0"/>
          </a:p>
        </p:txBody>
      </p:sp>
      <p:sp>
        <p:nvSpPr>
          <p:cNvPr id="23" name="decision-badge"/>
          <p:cNvSpPr txBox="1"/>
          <p:nvPr/>
        </p:nvSpPr>
        <p:spPr>
          <a:xfrm>
            <a:off x="2990088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②</a:t>
            </a:r>
            <a:endParaRPr lang="en-US" sz="1100" dirty="0"/>
          </a:p>
        </p:txBody>
      </p:sp>
      <p:sp>
        <p:nvSpPr>
          <p:cNvPr id="24" name="arrow"/>
          <p:cNvSpPr/>
          <p:nvPr/>
        </p:nvSpPr>
        <p:spPr>
          <a:xfrm>
            <a:off x="4873752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25" name="step-card-03"/>
          <p:cNvSpPr/>
          <p:nvPr/>
        </p:nvSpPr>
        <p:spPr>
          <a:xfrm>
            <a:off x="5065776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248656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03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5248656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Sketchbook Wall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5248656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248656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등장 + 연못/가든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248656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248656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248656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배경에 붙는 방식 · 내 그림 찾기</a:t>
            </a:r>
            <a:endParaRPr lang="en-US" sz="1400" dirty="0"/>
          </a:p>
        </p:txBody>
      </p:sp>
      <p:sp>
        <p:nvSpPr>
          <p:cNvPr id="33" name="decision-badge"/>
          <p:cNvSpPr txBox="1"/>
          <p:nvPr/>
        </p:nvSpPr>
        <p:spPr>
          <a:xfrm>
            <a:off x="5248656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③</a:t>
            </a:r>
            <a:endParaRPr lang="en-US" sz="1100" dirty="0"/>
          </a:p>
        </p:txBody>
      </p:sp>
      <p:sp>
        <p:nvSpPr>
          <p:cNvPr id="34" name="arrow"/>
          <p:cNvSpPr/>
          <p:nvPr/>
        </p:nvSpPr>
        <p:spPr>
          <a:xfrm>
            <a:off x="7132320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35" name="step-card-04"/>
          <p:cNvSpPr/>
          <p:nvPr/>
        </p:nvSpPr>
        <p:spPr>
          <a:xfrm>
            <a:off x="7324344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507224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04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7507224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Main Facade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507224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7507224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퍼레이드 · Art/Logo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507224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507224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507224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정시 퍼레이드 + 상시 합류</a:t>
            </a:r>
            <a:endParaRPr lang="en-US" sz="1400" dirty="0"/>
          </a:p>
        </p:txBody>
      </p:sp>
      <p:sp>
        <p:nvSpPr>
          <p:cNvPr id="43" name="decision-badge"/>
          <p:cNvSpPr txBox="1"/>
          <p:nvPr/>
        </p:nvSpPr>
        <p:spPr>
          <a:xfrm>
            <a:off x="7507224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④</a:t>
            </a:r>
            <a:endParaRPr lang="en-US" sz="1100" dirty="0"/>
          </a:p>
        </p:txBody>
      </p:sp>
      <p:sp>
        <p:nvSpPr>
          <p:cNvPr id="44" name="arrow"/>
          <p:cNvSpPr/>
          <p:nvPr/>
        </p:nvSpPr>
        <p:spPr>
          <a:xfrm>
            <a:off x="9390888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45" name="step-card-05"/>
          <p:cNvSpPr/>
          <p:nvPr/>
        </p:nvSpPr>
        <p:spPr>
          <a:xfrm>
            <a:off x="9582912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EAF5F1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65792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05</a:t>
            </a:r>
            <a:endParaRPr lang="en-US" sz="2600" dirty="0"/>
          </a:p>
        </p:txBody>
      </p:sp>
      <p:sp>
        <p:nvSpPr>
          <p:cNvPr id="47" name="chip-NEW"/>
          <p:cNvSpPr txBox="1"/>
          <p:nvPr/>
        </p:nvSpPr>
        <p:spPr>
          <a:xfrm>
            <a:off x="10817352" y="219456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9765792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Archive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9765792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765792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원안에 없음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9765792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765792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765792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QR 보관함 · 하루 한 장 · 굿즈</a:t>
            </a:r>
            <a:endParaRPr lang="en-US" sz="1400" dirty="0"/>
          </a:p>
        </p:txBody>
      </p:sp>
      <p:sp>
        <p:nvSpPr>
          <p:cNvPr id="54" name="decision-badge"/>
          <p:cNvSpPr txBox="1"/>
          <p:nvPr/>
        </p:nvSpPr>
        <p:spPr>
          <a:xfrm>
            <a:off x="9765792" y="559612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결정 ⑤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원안 검토 | 흐름은 명확, 비어 있는 곳 5가지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탄생 → 등장 → 확장의 감정선은 좋고, 운영과 보관에 빈칸이 있음</a:t>
            </a:r>
            <a:endParaRPr lang="en-US" sz="1500" dirty="0"/>
          </a:p>
        </p:txBody>
      </p:sp>
      <p:sp>
        <p:nvSpPr>
          <p:cNvPr id="5" name="good"/>
          <p:cNvSpPr/>
          <p:nvPr/>
        </p:nvSpPr>
        <p:spPr>
          <a:xfrm>
            <a:off x="548640" y="1965960"/>
            <a:ext cx="420624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3A"/>
                </a:solidFill>
              </a:rPr>
              <a:t>좋은 점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3703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4단계로 단순해 아이 · 보호자 모두 흐름을 이해하기 쉬움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내 그림이 벽 → 광장으로 커지는 성취감의 흐름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기존 파사드 콘텐츠(Art · Logo)와 바로 연결</a:t>
            </a:r>
            <a:endParaRPr lang="en-US" sz="1400" dirty="0"/>
          </a:p>
        </p:txBody>
      </p:sp>
      <p:sp>
        <p:nvSpPr>
          <p:cNvPr id="8" name="gap-0"/>
          <p:cNvSpPr/>
          <p:nvPr/>
        </p:nvSpPr>
        <p:spPr>
          <a:xfrm>
            <a:off x="5029200" y="196596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0" y="212140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205740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처음 방향과 충돌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205740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“도안 없이 자유롭게”였는데 A/B 모두 가이드 도안</a:t>
            </a:r>
            <a:endParaRPr lang="en-US" sz="1300" dirty="0"/>
          </a:p>
        </p:txBody>
      </p:sp>
      <p:sp>
        <p:nvSpPr>
          <p:cNvPr id="12" name="gap-1"/>
          <p:cNvSpPr/>
          <p:nvPr/>
        </p:nvSpPr>
        <p:spPr>
          <a:xfrm>
            <a:off x="5029200" y="278892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212080" y="294436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288036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단계가 없음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288036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 이후 그림이 어디에 남는지 정해지지 않음</a:t>
            </a:r>
            <a:endParaRPr lang="en-US" sz="1300" dirty="0"/>
          </a:p>
        </p:txBody>
      </p:sp>
      <p:sp>
        <p:nvSpPr>
          <p:cNvPr id="16" name="gap-2"/>
          <p:cNvSpPr/>
          <p:nvPr/>
        </p:nvSpPr>
        <p:spPr>
          <a:xfrm>
            <a:off x="5029200" y="361188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376732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806440" y="370332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 장치 없음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70332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벽 · 파사드에서 내 캐릭터를 알아볼 방법</a:t>
            </a:r>
            <a:endParaRPr lang="en-US" sz="1300" dirty="0"/>
          </a:p>
        </p:txBody>
      </p:sp>
      <p:sp>
        <p:nvSpPr>
          <p:cNvPr id="20" name="gap-3"/>
          <p:cNvSpPr/>
          <p:nvPr/>
        </p:nvSpPr>
        <p:spPr>
          <a:xfrm>
            <a:off x="5029200" y="443484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59028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06440" y="45262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대기 · 처리 시간 기준 없음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드로잉 시간, 스캐너 수, 등장까지 걸리는 시간</a:t>
            </a:r>
            <a:endParaRPr lang="en-US" sz="1300" dirty="0"/>
          </a:p>
        </p:txBody>
      </p:sp>
      <p:sp>
        <p:nvSpPr>
          <p:cNvPr id="24" name="gap-4"/>
          <p:cNvSpPr/>
          <p:nvPr/>
        </p:nvSpPr>
        <p:spPr>
          <a:xfrm>
            <a:off x="5029200" y="525780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212080" y="541324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806440" y="534924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확인 없음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534924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파사드에 나가기 전 직원 확인 단계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Drawing | 나만의 캐릭터 만들기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아이의 상상력에 따라 세상에 하나뿐인 캐릭터 탄생</a:t>
            </a:r>
            <a:endParaRPr lang="en-US" sz="1500" dirty="0"/>
          </a:p>
        </p:txBody>
      </p:sp>
      <p:sp>
        <p:nvSpPr>
          <p:cNvPr id="5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원안그림-1-0"/>
          <p:cNvSpPr/>
          <p:nvPr/>
        </p:nvSpPr>
        <p:spPr>
          <a:xfrm>
            <a:off x="930029" y="2331720"/>
            <a:ext cx="3443462" cy="2212848"/>
          </a:xfrm>
          <a:prstGeom prst="roundRect">
            <a:avLst>
              <a:gd name="adj" fmla="val 2551"/>
            </a:avLst>
          </a:prstGeom>
          <a:solidFill>
            <a:srgbClr val="EAF5F1"/>
          </a:solidFill>
          <a:ln/>
        </p:spPr>
      </p:sp>
      <p:sp>
        <p:nvSpPr>
          <p:cNvPr id="8" name="원안그림-1-1"/>
          <p:cNvSpPr/>
          <p:nvPr/>
        </p:nvSpPr>
        <p:spPr>
          <a:xfrm rot="21300000">
            <a:off x="1381630" y="2518006"/>
            <a:ext cx="1343515" cy="1857212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6350">
            <a:solidFill>
              <a:srgbClr val="D3E1DC"/>
            </a:solidFill>
            <a:prstDash val="solid"/>
          </a:ln>
        </p:spPr>
      </p:sp>
      <p:sp>
        <p:nvSpPr>
          <p:cNvPr id="9" name="원안그림-1-2"/>
          <p:cNvSpPr txBox="1"/>
          <p:nvPr/>
        </p:nvSpPr>
        <p:spPr>
          <a:xfrm>
            <a:off x="1556626" y="2670421"/>
            <a:ext cx="1016104" cy="197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43A"/>
                </a:solidFill>
              </a:rPr>
              <a:t>Draw Me!</a:t>
            </a:r>
            <a:endParaRPr lang="en-US" sz="1150" dirty="0"/>
          </a:p>
        </p:txBody>
      </p:sp>
      <p:sp>
        <p:nvSpPr>
          <p:cNvPr id="10" name="원안그림-1-3"/>
          <p:cNvSpPr/>
          <p:nvPr/>
        </p:nvSpPr>
        <p:spPr>
          <a:xfrm>
            <a:off x="1956293" y="2997832"/>
            <a:ext cx="366926" cy="366926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11" name="원안그림-1-4"/>
          <p:cNvSpPr/>
          <p:nvPr/>
        </p:nvSpPr>
        <p:spPr>
          <a:xfrm rot="10800000">
            <a:off x="1897586" y="3320728"/>
            <a:ext cx="499020" cy="557728"/>
          </a:xfrm>
          <a:prstGeom prst="ellipse">
            <a:avLst/>
          </a:prstGeom>
          <a:solidFill>
            <a:srgbClr val="F7DDE5"/>
          </a:solidFill>
          <a:ln w="6350">
            <a:solidFill>
              <a:srgbClr val="F7DDE5"/>
            </a:solidFill>
            <a:prstDash val="solid"/>
          </a:ln>
        </p:spPr>
      </p:sp>
      <p:sp>
        <p:nvSpPr>
          <p:cNvPr id="12" name="원안그림-1-5"/>
          <p:cNvSpPr/>
          <p:nvPr/>
        </p:nvSpPr>
        <p:spPr>
          <a:xfrm>
            <a:off x="1919601" y="3482175"/>
            <a:ext cx="403619" cy="73385"/>
          </a:xfrm>
          <a:prstGeom prst="line">
            <a:avLst/>
          </a:prstGeom>
          <a:solidFill>
            <a:srgbClr val="16243A"/>
          </a:solidFill>
          <a:ln w="22225">
            <a:solidFill>
              <a:srgbClr val="16243A"/>
            </a:solidFill>
            <a:prstDash val="solid"/>
          </a:ln>
        </p:spPr>
      </p:sp>
      <p:sp>
        <p:nvSpPr>
          <p:cNvPr id="13" name="원안그림-1-6"/>
          <p:cNvSpPr/>
          <p:nvPr/>
        </p:nvSpPr>
        <p:spPr>
          <a:xfrm flipH="1">
            <a:off x="1860892" y="3790394"/>
            <a:ext cx="102739" cy="264187"/>
          </a:xfrm>
          <a:prstGeom prst="line">
            <a:avLst/>
          </a:prstGeom>
          <a:solidFill>
            <a:srgbClr val="16243A"/>
          </a:solidFill>
          <a:ln w="22225">
            <a:solidFill>
              <a:srgbClr val="16243A"/>
            </a:solidFill>
            <a:prstDash val="solid"/>
          </a:ln>
        </p:spPr>
      </p:sp>
      <p:sp>
        <p:nvSpPr>
          <p:cNvPr id="14" name="원안그림-1-7"/>
          <p:cNvSpPr/>
          <p:nvPr/>
        </p:nvSpPr>
        <p:spPr>
          <a:xfrm>
            <a:off x="2242496" y="3790394"/>
            <a:ext cx="102739" cy="264187"/>
          </a:xfrm>
          <a:prstGeom prst="line">
            <a:avLst/>
          </a:prstGeom>
          <a:solidFill>
            <a:srgbClr val="16243A"/>
          </a:solidFill>
          <a:ln w="22225">
            <a:solidFill>
              <a:srgbClr val="16243A"/>
            </a:solidFill>
            <a:prstDash val="solid"/>
          </a:ln>
        </p:spPr>
      </p:sp>
      <p:sp>
        <p:nvSpPr>
          <p:cNvPr id="15" name="원안그림-1-8"/>
          <p:cNvSpPr/>
          <p:nvPr/>
        </p:nvSpPr>
        <p:spPr>
          <a:xfrm>
            <a:off x="2051694" y="3159280"/>
            <a:ext cx="25685" cy="25685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6" name="원안그림-1-9"/>
          <p:cNvSpPr/>
          <p:nvPr/>
        </p:nvSpPr>
        <p:spPr>
          <a:xfrm>
            <a:off x="2176449" y="3159280"/>
            <a:ext cx="25685" cy="25685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7" name="원안그림-1-10"/>
          <p:cNvSpPr/>
          <p:nvPr/>
        </p:nvSpPr>
        <p:spPr>
          <a:xfrm rot="360000">
            <a:off x="2877561" y="2693001"/>
            <a:ext cx="1083844" cy="1467705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6350">
            <a:solidFill>
              <a:srgbClr val="DFE6EB"/>
            </a:solidFill>
            <a:prstDash val="solid"/>
          </a:ln>
        </p:spPr>
      </p:sp>
      <p:sp>
        <p:nvSpPr>
          <p:cNvPr id="18" name="원안그림-1-11"/>
          <p:cNvSpPr txBox="1"/>
          <p:nvPr/>
        </p:nvSpPr>
        <p:spPr>
          <a:xfrm>
            <a:off x="3097717" y="2839772"/>
            <a:ext cx="620952" cy="169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7287"/>
                </a:solidFill>
              </a:rPr>
              <a:t>FACE</a:t>
            </a:r>
            <a:endParaRPr lang="en-US" sz="950" dirty="0"/>
          </a:p>
        </p:txBody>
      </p:sp>
      <p:sp>
        <p:nvSpPr>
          <p:cNvPr id="19" name="원안그림-1-12"/>
          <p:cNvSpPr/>
          <p:nvPr/>
        </p:nvSpPr>
        <p:spPr>
          <a:xfrm>
            <a:off x="3109007" y="3172828"/>
            <a:ext cx="615307" cy="643532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20" name="원안그림-1-13"/>
          <p:cNvSpPr txBox="1"/>
          <p:nvPr/>
        </p:nvSpPr>
        <p:spPr>
          <a:xfrm>
            <a:off x="1776782" y="4330057"/>
            <a:ext cx="1772536" cy="16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17287"/>
                </a:solidFill>
              </a:rPr>
              <a:t>A / B 도안 옵션</a:t>
            </a:r>
            <a:endParaRPr lang="en-US" sz="750" dirty="0"/>
          </a:p>
        </p:txBody>
      </p:sp>
      <p:sp>
        <p:nvSpPr>
          <p:cNvPr id="21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2" name="chip-1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 방식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종이 + 크레용 / 점토 유료 옵션</a:t>
            </a:r>
            <a:endParaRPr lang="en-US" sz="1100" dirty="0"/>
          </a:p>
        </p:txBody>
      </p:sp>
      <p:sp>
        <p:nvSpPr>
          <p:cNvPr id="24" name="chip-1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Draw Me! 도안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A4 가이드 도안 · A안 얼굴 · 몸통 · 팔 · 다리 / B안 얼굴만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27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8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자유 그리기 C안 추가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테두리와 스캔 표시만 있는 빈 카드. “도안 없이 자유롭게” 방향을 살림</a:t>
            </a:r>
            <a:endParaRPr lang="en-US" sz="1200" dirty="0"/>
          </a:p>
        </p:txBody>
      </p:sp>
      <p:sp>
        <p:nvSpPr>
          <p:cNvPr id="31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2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‘사는 곳’ 고르기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물 · 풀 · 하늘 스티커 하나를 붙이면 벽에서 그 자리로 감</a:t>
            </a:r>
            <a:endParaRPr lang="en-US" sz="1200" dirty="0"/>
          </a:p>
        </p:txBody>
      </p:sp>
      <p:sp>
        <p:nvSpPr>
          <p:cNvPr id="35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6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카드에 번호 · QR 인쇄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내 그림 찾기와 보관함을 한 장으로 연결</a:t>
            </a:r>
            <a:endParaRPr lang="en-US" sz="1200" dirty="0"/>
          </a:p>
        </p:txBody>
      </p:sp>
      <p:sp>
        <p:nvSpPr>
          <p:cNvPr id="39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0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점토는 2차 옵션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3D 스캔 비용 · 처리 시간을 확인한 뒤 결정</a:t>
            </a:r>
            <a:endParaRPr lang="en-US" sz="1200" dirty="0"/>
          </a:p>
        </p:txBody>
      </p:sp>
      <p:sp>
        <p:nvSpPr>
          <p:cNvPr id="43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①  기본 도안 · A / B / C 중 선택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테이블 좌석 수 · 드로잉 시간(가정 3–5분) · A/B/C 중 기본안</a:t>
            </a:r>
            <a:endParaRPr lang="en-US" sz="12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Scan | 그림 스캔하기 + α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평면의 그림이 살아 움직이는 캐릭터로 변화하는 시각적 놀라움</a:t>
            </a:r>
            <a:endParaRPr lang="en-US" sz="1500" dirty="0"/>
          </a:p>
        </p:txBody>
      </p:sp>
      <p:sp>
        <p:nvSpPr>
          <p:cNvPr id="5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02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원안그림-2-0"/>
          <p:cNvSpPr/>
          <p:nvPr/>
        </p:nvSpPr>
        <p:spPr>
          <a:xfrm>
            <a:off x="876199" y="2331720"/>
            <a:ext cx="3551122" cy="2212848"/>
          </a:xfrm>
          <a:prstGeom prst="roundRect">
            <a:avLst>
              <a:gd name="adj" fmla="val 2653"/>
            </a:avLst>
          </a:prstGeom>
          <a:solidFill>
            <a:srgbClr val="EAF1F8"/>
          </a:solidFill>
          <a:ln/>
        </p:spPr>
      </p:sp>
      <p:sp>
        <p:nvSpPr>
          <p:cNvPr id="8" name="원안그림-2-1"/>
          <p:cNvSpPr/>
          <p:nvPr/>
        </p:nvSpPr>
        <p:spPr>
          <a:xfrm>
            <a:off x="1075766" y="2713246"/>
            <a:ext cx="997836" cy="13734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FE6EB"/>
            </a:solidFill>
            <a:prstDash val="solid"/>
          </a:ln>
        </p:spPr>
      </p:sp>
      <p:sp>
        <p:nvSpPr>
          <p:cNvPr id="9" name="원안그림-2-2"/>
          <p:cNvSpPr/>
          <p:nvPr/>
        </p:nvSpPr>
        <p:spPr>
          <a:xfrm>
            <a:off x="1377699" y="2977379"/>
            <a:ext cx="231850" cy="231850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10" name="원안그림-2-3"/>
          <p:cNvSpPr/>
          <p:nvPr/>
        </p:nvSpPr>
        <p:spPr>
          <a:xfrm rot="10800000">
            <a:off x="1340603" y="3181406"/>
            <a:ext cx="315316" cy="352412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11" name="원안그림-2-4"/>
          <p:cNvSpPr/>
          <p:nvPr/>
        </p:nvSpPr>
        <p:spPr>
          <a:xfrm>
            <a:off x="1354515" y="3283421"/>
            <a:ext cx="255035" cy="46370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2" name="원안그림-2-5"/>
          <p:cNvSpPr/>
          <p:nvPr/>
        </p:nvSpPr>
        <p:spPr>
          <a:xfrm flipH="1">
            <a:off x="1317418" y="3478175"/>
            <a:ext cx="64918" cy="166932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3" name="원안그림-2-6"/>
          <p:cNvSpPr/>
          <p:nvPr/>
        </p:nvSpPr>
        <p:spPr>
          <a:xfrm>
            <a:off x="1558543" y="3478175"/>
            <a:ext cx="64918" cy="166932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4" name="원안그림-2-7"/>
          <p:cNvSpPr/>
          <p:nvPr/>
        </p:nvSpPr>
        <p:spPr>
          <a:xfrm>
            <a:off x="1437980" y="3079393"/>
            <a:ext cx="16229" cy="16229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5" name="원안그림-2-8"/>
          <p:cNvSpPr/>
          <p:nvPr/>
        </p:nvSpPr>
        <p:spPr>
          <a:xfrm>
            <a:off x="1516810" y="3079393"/>
            <a:ext cx="16229" cy="16229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6" name="원안그림-2-9"/>
          <p:cNvSpPr/>
          <p:nvPr/>
        </p:nvSpPr>
        <p:spPr>
          <a:xfrm>
            <a:off x="2185125" y="3282599"/>
            <a:ext cx="352177" cy="440222"/>
          </a:xfrm>
          <a:prstGeom prst="chevron">
            <a:avLst/>
          </a:prstGeom>
          <a:solidFill>
            <a:srgbClr val="5DCDC1"/>
          </a:solidFill>
          <a:ln/>
        </p:spPr>
      </p:sp>
      <p:sp>
        <p:nvSpPr>
          <p:cNvPr id="17" name="원안그림-2-10"/>
          <p:cNvSpPr/>
          <p:nvPr/>
        </p:nvSpPr>
        <p:spPr>
          <a:xfrm>
            <a:off x="2672304" y="2660419"/>
            <a:ext cx="1443927" cy="1502624"/>
          </a:xfrm>
          <a:prstGeom prst="roundRect">
            <a:avLst>
              <a:gd name="adj" fmla="val 4065"/>
            </a:avLst>
          </a:prstGeom>
          <a:solidFill>
            <a:srgbClr val="16243A"/>
          </a:solidFill>
          <a:ln/>
        </p:spPr>
      </p:sp>
      <p:sp>
        <p:nvSpPr>
          <p:cNvPr id="18" name="원안그림-2-11"/>
          <p:cNvSpPr/>
          <p:nvPr/>
        </p:nvSpPr>
        <p:spPr>
          <a:xfrm>
            <a:off x="2766218" y="2760203"/>
            <a:ext cx="1250230" cy="1203273"/>
          </a:xfrm>
          <a:prstGeom prst="roundRect">
            <a:avLst>
              <a:gd name="adj" fmla="val 4878"/>
            </a:avLst>
          </a:prstGeom>
          <a:solidFill>
            <a:srgbClr val="D8EFF0"/>
          </a:solidFill>
          <a:ln/>
        </p:spPr>
      </p:sp>
      <p:sp>
        <p:nvSpPr>
          <p:cNvPr id="19" name="원안그림-2-12"/>
          <p:cNvSpPr/>
          <p:nvPr/>
        </p:nvSpPr>
        <p:spPr>
          <a:xfrm>
            <a:off x="3217944" y="2877595"/>
            <a:ext cx="252394" cy="252394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20" name="원안그림-2-13"/>
          <p:cNvSpPr/>
          <p:nvPr/>
        </p:nvSpPr>
        <p:spPr>
          <a:xfrm rot="10800000">
            <a:off x="3177561" y="3099702"/>
            <a:ext cx="343255" cy="383639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21" name="원안그림-2-14"/>
          <p:cNvSpPr/>
          <p:nvPr/>
        </p:nvSpPr>
        <p:spPr>
          <a:xfrm>
            <a:off x="3192704" y="3210755"/>
            <a:ext cx="277633" cy="50479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2" name="원안그림-2-15"/>
          <p:cNvSpPr/>
          <p:nvPr/>
        </p:nvSpPr>
        <p:spPr>
          <a:xfrm flipH="1">
            <a:off x="3152321" y="3422766"/>
            <a:ext cx="70670" cy="181723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3" name="원안그림-2-16"/>
          <p:cNvSpPr/>
          <p:nvPr/>
        </p:nvSpPr>
        <p:spPr>
          <a:xfrm>
            <a:off x="3414811" y="3422766"/>
            <a:ext cx="70670" cy="181723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4" name="원안그림-2-17"/>
          <p:cNvSpPr/>
          <p:nvPr/>
        </p:nvSpPr>
        <p:spPr>
          <a:xfrm>
            <a:off x="3283566" y="2988648"/>
            <a:ext cx="17667" cy="17667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5" name="원안그림-2-18"/>
          <p:cNvSpPr/>
          <p:nvPr/>
        </p:nvSpPr>
        <p:spPr>
          <a:xfrm>
            <a:off x="3369380" y="2988648"/>
            <a:ext cx="17667" cy="17667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6" name="원안그림-2-19"/>
          <p:cNvSpPr txBox="1"/>
          <p:nvPr/>
        </p:nvSpPr>
        <p:spPr>
          <a:xfrm>
            <a:off x="1287073" y="4221739"/>
            <a:ext cx="704355" cy="17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7287"/>
                </a:solidFill>
              </a:rPr>
              <a:t>SCAN</a:t>
            </a:r>
            <a:endParaRPr lang="en-US" sz="700" dirty="0"/>
          </a:p>
        </p:txBody>
      </p:sp>
      <p:sp>
        <p:nvSpPr>
          <p:cNvPr id="27" name="원안그림-2-20"/>
          <p:cNvSpPr txBox="1"/>
          <p:nvPr/>
        </p:nvSpPr>
        <p:spPr>
          <a:xfrm>
            <a:off x="2707521" y="4221739"/>
            <a:ext cx="1350013" cy="17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7287"/>
                </a:solidFill>
              </a:rPr>
              <a:t>2D / 3D + α</a:t>
            </a:r>
            <a:endParaRPr lang="en-US" sz="700" dirty="0"/>
          </a:p>
        </p:txBody>
      </p:sp>
      <p:sp>
        <p:nvSpPr>
          <p:cNvPr id="28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9" name="chip-2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2-1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스캔 · 캐릭터 변환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그림을 스캔해 2D 또는 3D 캐릭터로 변환</a:t>
            </a:r>
            <a:endParaRPr lang="en-US" sz="1100" dirty="0"/>
          </a:p>
        </p:txBody>
      </p:sp>
      <p:sp>
        <p:nvSpPr>
          <p:cNvPr id="31" name="chip-2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+ α 표정 커스터마이징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터치 모니터에서 눈 · 코 · 입 선택 · 보정 검토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34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5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2D 우선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그림 모양 그대로 휘고 흔드는 움직임. 3D 변환은 품질 · 시간 검증 뒤</a:t>
            </a:r>
            <a:endParaRPr lang="en-US" sz="1200" dirty="0"/>
          </a:p>
        </p:txBody>
      </p:sp>
      <p:sp>
        <p:nvSpPr>
          <p:cNvPr id="38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9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표정은 큰 버튼 3–4개 · 10초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건너뛰어도 기본 표정으로 진행해 줄이 길어지지 않게</a:t>
            </a:r>
            <a:endParaRPr lang="en-US" sz="1200" dirty="0"/>
          </a:p>
        </p:txBody>
      </p:sp>
      <p:sp>
        <p:nvSpPr>
          <p:cNvPr id="42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3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직원 확인 한 번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파사드에 나가기 전 부적절한 그림 · 빈 종이 거르기</a:t>
            </a:r>
            <a:endParaRPr lang="en-US" sz="1200" dirty="0"/>
          </a:p>
        </p:txBody>
      </p:sp>
      <p:sp>
        <p:nvSpPr>
          <p:cNvPr id="46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7" name="chip-연출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스캔 순간 3초 미리보기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스캐너 옆 화면에서 그림이 ‘일어나는’ 모습을 먼저 보여 줌</a:t>
            </a:r>
            <a:endParaRPr lang="en-US" sz="1200" dirty="0"/>
          </a:p>
        </p:txBody>
      </p:sp>
      <p:sp>
        <p:nvSpPr>
          <p:cNvPr id="50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②  캐릭터 방식 · 2D / 3D 중 선택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스캐너 대수 · 스캔부터 벽 등장까지 시간(가정 10초 이내) · 3D 변환 방식</a:t>
            </a:r>
            <a:endParaRPr lang="en-US" sz="12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Sketchbook Wall | 살아 움직이는 캐릭터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내 캐릭터를 찾아보고, 다른 캐릭터와 어울리는 모습 관찰</a:t>
            </a:r>
            <a:endParaRPr lang="en-US" sz="1500" dirty="0"/>
          </a:p>
        </p:txBody>
      </p:sp>
      <p:sp>
        <p:nvSpPr>
          <p:cNvPr id="5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03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원안그림-3-0"/>
          <p:cNvSpPr/>
          <p:nvPr/>
        </p:nvSpPr>
        <p:spPr>
          <a:xfrm>
            <a:off x="856040" y="2331720"/>
            <a:ext cx="3591440" cy="2212848"/>
          </a:xfrm>
          <a:prstGeom prst="roundRect">
            <a:avLst>
              <a:gd name="adj" fmla="val 2674"/>
            </a:avLst>
          </a:prstGeom>
          <a:solidFill>
            <a:srgbClr val="DBEEF0"/>
          </a:solidFill>
          <a:ln/>
        </p:spPr>
      </p:sp>
      <p:sp>
        <p:nvSpPr>
          <p:cNvPr id="8" name="원안그림-3-1"/>
          <p:cNvSpPr/>
          <p:nvPr/>
        </p:nvSpPr>
        <p:spPr>
          <a:xfrm>
            <a:off x="1080875" y="3396727"/>
            <a:ext cx="3135854" cy="875672"/>
          </a:xfrm>
          <a:prstGeom prst="ellipse">
            <a:avLst/>
          </a:prstGeom>
          <a:solidFill>
            <a:srgbClr val="9BCFDA"/>
          </a:solidFill>
          <a:ln/>
        </p:spPr>
      </p:sp>
      <p:sp>
        <p:nvSpPr>
          <p:cNvPr id="9" name="원안그림-3-2"/>
          <p:cNvSpPr/>
          <p:nvPr/>
        </p:nvSpPr>
        <p:spPr>
          <a:xfrm>
            <a:off x="1796796" y="3526895"/>
            <a:ext cx="692255" cy="284002"/>
          </a:xfrm>
          <a:prstGeom prst="ellipse">
            <a:avLst/>
          </a:prstGeom>
          <a:solidFill>
            <a:srgbClr val="7ABBA0"/>
          </a:solidFill>
          <a:ln/>
        </p:spPr>
      </p:sp>
      <p:sp>
        <p:nvSpPr>
          <p:cNvPr id="10" name="원안그림-3-3"/>
          <p:cNvSpPr/>
          <p:nvPr/>
        </p:nvSpPr>
        <p:spPr>
          <a:xfrm>
            <a:off x="3181305" y="3710312"/>
            <a:ext cx="680421" cy="242585"/>
          </a:xfrm>
          <a:prstGeom prst="ellipse">
            <a:avLst/>
          </a:prstGeom>
          <a:solidFill>
            <a:srgbClr val="7ABBA0"/>
          </a:solidFill>
          <a:ln/>
        </p:spPr>
      </p:sp>
      <p:sp>
        <p:nvSpPr>
          <p:cNvPr id="11" name="원안그림-3-4"/>
          <p:cNvSpPr/>
          <p:nvPr/>
        </p:nvSpPr>
        <p:spPr>
          <a:xfrm>
            <a:off x="1918680" y="2745889"/>
            <a:ext cx="325419" cy="325419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12" name="원안그림-3-5"/>
          <p:cNvSpPr/>
          <p:nvPr/>
        </p:nvSpPr>
        <p:spPr>
          <a:xfrm rot="10800000">
            <a:off x="1866613" y="3032258"/>
            <a:ext cx="442569" cy="494636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13" name="원안그림-3-6"/>
          <p:cNvSpPr/>
          <p:nvPr/>
        </p:nvSpPr>
        <p:spPr>
          <a:xfrm>
            <a:off x="1886138" y="3175442"/>
            <a:ext cx="357961" cy="65084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4" name="원안그림-3-7"/>
          <p:cNvSpPr/>
          <p:nvPr/>
        </p:nvSpPr>
        <p:spPr>
          <a:xfrm flipH="1">
            <a:off x="1834071" y="3448794"/>
            <a:ext cx="91118" cy="234301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5" name="원안그림-3-8"/>
          <p:cNvSpPr/>
          <p:nvPr/>
        </p:nvSpPr>
        <p:spPr>
          <a:xfrm>
            <a:off x="2172507" y="3448794"/>
            <a:ext cx="91118" cy="234301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6" name="원안그림-3-9"/>
          <p:cNvSpPr/>
          <p:nvPr/>
        </p:nvSpPr>
        <p:spPr>
          <a:xfrm>
            <a:off x="2003289" y="2889074"/>
            <a:ext cx="22779" cy="22779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7" name="원안그림-3-10"/>
          <p:cNvSpPr/>
          <p:nvPr/>
        </p:nvSpPr>
        <p:spPr>
          <a:xfrm>
            <a:off x="2113931" y="2889074"/>
            <a:ext cx="22779" cy="22779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18" name="원안그림-3-11"/>
          <p:cNvSpPr/>
          <p:nvPr/>
        </p:nvSpPr>
        <p:spPr>
          <a:xfrm>
            <a:off x="3047824" y="2881974"/>
            <a:ext cx="233710" cy="233710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19" name="원안그림-3-12"/>
          <p:cNvSpPr/>
          <p:nvPr/>
        </p:nvSpPr>
        <p:spPr>
          <a:xfrm rot="10800000">
            <a:off x="3010431" y="3087638"/>
            <a:ext cx="317846" cy="355239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20" name="원안그림-3-13"/>
          <p:cNvSpPr/>
          <p:nvPr/>
        </p:nvSpPr>
        <p:spPr>
          <a:xfrm>
            <a:off x="3024454" y="3190471"/>
            <a:ext cx="257081" cy="46742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1" name="원안그림-3-14"/>
          <p:cNvSpPr/>
          <p:nvPr/>
        </p:nvSpPr>
        <p:spPr>
          <a:xfrm flipH="1">
            <a:off x="2987059" y="3386787"/>
            <a:ext cx="65439" cy="168271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2" name="원안그림-3-15"/>
          <p:cNvSpPr/>
          <p:nvPr/>
        </p:nvSpPr>
        <p:spPr>
          <a:xfrm>
            <a:off x="3230118" y="3386787"/>
            <a:ext cx="65439" cy="168271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3" name="원안그림-3-16"/>
          <p:cNvSpPr/>
          <p:nvPr/>
        </p:nvSpPr>
        <p:spPr>
          <a:xfrm>
            <a:off x="3108589" y="2984806"/>
            <a:ext cx="16360" cy="16360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4" name="원안그림-3-17"/>
          <p:cNvSpPr/>
          <p:nvPr/>
        </p:nvSpPr>
        <p:spPr>
          <a:xfrm>
            <a:off x="3188050" y="2984806"/>
            <a:ext cx="16360" cy="16360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5" name="원안그림-3-18"/>
          <p:cNvSpPr/>
          <p:nvPr/>
        </p:nvSpPr>
        <p:spPr>
          <a:xfrm>
            <a:off x="1234709" y="2852390"/>
            <a:ext cx="266252" cy="272168"/>
          </a:xfrm>
          <a:prstGeom prst="ellipse">
            <a:avLst/>
          </a:prstGeom>
          <a:solidFill>
            <a:srgbClr val="F3C9D8"/>
          </a:solidFill>
          <a:ln/>
        </p:spPr>
      </p:sp>
      <p:sp>
        <p:nvSpPr>
          <p:cNvPr id="26" name="원안그림-3-19"/>
          <p:cNvSpPr/>
          <p:nvPr/>
        </p:nvSpPr>
        <p:spPr>
          <a:xfrm>
            <a:off x="3719725" y="2710389"/>
            <a:ext cx="272168" cy="266252"/>
          </a:xfrm>
          <a:prstGeom prst="ellipse">
            <a:avLst/>
          </a:prstGeom>
          <a:solidFill>
            <a:srgbClr val="F2DF9A"/>
          </a:solidFill>
          <a:ln/>
        </p:spPr>
      </p:sp>
      <p:sp>
        <p:nvSpPr>
          <p:cNvPr id="27" name="원안그림-3-20"/>
          <p:cNvSpPr txBox="1"/>
          <p:nvPr/>
        </p:nvSpPr>
        <p:spPr>
          <a:xfrm>
            <a:off x="2293799" y="2544721"/>
            <a:ext cx="1449593" cy="189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43A"/>
                </a:solidFill>
              </a:rPr>
              <a:t>WELCOME!</a:t>
            </a:r>
            <a:endParaRPr lang="en-US" sz="950" dirty="0"/>
          </a:p>
        </p:txBody>
      </p:sp>
      <p:sp>
        <p:nvSpPr>
          <p:cNvPr id="28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9" name="chip-3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3-1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등장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스캔 완료 시 메인 월에 크게 등장해 춤 · 인사</a:t>
            </a:r>
            <a:endParaRPr lang="en-US" sz="1100" dirty="0"/>
          </a:p>
        </p:txBody>
      </p:sp>
      <p:sp>
        <p:nvSpPr>
          <p:cNvPr id="31" name="chip-3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연못 / 가든 인터랙션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다른 캐릭터와 자유롭게 이동 · 터치 반응 검토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34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5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배경에 붙는 방식 정하기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톤 통일 · 빈칸 채우기 · 자라나는 배경 등에서 선택(배경 아이데이션 B1–B6)</a:t>
            </a:r>
            <a:endParaRPr lang="en-US" sz="1200" dirty="0"/>
          </a:p>
        </p:txBody>
      </p:sp>
      <p:sp>
        <p:nvSpPr>
          <p:cNvPr id="38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9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등장할 때 카드 번호를 3초 표시, 이후 번호 · QR로 다시 부르기</a:t>
            </a:r>
            <a:endParaRPr lang="en-US" sz="1200" dirty="0"/>
          </a:p>
        </p:txBody>
      </p:sp>
      <p:sp>
        <p:nvSpPr>
          <p:cNvPr id="42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3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터치 규칙은 하나만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누르면 점프 + 소리, 여러 명이 함께 누르면 다 같이 춤</a:t>
            </a:r>
            <a:endParaRPr lang="en-US" sz="1200" dirty="0"/>
          </a:p>
        </p:txBody>
      </p:sp>
      <p:sp>
        <p:nvSpPr>
          <p:cNvPr id="46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7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화면 밀도 관리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동시 최대 수를 넘으면 오래된 그림은 아카이브로 이동</a:t>
            </a:r>
            <a:endParaRPr lang="en-US" sz="1200" dirty="0"/>
          </a:p>
        </p:txBody>
      </p:sp>
      <p:sp>
        <p:nvSpPr>
          <p:cNvPr id="50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③  배경 방식 · 3가지 중 선택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벽 크기 · 해상도 · 터치 센서 방식 · 동시 캐릭터 수(가정 30–40)</a:t>
            </a:r>
            <a:endParaRPr lang="en-US" sz="12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Main Facade | 광장으로 확장되는 이야기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스케치북에서 탄생한 캐릭터가 대형 파사드에 등장하는 성취감과 확장감</a:t>
            </a:r>
            <a:endParaRPr lang="en-US" sz="1500" dirty="0"/>
          </a:p>
        </p:txBody>
      </p:sp>
      <p:sp>
        <p:nvSpPr>
          <p:cNvPr id="5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원안그림-4-0"/>
          <p:cNvSpPr/>
          <p:nvPr/>
        </p:nvSpPr>
        <p:spPr>
          <a:xfrm>
            <a:off x="867395" y="2331720"/>
            <a:ext cx="3568731" cy="2212848"/>
          </a:xfrm>
          <a:prstGeom prst="roundRect">
            <a:avLst>
              <a:gd name="adj" fmla="val 2653"/>
            </a:avLst>
          </a:prstGeom>
          <a:solidFill>
            <a:srgbClr val="16243A"/>
          </a:solidFill>
          <a:ln/>
        </p:spPr>
      </p:sp>
      <p:sp>
        <p:nvSpPr>
          <p:cNvPr id="8" name="원안그림-4-1"/>
          <p:cNvSpPr/>
          <p:nvPr/>
        </p:nvSpPr>
        <p:spPr>
          <a:xfrm>
            <a:off x="1008265" y="2537157"/>
            <a:ext cx="399134" cy="1449797"/>
          </a:xfrm>
          <a:prstGeom prst="rect">
            <a:avLst/>
          </a:prstGeom>
          <a:solidFill>
            <a:srgbClr val="2A455B"/>
          </a:solidFill>
          <a:ln/>
        </p:spPr>
      </p:sp>
      <p:sp>
        <p:nvSpPr>
          <p:cNvPr id="9" name="원안그림-4-2"/>
          <p:cNvSpPr/>
          <p:nvPr/>
        </p:nvSpPr>
        <p:spPr>
          <a:xfrm>
            <a:off x="1548271" y="2537157"/>
            <a:ext cx="399134" cy="1449797"/>
          </a:xfrm>
          <a:prstGeom prst="rect">
            <a:avLst/>
          </a:prstGeom>
          <a:solidFill>
            <a:srgbClr val="38526B"/>
          </a:solidFill>
          <a:ln/>
        </p:spPr>
      </p:sp>
      <p:sp>
        <p:nvSpPr>
          <p:cNvPr id="10" name="원안그림-4-3"/>
          <p:cNvSpPr/>
          <p:nvPr/>
        </p:nvSpPr>
        <p:spPr>
          <a:xfrm>
            <a:off x="2088276" y="2537157"/>
            <a:ext cx="399134" cy="1449797"/>
          </a:xfrm>
          <a:prstGeom prst="rect">
            <a:avLst/>
          </a:prstGeom>
          <a:solidFill>
            <a:srgbClr val="2A455B"/>
          </a:solidFill>
          <a:ln/>
        </p:spPr>
      </p:sp>
      <p:sp>
        <p:nvSpPr>
          <p:cNvPr id="11" name="원안그림-4-4"/>
          <p:cNvSpPr/>
          <p:nvPr/>
        </p:nvSpPr>
        <p:spPr>
          <a:xfrm>
            <a:off x="2628282" y="2537157"/>
            <a:ext cx="399134" cy="1449797"/>
          </a:xfrm>
          <a:prstGeom prst="rect">
            <a:avLst/>
          </a:prstGeom>
          <a:solidFill>
            <a:srgbClr val="38526B"/>
          </a:solidFill>
          <a:ln/>
        </p:spPr>
      </p:sp>
      <p:sp>
        <p:nvSpPr>
          <p:cNvPr id="12" name="원안그림-4-5"/>
          <p:cNvSpPr/>
          <p:nvPr/>
        </p:nvSpPr>
        <p:spPr>
          <a:xfrm>
            <a:off x="3168287" y="2537157"/>
            <a:ext cx="399134" cy="1449797"/>
          </a:xfrm>
          <a:prstGeom prst="rect">
            <a:avLst/>
          </a:prstGeom>
          <a:solidFill>
            <a:srgbClr val="2A455B"/>
          </a:solidFill>
          <a:ln/>
        </p:spPr>
      </p:sp>
      <p:sp>
        <p:nvSpPr>
          <p:cNvPr id="13" name="원안그림-4-6"/>
          <p:cNvSpPr/>
          <p:nvPr/>
        </p:nvSpPr>
        <p:spPr>
          <a:xfrm>
            <a:off x="3708292" y="2537157"/>
            <a:ext cx="399134" cy="1449797"/>
          </a:xfrm>
          <a:prstGeom prst="rect">
            <a:avLst/>
          </a:prstGeom>
          <a:solidFill>
            <a:srgbClr val="38526B"/>
          </a:solidFill>
          <a:ln/>
        </p:spPr>
      </p:sp>
      <p:sp>
        <p:nvSpPr>
          <p:cNvPr id="14" name="원안그림-4-7"/>
          <p:cNvSpPr/>
          <p:nvPr/>
        </p:nvSpPr>
        <p:spPr>
          <a:xfrm>
            <a:off x="1143267" y="3863692"/>
            <a:ext cx="3022856" cy="328699"/>
          </a:xfrm>
          <a:prstGeom prst="ellipse">
            <a:avLst/>
          </a:prstGeom>
          <a:solidFill>
            <a:srgbClr val="60778A"/>
          </a:solidFill>
          <a:ln/>
        </p:spPr>
      </p:sp>
      <p:sp>
        <p:nvSpPr>
          <p:cNvPr id="15" name="원안그림-4-8"/>
          <p:cNvSpPr/>
          <p:nvPr/>
        </p:nvSpPr>
        <p:spPr>
          <a:xfrm>
            <a:off x="1446374" y="3329556"/>
            <a:ext cx="217176" cy="217176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16" name="원안그림-4-9"/>
          <p:cNvSpPr/>
          <p:nvPr/>
        </p:nvSpPr>
        <p:spPr>
          <a:xfrm rot="10800000">
            <a:off x="1411626" y="3520671"/>
            <a:ext cx="295359" cy="330108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17" name="원안그림-4-10"/>
          <p:cNvSpPr/>
          <p:nvPr/>
        </p:nvSpPr>
        <p:spPr>
          <a:xfrm>
            <a:off x="1424656" y="3616228"/>
            <a:ext cx="238894" cy="43435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8" name="원안그림-4-11"/>
          <p:cNvSpPr/>
          <p:nvPr/>
        </p:nvSpPr>
        <p:spPr>
          <a:xfrm flipH="1">
            <a:off x="1389908" y="3798656"/>
            <a:ext cx="60809" cy="156367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19" name="원안그림-4-12"/>
          <p:cNvSpPr/>
          <p:nvPr/>
        </p:nvSpPr>
        <p:spPr>
          <a:xfrm>
            <a:off x="1615771" y="3798656"/>
            <a:ext cx="60809" cy="156367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0" name="원안그림-4-13"/>
          <p:cNvSpPr/>
          <p:nvPr/>
        </p:nvSpPr>
        <p:spPr>
          <a:xfrm>
            <a:off x="1502840" y="3425113"/>
            <a:ext cx="15202" cy="15202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1" name="원안그림-4-14"/>
          <p:cNvSpPr/>
          <p:nvPr/>
        </p:nvSpPr>
        <p:spPr>
          <a:xfrm>
            <a:off x="1576680" y="3425113"/>
            <a:ext cx="15202" cy="15202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2" name="원안그림-4-15"/>
          <p:cNvSpPr/>
          <p:nvPr/>
        </p:nvSpPr>
        <p:spPr>
          <a:xfrm>
            <a:off x="2400775" y="3218033"/>
            <a:ext cx="246524" cy="246524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23" name="원안그림-4-16"/>
          <p:cNvSpPr/>
          <p:nvPr/>
        </p:nvSpPr>
        <p:spPr>
          <a:xfrm rot="10800000">
            <a:off x="2361331" y="3434974"/>
            <a:ext cx="335273" cy="374717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24" name="원안그림-4-17"/>
          <p:cNvSpPr/>
          <p:nvPr/>
        </p:nvSpPr>
        <p:spPr>
          <a:xfrm>
            <a:off x="2376123" y="3543445"/>
            <a:ext cx="271177" cy="49305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5" name="원안그림-4-18"/>
          <p:cNvSpPr/>
          <p:nvPr/>
        </p:nvSpPr>
        <p:spPr>
          <a:xfrm flipH="1">
            <a:off x="2336679" y="3750526"/>
            <a:ext cx="69026" cy="177498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6" name="원안그림-4-19"/>
          <p:cNvSpPr/>
          <p:nvPr/>
        </p:nvSpPr>
        <p:spPr>
          <a:xfrm>
            <a:off x="2593064" y="3750526"/>
            <a:ext cx="69026" cy="177498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27" name="원안그림-4-20"/>
          <p:cNvSpPr/>
          <p:nvPr/>
        </p:nvSpPr>
        <p:spPr>
          <a:xfrm>
            <a:off x="2464871" y="3326504"/>
            <a:ext cx="17256" cy="17256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8" name="원안그림-4-21"/>
          <p:cNvSpPr/>
          <p:nvPr/>
        </p:nvSpPr>
        <p:spPr>
          <a:xfrm>
            <a:off x="2548689" y="3326504"/>
            <a:ext cx="17256" cy="17256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29" name="원안그림-4-22"/>
          <p:cNvSpPr/>
          <p:nvPr/>
        </p:nvSpPr>
        <p:spPr>
          <a:xfrm>
            <a:off x="3434063" y="3317817"/>
            <a:ext cx="214241" cy="214241"/>
          </a:xfrm>
          <a:prstGeom prst="ellipse">
            <a:avLst/>
          </a:prstGeom>
          <a:solidFill>
            <a:srgbClr val="FDE6A5"/>
          </a:solidFill>
          <a:ln/>
        </p:spPr>
      </p:sp>
      <p:sp>
        <p:nvSpPr>
          <p:cNvPr id="30" name="원안그림-4-23"/>
          <p:cNvSpPr/>
          <p:nvPr/>
        </p:nvSpPr>
        <p:spPr>
          <a:xfrm rot="10800000">
            <a:off x="3399785" y="3506349"/>
            <a:ext cx="291368" cy="325647"/>
          </a:xfrm>
          <a:prstGeom prst="ellipse">
            <a:avLst/>
          </a:prstGeom>
          <a:solidFill>
            <a:srgbClr val="F7DDE5"/>
          </a:solidFill>
          <a:ln w="9525">
            <a:solidFill>
              <a:srgbClr val="F7DDE5"/>
            </a:solidFill>
            <a:prstDash val="solid"/>
          </a:ln>
        </p:spPr>
      </p:sp>
      <p:sp>
        <p:nvSpPr>
          <p:cNvPr id="31" name="원안그림-4-24"/>
          <p:cNvSpPr/>
          <p:nvPr/>
        </p:nvSpPr>
        <p:spPr>
          <a:xfrm>
            <a:off x="3412639" y="3600615"/>
            <a:ext cx="235666" cy="42848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32" name="원안그림-4-25"/>
          <p:cNvSpPr/>
          <p:nvPr/>
        </p:nvSpPr>
        <p:spPr>
          <a:xfrm flipH="1">
            <a:off x="3378360" y="3780578"/>
            <a:ext cx="59988" cy="154253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33" name="원안그림-4-26"/>
          <p:cNvSpPr/>
          <p:nvPr/>
        </p:nvSpPr>
        <p:spPr>
          <a:xfrm>
            <a:off x="3601172" y="3780578"/>
            <a:ext cx="59988" cy="154253"/>
          </a:xfrm>
          <a:prstGeom prst="line">
            <a:avLst/>
          </a:prstGeom>
          <a:solidFill>
            <a:srgbClr val="16243A"/>
          </a:solidFill>
          <a:ln w="25400">
            <a:solidFill>
              <a:srgbClr val="16243A"/>
            </a:solidFill>
            <a:prstDash val="solid"/>
          </a:ln>
        </p:spPr>
      </p:sp>
      <p:sp>
        <p:nvSpPr>
          <p:cNvPr id="34" name="원안그림-4-27"/>
          <p:cNvSpPr/>
          <p:nvPr/>
        </p:nvSpPr>
        <p:spPr>
          <a:xfrm>
            <a:off x="3489766" y="3412083"/>
            <a:ext cx="14997" cy="14997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35" name="원안그림-4-28"/>
          <p:cNvSpPr/>
          <p:nvPr/>
        </p:nvSpPr>
        <p:spPr>
          <a:xfrm>
            <a:off x="3562608" y="3412083"/>
            <a:ext cx="14997" cy="14997"/>
          </a:xfrm>
          <a:prstGeom prst="ellipse">
            <a:avLst/>
          </a:prstGeom>
          <a:solidFill>
            <a:srgbClr val="16243A"/>
          </a:solidFill>
          <a:ln/>
        </p:spPr>
      </p:sp>
      <p:sp>
        <p:nvSpPr>
          <p:cNvPr id="36" name="원안그림-4-29"/>
          <p:cNvSpPr txBox="1"/>
          <p:nvPr/>
        </p:nvSpPr>
        <p:spPr>
          <a:xfrm>
            <a:off x="1348704" y="2636940"/>
            <a:ext cx="2617852" cy="199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ART MODE  /  LOGO MODE</a:t>
            </a:r>
            <a:endParaRPr lang="en-US" sz="850" dirty="0"/>
          </a:p>
        </p:txBody>
      </p:sp>
      <p:sp>
        <p:nvSpPr>
          <p:cNvPr id="37" name="원안그림-4-30"/>
          <p:cNvSpPr txBox="1"/>
          <p:nvPr/>
        </p:nvSpPr>
        <p:spPr>
          <a:xfrm>
            <a:off x="1636315" y="4315653"/>
            <a:ext cx="1995672" cy="146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17287"/>
                </a:solidFill>
              </a:rPr>
              <a:t>CHARACTER PARADE</a:t>
            </a:r>
            <a:endParaRPr lang="en-US" sz="700" dirty="0"/>
          </a:p>
        </p:txBody>
      </p:sp>
      <p:sp>
        <p:nvSpPr>
          <p:cNvPr id="38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9" name="chip-4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4-1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퍼레이드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아이들이 만든 캐릭터들이 광장을 둘러 행진</a:t>
            </a:r>
            <a:endParaRPr lang="en-US" sz="1100" dirty="0"/>
          </a:p>
        </p:txBody>
      </p:sp>
      <p:sp>
        <p:nvSpPr>
          <p:cNvPr id="41" name="chip-4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4-2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기존 콘텐츠 연계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Art: 배경 앞을 지나며 합류 / Logo: 도형 위 · 사이 이동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44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5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정시 퍼레이드 + 상시 합류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평소엔 몇 명씩 합류, 정해진 시각에 모두 행진(예: 30분마다)</a:t>
            </a:r>
            <a:endParaRPr lang="en-US" sz="1200" dirty="0"/>
          </a:p>
        </p:txBody>
      </p:sp>
      <p:sp>
        <p:nvSpPr>
          <p:cNvPr id="48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9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Art Mode: 창 속 장면으로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동그란 창에 내 그림이 먼저 보이고, 장면에 맞는 물건이 되어 들어감</a:t>
            </a:r>
            <a:endParaRPr lang="en-US" sz="1200" dirty="0"/>
          </a:p>
        </p:txBody>
      </p:sp>
      <p:sp>
        <p:nvSpPr>
          <p:cNvPr id="52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3" name="chip-연출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Logo Mode: 패턴 조각이 됨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혜성을 타고 날아와 내려앉고, 오래된 그림은 별로 바뀜</a:t>
            </a:r>
            <a:endParaRPr lang="en-US" sz="1200" dirty="0"/>
          </a:p>
        </p:txBody>
      </p:sp>
      <p:sp>
        <p:nvSpPr>
          <p:cNvPr id="56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7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스케치북 → 광장 안내</a:t>
            </a:r>
            <a:endParaRPr lang="en-US" sz="15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“○시에 광장에서 만나요”를 카드 · 사이니지로 안내</a:t>
            </a:r>
            <a:endParaRPr lang="en-US" sz="1200" dirty="0"/>
          </a:p>
        </p:txBody>
      </p:sp>
      <p:sp>
        <p:nvSpPr>
          <p:cNvPr id="60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④  퍼레이드 운영 · 3가지 중 선택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파사드 해상도 · 비율 · 기존 영상 원본 형식(실시간 합성 가능 여부)</a:t>
            </a:r>
            <a:endParaRPr lang="en-US" sz="12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Archive | 체험 뒤에도 남는 내 캐릭터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파사드 이후 비어 있던 단계를 새로 제안</a:t>
            </a:r>
            <a:endParaRPr lang="en-US" sz="1500" dirty="0"/>
          </a:p>
        </p:txBody>
      </p:sp>
      <p:sp>
        <p:nvSpPr>
          <p:cNvPr id="5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05</a:t>
            </a:r>
            <a:endParaRPr lang="en-US" sz="3600" dirty="0"/>
          </a:p>
        </p:txBody>
      </p:sp>
      <p:sp>
        <p:nvSpPr>
          <p:cNvPr id="6" name="original"/>
          <p:cNvSpPr/>
          <p:nvPr/>
        </p:nvSpPr>
        <p:spPr>
          <a:xfrm>
            <a:off x="548640" y="1965960"/>
            <a:ext cx="420624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원안에는 파사드 이후 단계가 없습니다. 그림이 체험 뒤에 어디에 남는지를 새 단계로 제안합니다.</a:t>
            </a:r>
            <a:endParaRPr lang="en-US" sz="1500" dirty="0"/>
          </a:p>
        </p:txBody>
      </p:sp>
      <p:sp>
        <p:nvSpPr>
          <p:cNvPr id="9" name="chip-NEW"/>
          <p:cNvSpPr txBox="1"/>
          <p:nvPr/>
        </p:nvSpPr>
        <p:spPr>
          <a:xfrm>
            <a:off x="822960" y="429768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1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2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QR 개인 보관함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카드 QR로 내 캐릭터가 움직이는 영상 · 이미지 받기</a:t>
            </a:r>
            <a:endParaRPr lang="en-US" sz="1200" dirty="0"/>
          </a:p>
        </p:txBody>
      </p:sp>
      <p:sp>
        <p:nvSpPr>
          <p:cNvPr id="15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6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하루 한 장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그날 그림이 모인 벽을 시간대별로 한 장씩 보관, 날짜 포스터로</a:t>
            </a:r>
            <a:endParaRPr lang="en-US" sz="1200" dirty="0"/>
          </a:p>
        </p:txBody>
      </p:sp>
      <p:sp>
        <p:nvSpPr>
          <p:cNvPr id="19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0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굿즈 옵션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뱃지 · 티셔츠 등 유료 현장 출력</a:t>
            </a:r>
            <a:endParaRPr lang="en-US" sz="1200" dirty="0"/>
          </a:p>
        </p:txBody>
      </p:sp>
      <p:sp>
        <p:nvSpPr>
          <p:cNvPr id="23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4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기간 · 개인정보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이름 없이 번호로 관리, 보관 기간(가정 30일) 정하기</a:t>
            </a:r>
            <a:endParaRPr lang="en-US" sz="1200" dirty="0"/>
          </a:p>
        </p:txBody>
      </p:sp>
      <p:sp>
        <p:nvSpPr>
          <p:cNvPr id="27" name="decision-pill"/>
          <p:cNvSpPr txBox="1"/>
          <p:nvPr/>
        </p:nvSpPr>
        <p:spPr>
          <a:xfrm>
            <a:off x="548640" y="587044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결정 ⑤  보관 범위 · 3가지 중 선택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0" y="58704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7287"/>
                </a:solidFill>
              </a:rPr>
              <a:t>확인할 것  </a:t>
            </a:r>
            <a:pPr indent="0" marL="0">
              <a:buNone/>
            </a:pPr>
            <a:r>
              <a:rPr lang="en-US" sz="1200" dirty="0">
                <a:solidFill>
                  <a:srgbClr val="16243A"/>
                </a:solidFill>
              </a:rPr>
              <a:t>QR 보관함 플랫폼 · 출력 장비 · 개인정보 처리 기준</a:t>
            </a:r>
            <a:endParaRPr lang="en-US" sz="1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운영 기준 | 정해야 할 숫자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아래 값은 모두 가정이며 현장 테스트로 정해야 합니다</a:t>
            </a:r>
            <a:endParaRPr lang="en-US" sz="1500" dirty="0"/>
          </a:p>
        </p:txBody>
      </p:sp>
      <p:graphicFrame>
        <p:nvGraphicFramePr>
          <p:cNvPr id="5" name="op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12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제안 기준(가정)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왜 필요한가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드로잉 시간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테이블 회전율과 대기 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스캔 → 벽 등장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10초 이내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기다리는 동안 흥미가 떨어지지 않게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벽 동시 캐릭터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30–40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내 그림을 찾을 수 있는 밀도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퍼레이드 주기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30분마다 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광장으로 이동할 이유와 시간 약속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보관함 보관 기간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30일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개인정보 · 저장 비용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s-exampl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예: 테이블 8석 × 4분이면 시간당 약 120장. 스캐너 1대가 장당 30초면 시간당 120장으로 맞물림(모두 가정 계산).</a:t>
            </a:r>
            <a:endParaRPr lang="en-US" sz="14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결정이 필요한 것 | 5가지 중 하나씩 선택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초록 테두리는 이 문서의 제안안 · 회의에서 □에 체크해 결정</a:t>
            </a:r>
            <a:endParaRPr lang="en-US" sz="1500" dirty="0"/>
          </a:p>
        </p:txBody>
      </p:sp>
      <p:sp>
        <p:nvSpPr>
          <p:cNvPr id="5" name="decision-no"/>
          <p:cNvSpPr txBox="1"/>
          <p:nvPr/>
        </p:nvSpPr>
        <p:spPr>
          <a:xfrm>
            <a:off x="548640" y="202996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9842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기본 도안</a:t>
            </a:r>
            <a:endParaRPr lang="en-US" sz="1700" dirty="0"/>
          </a:p>
        </p:txBody>
      </p:sp>
      <p:sp>
        <p:nvSpPr>
          <p:cNvPr id="7" name="option-0-0"/>
          <p:cNvSpPr/>
          <p:nvPr/>
        </p:nvSpPr>
        <p:spPr>
          <a:xfrm>
            <a:off x="297180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8" name="checkbox"/>
          <p:cNvSpPr/>
          <p:nvPr/>
        </p:nvSpPr>
        <p:spPr>
          <a:xfrm>
            <a:off x="310896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47288" y="1947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A안 전신 가이드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44728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얼굴 · 몸통 · 팔 · 다리</a:t>
            </a:r>
            <a:endParaRPr lang="en-US" sz="1100" dirty="0"/>
          </a:p>
        </p:txBody>
      </p:sp>
      <p:sp>
        <p:nvSpPr>
          <p:cNvPr id="11" name="option-0-1"/>
          <p:cNvSpPr/>
          <p:nvPr/>
        </p:nvSpPr>
        <p:spPr>
          <a:xfrm>
            <a:off x="589788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2" name="checkbox"/>
          <p:cNvSpPr/>
          <p:nvPr/>
        </p:nvSpPr>
        <p:spPr>
          <a:xfrm>
            <a:off x="603504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947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B안 얼굴만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심플 가이드</a:t>
            </a:r>
            <a:endParaRPr lang="en-US" sz="1100" dirty="0"/>
          </a:p>
        </p:txBody>
      </p:sp>
      <p:sp>
        <p:nvSpPr>
          <p:cNvPr id="15" name="option-0-2"/>
          <p:cNvSpPr/>
          <p:nvPr/>
        </p:nvSpPr>
        <p:spPr>
          <a:xfrm>
            <a:off x="8823960" y="187452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16" name="checkbox"/>
          <p:cNvSpPr/>
          <p:nvPr/>
        </p:nvSpPr>
        <p:spPr>
          <a:xfrm>
            <a:off x="8961120" y="212140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99448" y="19476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C안 자유 그리기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299448" y="22768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“도안 없이” 처음 방향</a:t>
            </a:r>
            <a:endParaRPr lang="en-US" sz="1100" dirty="0"/>
          </a:p>
        </p:txBody>
      </p:sp>
      <p:sp>
        <p:nvSpPr>
          <p:cNvPr id="19" name="chip-제안"/>
          <p:cNvSpPr txBox="1"/>
          <p:nvPr/>
        </p:nvSpPr>
        <p:spPr>
          <a:xfrm>
            <a:off x="10954512" y="196596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20" name="decision-no"/>
          <p:cNvSpPr txBox="1"/>
          <p:nvPr/>
        </p:nvSpPr>
        <p:spPr>
          <a:xfrm>
            <a:off x="548640" y="289864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143000" y="2852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캐릭터 방식</a:t>
            </a:r>
            <a:endParaRPr lang="en-US" sz="1700" dirty="0"/>
          </a:p>
        </p:txBody>
      </p:sp>
      <p:sp>
        <p:nvSpPr>
          <p:cNvPr id="22" name="option-1-0"/>
          <p:cNvSpPr/>
          <p:nvPr/>
        </p:nvSpPr>
        <p:spPr>
          <a:xfrm>
            <a:off x="297180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23" name="checkbox"/>
          <p:cNvSpPr/>
          <p:nvPr/>
        </p:nvSpPr>
        <p:spPr>
          <a:xfrm>
            <a:off x="310896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447288" y="28163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2D 휘기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44728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그림 모양 그대로 움직임</a:t>
            </a:r>
            <a:endParaRPr lang="en-US" sz="1100" dirty="0"/>
          </a:p>
        </p:txBody>
      </p:sp>
      <p:sp>
        <p:nvSpPr>
          <p:cNvPr id="26" name="chip-제안"/>
          <p:cNvSpPr txBox="1"/>
          <p:nvPr/>
        </p:nvSpPr>
        <p:spPr>
          <a:xfrm>
            <a:off x="5102352" y="283464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27" name="option-1-1"/>
          <p:cNvSpPr/>
          <p:nvPr/>
        </p:nvSpPr>
        <p:spPr>
          <a:xfrm>
            <a:off x="589788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8" name="checkbox"/>
          <p:cNvSpPr/>
          <p:nvPr/>
        </p:nvSpPr>
        <p:spPr>
          <a:xfrm>
            <a:off x="603504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73368" y="281635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3D 변환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37336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품질 · 시간 검증 필요</a:t>
            </a:r>
            <a:endParaRPr lang="en-US" sz="1100" dirty="0"/>
          </a:p>
        </p:txBody>
      </p:sp>
      <p:sp>
        <p:nvSpPr>
          <p:cNvPr id="31" name="option-1-2"/>
          <p:cNvSpPr/>
          <p:nvPr/>
        </p:nvSpPr>
        <p:spPr>
          <a:xfrm>
            <a:off x="8823960" y="274320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2" name="checkbox"/>
          <p:cNvSpPr/>
          <p:nvPr/>
        </p:nvSpPr>
        <p:spPr>
          <a:xfrm>
            <a:off x="8961120" y="299008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99448" y="281635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2D 시작 → 3D 추가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299448" y="3145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단계적 도입</a:t>
            </a:r>
            <a:endParaRPr lang="en-US" sz="1100" dirty="0"/>
          </a:p>
        </p:txBody>
      </p:sp>
      <p:sp>
        <p:nvSpPr>
          <p:cNvPr id="35" name="decision-no"/>
          <p:cNvSpPr txBox="1"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" y="37216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배경 방식</a:t>
            </a:r>
            <a:endParaRPr lang="en-US" sz="1700" dirty="0"/>
          </a:p>
        </p:txBody>
      </p:sp>
      <p:sp>
        <p:nvSpPr>
          <p:cNvPr id="37" name="option-2-0"/>
          <p:cNvSpPr/>
          <p:nvPr/>
        </p:nvSpPr>
        <p:spPr>
          <a:xfrm>
            <a:off x="297180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38" name="checkbox"/>
          <p:cNvSpPr/>
          <p:nvPr/>
        </p:nvSpPr>
        <p:spPr>
          <a:xfrm>
            <a:off x="310896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47288" y="36850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톤 통일 + 빈칸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344728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B4 + B1 (배경 아이데이션)</a:t>
            </a:r>
            <a:endParaRPr lang="en-US" sz="1100" dirty="0"/>
          </a:p>
        </p:txBody>
      </p:sp>
      <p:sp>
        <p:nvSpPr>
          <p:cNvPr id="41" name="chip-제안"/>
          <p:cNvSpPr txBox="1"/>
          <p:nvPr/>
        </p:nvSpPr>
        <p:spPr>
          <a:xfrm>
            <a:off x="5102352" y="370332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42" name="option-2-1"/>
          <p:cNvSpPr/>
          <p:nvPr/>
        </p:nvSpPr>
        <p:spPr>
          <a:xfrm>
            <a:off x="589788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3" name="checkbox"/>
          <p:cNvSpPr/>
          <p:nvPr/>
        </p:nvSpPr>
        <p:spPr>
          <a:xfrm>
            <a:off x="603504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73368" y="36850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Scribble + 자라는 배경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637336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A0 + B5</a:t>
            </a:r>
            <a:endParaRPr lang="en-US" sz="1100" dirty="0"/>
          </a:p>
        </p:txBody>
      </p:sp>
      <p:sp>
        <p:nvSpPr>
          <p:cNvPr id="46" name="option-2-2"/>
          <p:cNvSpPr/>
          <p:nvPr/>
        </p:nvSpPr>
        <p:spPr>
          <a:xfrm>
            <a:off x="8823960" y="361188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7" name="checkbox"/>
          <p:cNvSpPr/>
          <p:nvPr/>
        </p:nvSpPr>
        <p:spPr>
          <a:xfrm>
            <a:off x="8961120" y="385876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99448" y="36850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덩굴 + 모자이크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299448" y="40142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B2 + B6</a:t>
            </a:r>
            <a:endParaRPr lang="en-US" sz="1100" dirty="0"/>
          </a:p>
        </p:txBody>
      </p:sp>
      <p:sp>
        <p:nvSpPr>
          <p:cNvPr id="50" name="decision-no"/>
          <p:cNvSpPr txBox="1"/>
          <p:nvPr/>
        </p:nvSpPr>
        <p:spPr>
          <a:xfrm>
            <a:off x="548640" y="463600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④</a:t>
            </a:r>
            <a:endParaRPr lang="en-US" sz="1800" dirty="0"/>
          </a:p>
        </p:txBody>
      </p:sp>
      <p:sp>
        <p:nvSpPr>
          <p:cNvPr id="51" name="Text 48"/>
          <p:cNvSpPr txBox="1"/>
          <p:nvPr/>
        </p:nvSpPr>
        <p:spPr>
          <a:xfrm>
            <a:off x="1143000" y="45902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퍼레이드 운영</a:t>
            </a:r>
            <a:endParaRPr lang="en-US" sz="1700" dirty="0"/>
          </a:p>
        </p:txBody>
      </p:sp>
      <p:sp>
        <p:nvSpPr>
          <p:cNvPr id="52" name="option-3-0"/>
          <p:cNvSpPr/>
          <p:nvPr/>
        </p:nvSpPr>
        <p:spPr>
          <a:xfrm>
            <a:off x="297180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3" name="checkbox"/>
          <p:cNvSpPr/>
          <p:nvPr/>
        </p:nvSpPr>
        <p:spPr>
          <a:xfrm>
            <a:off x="310896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447288" y="4553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상시 합류만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344728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늘 몇 명씩 등장</a:t>
            </a:r>
            <a:endParaRPr lang="en-US" sz="1100" dirty="0"/>
          </a:p>
        </p:txBody>
      </p:sp>
      <p:sp>
        <p:nvSpPr>
          <p:cNvPr id="56" name="option-3-1"/>
          <p:cNvSpPr/>
          <p:nvPr/>
        </p:nvSpPr>
        <p:spPr>
          <a:xfrm>
            <a:off x="589788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7" name="checkbox"/>
          <p:cNvSpPr/>
          <p:nvPr/>
        </p:nvSpPr>
        <p:spPr>
          <a:xfrm>
            <a:off x="603504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373368" y="4553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정시 퍼레이드만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637336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예: 30분마다 3–5분</a:t>
            </a:r>
            <a:endParaRPr lang="en-US" sz="1100" dirty="0"/>
          </a:p>
        </p:txBody>
      </p:sp>
      <p:sp>
        <p:nvSpPr>
          <p:cNvPr id="60" name="option-3-2"/>
          <p:cNvSpPr/>
          <p:nvPr/>
        </p:nvSpPr>
        <p:spPr>
          <a:xfrm>
            <a:off x="8823960" y="448056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61" name="checkbox"/>
          <p:cNvSpPr/>
          <p:nvPr/>
        </p:nvSpPr>
        <p:spPr>
          <a:xfrm>
            <a:off x="8961120" y="472744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9299448" y="455371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정시 + 상시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9299448" y="4882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평소 합류 + 정시 행진</a:t>
            </a:r>
            <a:endParaRPr lang="en-US" sz="1100" dirty="0"/>
          </a:p>
        </p:txBody>
      </p:sp>
      <p:sp>
        <p:nvSpPr>
          <p:cNvPr id="64" name="chip-제안"/>
          <p:cNvSpPr txBox="1"/>
          <p:nvPr/>
        </p:nvSpPr>
        <p:spPr>
          <a:xfrm>
            <a:off x="10954512" y="457200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65" name="decision-no"/>
          <p:cNvSpPr txBox="1"/>
          <p:nvPr/>
        </p:nvSpPr>
        <p:spPr>
          <a:xfrm>
            <a:off x="548640" y="5504688"/>
            <a:ext cx="457200" cy="457200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⑤</a:t>
            </a:r>
            <a:endParaRPr lang="en-US" sz="1800" dirty="0"/>
          </a:p>
        </p:txBody>
      </p:sp>
      <p:sp>
        <p:nvSpPr>
          <p:cNvPr id="66" name="Text 63"/>
          <p:cNvSpPr txBox="1"/>
          <p:nvPr/>
        </p:nvSpPr>
        <p:spPr>
          <a:xfrm>
            <a:off x="11430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보관 범위</a:t>
            </a:r>
            <a:endParaRPr lang="en-US" sz="1700" dirty="0"/>
          </a:p>
        </p:txBody>
      </p:sp>
      <p:sp>
        <p:nvSpPr>
          <p:cNvPr id="67" name="option-4-0"/>
          <p:cNvSpPr/>
          <p:nvPr/>
        </p:nvSpPr>
        <p:spPr>
          <a:xfrm>
            <a:off x="297180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8" name="checkbox"/>
          <p:cNvSpPr/>
          <p:nvPr/>
        </p:nvSpPr>
        <p:spPr>
          <a:xfrm>
            <a:off x="310896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3447288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보관함</a:t>
            </a:r>
            <a:endParaRPr lang="en-US" sz="1300" dirty="0"/>
          </a:p>
        </p:txBody>
      </p:sp>
      <p:sp>
        <p:nvSpPr>
          <p:cNvPr id="70" name="Text 67"/>
          <p:cNvSpPr txBox="1"/>
          <p:nvPr/>
        </p:nvSpPr>
        <p:spPr>
          <a:xfrm>
            <a:off x="344728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영상 · 이미지 받기</a:t>
            </a:r>
            <a:endParaRPr lang="en-US" sz="1100" dirty="0"/>
          </a:p>
        </p:txBody>
      </p:sp>
      <p:sp>
        <p:nvSpPr>
          <p:cNvPr id="71" name="option-4-1"/>
          <p:cNvSpPr/>
          <p:nvPr/>
        </p:nvSpPr>
        <p:spPr>
          <a:xfrm>
            <a:off x="589788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EAF5F1"/>
          </a:solidFill>
          <a:ln w="25400">
            <a:solidFill>
              <a:srgbClr val="2B8C83"/>
            </a:solidFill>
            <a:prstDash val="solid"/>
          </a:ln>
        </p:spPr>
      </p:sp>
      <p:sp>
        <p:nvSpPr>
          <p:cNvPr id="72" name="checkbox"/>
          <p:cNvSpPr/>
          <p:nvPr/>
        </p:nvSpPr>
        <p:spPr>
          <a:xfrm>
            <a:off x="603504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2B8C83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373368" y="542239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+ 하루 한 장</a:t>
            </a:r>
            <a:endParaRPr lang="en-US" sz="1300" dirty="0"/>
          </a:p>
        </p:txBody>
      </p:sp>
      <p:sp>
        <p:nvSpPr>
          <p:cNvPr id="74" name="Text 71"/>
          <p:cNvSpPr txBox="1"/>
          <p:nvPr/>
        </p:nvSpPr>
        <p:spPr>
          <a:xfrm>
            <a:off x="637336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날짜별 기록 추가</a:t>
            </a:r>
            <a:endParaRPr lang="en-US" sz="1100" dirty="0"/>
          </a:p>
        </p:txBody>
      </p:sp>
      <p:sp>
        <p:nvSpPr>
          <p:cNvPr id="75" name="chip-제안"/>
          <p:cNvSpPr txBox="1"/>
          <p:nvPr/>
        </p:nvSpPr>
        <p:spPr>
          <a:xfrm>
            <a:off x="8028432" y="544068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제안</a:t>
            </a:r>
            <a:endParaRPr lang="en-US" sz="1100" dirty="0"/>
          </a:p>
        </p:txBody>
      </p:sp>
      <p:sp>
        <p:nvSpPr>
          <p:cNvPr id="76" name="option-4-2"/>
          <p:cNvSpPr/>
          <p:nvPr/>
        </p:nvSpPr>
        <p:spPr>
          <a:xfrm>
            <a:off x="8823960" y="5349240"/>
            <a:ext cx="2788920" cy="768096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7" name="checkbox"/>
          <p:cNvSpPr/>
          <p:nvPr/>
        </p:nvSpPr>
        <p:spPr>
          <a:xfrm>
            <a:off x="8961120" y="5596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61728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299448" y="54223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3A"/>
                </a:solidFill>
              </a:rPr>
              <a:t>QR + 하루 한 장 + 굿즈</a:t>
            </a:r>
            <a:endParaRPr lang="en-US" sz="1300" dirty="0"/>
          </a:p>
        </p:txBody>
      </p:sp>
      <p:sp>
        <p:nvSpPr>
          <p:cNvPr id="79" name="Text 76"/>
          <p:cNvSpPr txBox="1"/>
          <p:nvPr/>
        </p:nvSpPr>
        <p:spPr>
          <a:xfrm>
            <a:off x="9299448" y="5751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현장 출력 포함</a:t>
            </a:r>
            <a:endParaRPr lang="en-US" sz="1100" dirty="0"/>
          </a:p>
        </p:txBody>
      </p:sp>
      <p:sp>
        <p:nvSpPr>
          <p:cNvPr id="8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ve Sketchbook Flow">
  <a:themeElements>
    <a:clrScheme name="Live Sketchbook Flow">
      <a:dk1>
        <a:srgbClr val="16243A"/>
      </a:dk1>
      <a:lt1>
        <a:srgbClr val="FFFFFF"/>
      </a:lt1>
      <a:dk2>
        <a:srgbClr val="617287"/>
      </a:dk2>
      <a:lt2>
        <a:srgbClr val="F7F8F6"/>
      </a:lt2>
      <a:accent1>
        <a:srgbClr val="5DCDC1"/>
      </a:accent1>
      <a:accent2>
        <a:srgbClr val="FDE6A5"/>
      </a:accent2>
      <a:accent3>
        <a:srgbClr val="F7DDE5"/>
      </a:accent3>
      <a:accent4>
        <a:srgbClr val="D5EEDB"/>
      </a:accent4>
      <a:accent5>
        <a:srgbClr val="DCEEF7"/>
      </a:accent5>
      <a:accent6>
        <a:srgbClr val="E8614D"/>
      </a:accent6>
      <a:hlink>
        <a:srgbClr val="2B8C83"/>
      </a:hlink>
      <a:folHlink>
        <a:srgbClr val="617287"/>
      </a:folHlink>
    </a:clrScheme>
    <a:fontScheme name="Live Sketchbook Flow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Sketchbook Experience Flow v2</dc:title>
  <dc:subject>PptxGenJS Presentation</dc:subject>
  <dc:creator>PptxGenJS</dc:creator>
  <cp:lastModifiedBy>PptxGenJS</cp:lastModifiedBy>
  <cp:revision>1</cp:revision>
  <dcterms:created xsi:type="dcterms:W3CDTF">2026-10-19T05:07:24Z</dcterms:created>
  <dcterms:modified xsi:type="dcterms:W3CDTF">2026-10-19T05:07:24Z</dcterms:modified>
</cp:coreProperties>
</file>